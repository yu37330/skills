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2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4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2130425"/>
            <a:ext cx="10664687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799" y="3886200"/>
            <a:ext cx="10664687" cy="904461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Sustitle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37930"/>
            <a:ext cx="11022496" cy="725557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0C2742"/>
                </a:solidFill>
                <a:latin typeface="Yu Gothic U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narrative.executive_summary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narrative.executive_summary::kicker" title="SDPM::narrative.executive_summary::kicker" descr="SDPM::narrative.executive_summary::kicker"/>
          <p:cNvSpPr txBox="1"/>
          <p:nvPr/>
        </p:nvSpPr>
        <p:spPr>
          <a:xfrm>
            <a:off x="635000" y="15240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EXECUTIVE SUMMARY</a:t>
            </a:r>
          </a:p>
        </p:txBody>
      </p:sp>
      <p:cxnSp>
        <p:nvCxnSpPr>
          <p:cNvPr id="7" name="SDPM::narrative.executive_summary::kicker_rule" title="SDPM::narrative.executive_summary::kicker_rule" descr="SDPM::narrative.executive_summary::kicker_rule"/>
          <p:cNvCxnSpPr/>
          <p:nvPr/>
        </p:nvCxnSpPr>
        <p:spPr>
          <a:xfrm>
            <a:off x="635000" y="1689100"/>
            <a:ext cx="698500" cy="0"/>
          </a:xfrm>
          <a:prstGeom prst="line">
            <a:avLst/>
          </a:prstGeom>
          <a:ln w="3175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narrative.executive_summary::thesis" title="SDPM::narrative.executive_summary::thesis" descr="SDPM::narrative.executive_summary::thesis"/>
          <p:cNvSpPr txBox="1"/>
          <p:nvPr/>
        </p:nvSpPr>
        <p:spPr>
          <a:xfrm>
            <a:off x="635000" y="1739900"/>
            <a:ext cx="10922000" cy="54076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2600">
                <a:solidFill>
                  <a:srgbClr val="0C2742"/>
                </a:solidFill>
                <a:latin typeface="Yu Gothic UI"/>
              </a:rPr>
              <a:t>市場選択・価値提案・実行基盤の</a:t>
            </a:r>
            <a:r>
              <a:rPr sz="2600">
                <a:solidFill>
                  <a:srgbClr val="0C2742"/>
                </a:solidFill>
                <a:latin typeface="Yu Gothic UI"/>
              </a:rPr>
              <a:t> 3 </a:t>
            </a:r>
            <a:r>
              <a:rPr lang="ja-JP" sz="2600">
                <a:solidFill>
                  <a:srgbClr val="0C2742"/>
                </a:solidFill>
                <a:latin typeface="Yu Gothic UI"/>
              </a:rPr>
              <a:t>点を同時に変える</a:t>
            </a:r>
          </a:p>
        </p:txBody>
      </p:sp>
      <p:sp>
        <p:nvSpPr>
          <p:cNvPr id="9" name="SDPM::narrative.executive_summary::index_0" title="SDPM::narrative.executive_summary::index_0" descr="SDPM::narrative.executive_summary::index_0"/>
          <p:cNvSpPr txBox="1"/>
          <p:nvPr/>
        </p:nvSpPr>
        <p:spPr>
          <a:xfrm>
            <a:off x="635000" y="2394966"/>
            <a:ext cx="857504" cy="8617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2400">
                <a:solidFill>
                  <a:srgbClr val="00A6A6"/>
                </a:solidFill>
                <a:latin typeface="Yu Gothic UI"/>
              </a:rPr>
              <a:t>1</a:t>
            </a:r>
          </a:p>
        </p:txBody>
      </p:sp>
      <p:cxnSp>
        <p:nvCxnSpPr>
          <p:cNvPr id="10" name="SDPM::narrative.executive_summary::index_rule_0" title="SDPM::narrative.executive_summary::index_rule_0" descr="SDPM::narrative.executive_summary::index_rule_0"/>
          <p:cNvCxnSpPr/>
          <p:nvPr/>
        </p:nvCxnSpPr>
        <p:spPr>
          <a:xfrm>
            <a:off x="1467104" y="2550096"/>
            <a:ext cx="0" cy="551498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narrative.executive_summary::title_0" title="SDPM::narrative.executive_summary::title_0" descr="SDPM::narrative.executive_summary::title_0"/>
          <p:cNvSpPr txBox="1"/>
          <p:nvPr/>
        </p:nvSpPr>
        <p:spPr>
          <a:xfrm>
            <a:off x="1594104" y="2394966"/>
            <a:ext cx="3858767" cy="8617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900">
                <a:solidFill>
                  <a:srgbClr val="123039"/>
                </a:solidFill>
                <a:latin typeface="Yu Gothic UI"/>
              </a:rPr>
              <a:t>市場を選ぶ</a:t>
            </a:r>
          </a:p>
        </p:txBody>
      </p:sp>
      <p:sp>
        <p:nvSpPr>
          <p:cNvPr id="12" name="SDPM::narrative.executive_summary::body_0" title="SDPM::narrative.executive_summary::body_0" descr="SDPM::narrative.executive_summary::body_0"/>
          <p:cNvSpPr txBox="1"/>
          <p:nvPr/>
        </p:nvSpPr>
        <p:spPr>
          <a:xfrm>
            <a:off x="5554472" y="2394966"/>
            <a:ext cx="6002528" cy="8617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61737B"/>
                </a:solidFill>
                <a:latin typeface="Yu Gothic UI"/>
              </a:rPr>
              <a:t>高成長・高収益の法人顧客に集中</a:t>
            </a:r>
          </a:p>
        </p:txBody>
      </p:sp>
      <p:cxnSp>
        <p:nvCxnSpPr>
          <p:cNvPr id="13" name="SDPM::narrative.executive_summary::divider_0" title="SDPM::narrative.executive_summary::divider_0" descr="SDPM::narrative.executive_summary::divider_0"/>
          <p:cNvCxnSpPr/>
          <p:nvPr/>
        </p:nvCxnSpPr>
        <p:spPr>
          <a:xfrm>
            <a:off x="635000" y="3256724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DPM::narrative.executive_summary::index_1" title="SDPM::narrative.executive_summary::index_1" descr="SDPM::narrative.executive_summary::index_1"/>
          <p:cNvSpPr txBox="1"/>
          <p:nvPr/>
        </p:nvSpPr>
        <p:spPr>
          <a:xfrm>
            <a:off x="635000" y="3256724"/>
            <a:ext cx="857504" cy="8617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2400">
                <a:solidFill>
                  <a:srgbClr val="2B74B8"/>
                </a:solidFill>
                <a:latin typeface="Yu Gothic UI"/>
              </a:rPr>
              <a:t>2</a:t>
            </a:r>
          </a:p>
        </p:txBody>
      </p:sp>
      <p:cxnSp>
        <p:nvCxnSpPr>
          <p:cNvPr id="15" name="SDPM::narrative.executive_summary::index_rule_1" title="SDPM::narrative.executive_summary::index_rule_1" descr="SDPM::narrative.executive_summary::index_rule_1"/>
          <p:cNvCxnSpPr/>
          <p:nvPr/>
        </p:nvCxnSpPr>
        <p:spPr>
          <a:xfrm>
            <a:off x="1467104" y="3411854"/>
            <a:ext cx="0" cy="551498"/>
          </a:xfrm>
          <a:prstGeom prst="line">
            <a:avLst/>
          </a:prstGeom>
          <a:ln w="38100">
            <a:solidFill>
              <a:srgbClr val="2B7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DPM::narrative.executive_summary::title_1" title="SDPM::narrative.executive_summary::title_1" descr="SDPM::narrative.executive_summary::title_1"/>
          <p:cNvSpPr txBox="1"/>
          <p:nvPr/>
        </p:nvSpPr>
        <p:spPr>
          <a:xfrm>
            <a:off x="1594104" y="3256724"/>
            <a:ext cx="3858767" cy="8617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900">
                <a:solidFill>
                  <a:srgbClr val="123039"/>
                </a:solidFill>
                <a:latin typeface="Yu Gothic UI"/>
              </a:rPr>
              <a:t>価値提案を変える</a:t>
            </a:r>
          </a:p>
        </p:txBody>
      </p:sp>
      <p:sp>
        <p:nvSpPr>
          <p:cNvPr id="17" name="SDPM::narrative.executive_summary::body_1" title="SDPM::narrative.executive_summary::body_1" descr="SDPM::narrative.executive_summary::body_1"/>
          <p:cNvSpPr txBox="1"/>
          <p:nvPr/>
        </p:nvSpPr>
        <p:spPr>
          <a:xfrm>
            <a:off x="5554472" y="3256724"/>
            <a:ext cx="6002528" cy="8617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61737B"/>
                </a:solidFill>
                <a:latin typeface="Yu Gothic UI"/>
              </a:rPr>
              <a:t>製品販売から業務成果の提供へ</a:t>
            </a:r>
          </a:p>
        </p:txBody>
      </p:sp>
      <p:cxnSp>
        <p:nvCxnSpPr>
          <p:cNvPr id="18" name="SDPM::narrative.executive_summary::divider_1" title="SDPM::narrative.executive_summary::divider_1" descr="SDPM::narrative.executive_summary::divider_1"/>
          <p:cNvCxnSpPr/>
          <p:nvPr/>
        </p:nvCxnSpPr>
        <p:spPr>
          <a:xfrm>
            <a:off x="635000" y="4118483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DPM::narrative.executive_summary::index_2" title="SDPM::narrative.executive_summary::index_2" descr="SDPM::narrative.executive_summary::index_2"/>
          <p:cNvSpPr txBox="1"/>
          <p:nvPr/>
        </p:nvSpPr>
        <p:spPr>
          <a:xfrm>
            <a:off x="635000" y="4118483"/>
            <a:ext cx="857504" cy="8617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2400">
                <a:solidFill>
                  <a:srgbClr val="2B74B8"/>
                </a:solidFill>
                <a:latin typeface="Yu Gothic UI"/>
              </a:rPr>
              <a:t>3</a:t>
            </a:r>
          </a:p>
        </p:txBody>
      </p:sp>
      <p:cxnSp>
        <p:nvCxnSpPr>
          <p:cNvPr id="20" name="SDPM::narrative.executive_summary::index_rule_2" title="SDPM::narrative.executive_summary::index_rule_2" descr="SDPM::narrative.executive_summary::index_rule_2"/>
          <p:cNvCxnSpPr/>
          <p:nvPr/>
        </p:nvCxnSpPr>
        <p:spPr>
          <a:xfrm>
            <a:off x="1467104" y="4273613"/>
            <a:ext cx="0" cy="551498"/>
          </a:xfrm>
          <a:prstGeom prst="line">
            <a:avLst/>
          </a:prstGeom>
          <a:ln w="38100">
            <a:solidFill>
              <a:srgbClr val="2B7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DPM::narrative.executive_summary::title_2" title="SDPM::narrative.executive_summary::title_2" descr="SDPM::narrative.executive_summary::title_2"/>
          <p:cNvSpPr txBox="1"/>
          <p:nvPr/>
        </p:nvSpPr>
        <p:spPr>
          <a:xfrm>
            <a:off x="1594104" y="4118483"/>
            <a:ext cx="3858767" cy="8617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900">
                <a:solidFill>
                  <a:srgbClr val="123039"/>
                </a:solidFill>
                <a:latin typeface="Yu Gothic UI"/>
              </a:rPr>
              <a:t>実行基盤を整える</a:t>
            </a:r>
          </a:p>
        </p:txBody>
      </p:sp>
      <p:sp>
        <p:nvSpPr>
          <p:cNvPr id="22" name="SDPM::narrative.executive_summary::body_2" title="SDPM::narrative.executive_summary::body_2" descr="SDPM::narrative.executive_summary::body_2"/>
          <p:cNvSpPr txBox="1"/>
          <p:nvPr/>
        </p:nvSpPr>
        <p:spPr>
          <a:xfrm>
            <a:off x="5554472" y="4118483"/>
            <a:ext cx="6002528" cy="8617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61737B"/>
                </a:solidFill>
                <a:latin typeface="Yu Gothic UI"/>
              </a:rPr>
              <a:t>営業・</a:t>
            </a:r>
            <a:r>
              <a:rPr sz="1500">
                <a:solidFill>
                  <a:srgbClr val="61737B"/>
                </a:solidFill>
                <a:latin typeface="Yu Gothic UI"/>
              </a:rPr>
              <a:t> CS </a:t>
            </a:r>
            <a:r>
              <a:rPr lang="ja-JP" sz="1500">
                <a:solidFill>
                  <a:srgbClr val="61737B"/>
                </a:solidFill>
                <a:latin typeface="Yu Gothic UI"/>
              </a:rPr>
              <a:t>・データを横断運用</a:t>
            </a:r>
          </a:p>
        </p:txBody>
      </p:sp>
      <p:cxnSp>
        <p:nvCxnSpPr>
          <p:cNvPr id="23" name="SDPM::narrative.executive_summary::divider_2" title="SDPM::narrative.executive_summary::divider_2" descr="SDPM::narrative.executive_summary::divider_2"/>
          <p:cNvCxnSpPr/>
          <p:nvPr/>
        </p:nvCxnSpPr>
        <p:spPr>
          <a:xfrm>
            <a:off x="635000" y="4980241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DPM::narrative.executive_summary::index_3" title="SDPM::narrative.executive_summary::index_3" descr="SDPM::narrative.executive_summary::index_3"/>
          <p:cNvSpPr txBox="1"/>
          <p:nvPr/>
        </p:nvSpPr>
        <p:spPr>
          <a:xfrm>
            <a:off x="635000" y="4980241"/>
            <a:ext cx="857504" cy="8617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2400">
                <a:solidFill>
                  <a:srgbClr val="2B74B8"/>
                </a:solidFill>
                <a:latin typeface="Yu Gothic UI"/>
              </a:rPr>
              <a:t>4</a:t>
            </a:r>
          </a:p>
        </p:txBody>
      </p:sp>
      <p:cxnSp>
        <p:nvCxnSpPr>
          <p:cNvPr id="25" name="SDPM::narrative.executive_summary::index_rule_3" title="SDPM::narrative.executive_summary::index_rule_3" descr="SDPM::narrative.executive_summary::index_rule_3"/>
          <p:cNvCxnSpPr/>
          <p:nvPr/>
        </p:nvCxnSpPr>
        <p:spPr>
          <a:xfrm>
            <a:off x="1467104" y="5135372"/>
            <a:ext cx="0" cy="551497"/>
          </a:xfrm>
          <a:prstGeom prst="line">
            <a:avLst/>
          </a:prstGeom>
          <a:ln w="38100">
            <a:solidFill>
              <a:srgbClr val="2B7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DPM::narrative.executive_summary::title_3" title="SDPM::narrative.executive_summary::title_3" descr="SDPM::narrative.executive_summary::title_3"/>
          <p:cNvSpPr txBox="1"/>
          <p:nvPr/>
        </p:nvSpPr>
        <p:spPr>
          <a:xfrm>
            <a:off x="1594104" y="4980241"/>
            <a:ext cx="3858767" cy="8617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900">
                <a:solidFill>
                  <a:srgbClr val="123039"/>
                </a:solidFill>
                <a:latin typeface="Yu Gothic UI"/>
              </a:rPr>
              <a:t>90 </a:t>
            </a:r>
            <a:r>
              <a:rPr lang="ja-JP" sz="1900">
                <a:solidFill>
                  <a:srgbClr val="123039"/>
                </a:solidFill>
                <a:latin typeface="Yu Gothic UI"/>
              </a:rPr>
              <a:t>日で検証する</a:t>
            </a:r>
          </a:p>
        </p:txBody>
      </p:sp>
      <p:sp>
        <p:nvSpPr>
          <p:cNvPr id="27" name="SDPM::narrative.executive_summary::body_3" title="SDPM::narrative.executive_summary::body_3" descr="SDPM::narrative.executive_summary::body_3"/>
          <p:cNvSpPr txBox="1"/>
          <p:nvPr/>
        </p:nvSpPr>
        <p:spPr>
          <a:xfrm>
            <a:off x="5554472" y="4980241"/>
            <a:ext cx="6002528" cy="8617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61737B"/>
                </a:solidFill>
                <a:latin typeface="Yu Gothic UI"/>
              </a:rPr>
              <a:t>離反率、利用定着、粗利で継続判断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Consulting Classic — composition, typography and reading path are theme-specific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1 / 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0C2742"/>
                </a:solidFill>
                <a:latin typeface="Yu Gothic UI"/>
              </a:rPr>
              <a:t>Key Message +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narrative.key_message_evidence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narrative.key_message_evidence::message" title="SDPM::narrative.key_message_evidence::message" descr="SDPM::narrative.key_message_evidence::message"/>
          <p:cNvSpPr txBox="1"/>
          <p:nvPr/>
        </p:nvSpPr>
        <p:spPr>
          <a:xfrm>
            <a:off x="635000" y="1524000"/>
            <a:ext cx="7744968" cy="14249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2800">
                <a:solidFill>
                  <a:srgbClr val="0C2742"/>
                </a:solidFill>
                <a:latin typeface="Yu Gothic UI"/>
              </a:rPr>
              <a:t>市場成長は続くが、シェア回復には重点顧客への集中が必要</a:t>
            </a:r>
          </a:p>
        </p:txBody>
      </p:sp>
      <p:sp>
        <p:nvSpPr>
          <p:cNvPr id="7" name="SDPM::narrative.key_message_evidence::implication" title="SDPM::narrative.key_message_evidence::implication" descr="SDPM::narrative.key_message_evidence::implication"/>
          <p:cNvSpPr/>
          <p:nvPr/>
        </p:nvSpPr>
        <p:spPr>
          <a:xfrm>
            <a:off x="8545068" y="1524000"/>
            <a:ext cx="3011932" cy="1424940"/>
          </a:xfrm>
          <a:prstGeom prst="roundRect">
            <a:avLst/>
          </a:prstGeom>
          <a:solidFill>
            <a:srgbClr val="0C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114300" rIns="114300" bIns="114300"/>
          <a:lstStyle/>
          <a:p>
            <a:pPr algn="l"/>
            <a:r>
              <a:rPr lang="ja-JP" sz="1400">
                <a:solidFill>
                  <a:srgbClr val="FFFFFF"/>
                </a:solidFill>
                <a:latin typeface="Yu Gothic UI"/>
              </a:rPr>
              <a:t>市場</a:t>
            </a:r>
            <a:r>
              <a:rPr sz="1400">
                <a:solidFill>
                  <a:srgbClr val="FFFFFF"/>
                </a:solidFill>
                <a:latin typeface="Aptos"/>
              </a:rPr>
              <a:t> A </a:t>
            </a:r>
            <a:r>
              <a:rPr lang="ja-JP" sz="1400">
                <a:solidFill>
                  <a:srgbClr val="FFFFFF"/>
                </a:solidFill>
                <a:latin typeface="Yu Gothic UI"/>
              </a:rPr>
              <a:t>へ営業・開発・</a:t>
            </a:r>
            <a:r>
              <a:rPr sz="1400">
                <a:solidFill>
                  <a:srgbClr val="FFFFFF"/>
                </a:solidFill>
                <a:latin typeface="Aptos"/>
              </a:rPr>
              <a:t> CS </a:t>
            </a:r>
            <a:r>
              <a:rPr lang="ja-JP" sz="1400">
                <a:solidFill>
                  <a:srgbClr val="FFFFFF"/>
                </a:solidFill>
                <a:latin typeface="Yu Gothic UI"/>
              </a:rPr>
              <a:t>資源を集中する</a:t>
            </a:r>
          </a:p>
        </p:txBody>
      </p:sp>
      <p:cxnSp>
        <p:nvCxnSpPr>
          <p:cNvPr id="8" name="SDPM::narrative.key_message_evidence::top_rule_0" title="SDPM::narrative.key_message_evidence::top_rule_0" descr="SDPM::narrative.key_message_evidence::top_rule_0"/>
          <p:cNvCxnSpPr/>
          <p:nvPr/>
        </p:nvCxnSpPr>
        <p:spPr>
          <a:xfrm>
            <a:off x="635000" y="3075940"/>
            <a:ext cx="3564445" cy="0"/>
          </a:xfrm>
          <a:prstGeom prst="line">
            <a:avLst/>
          </a:prstGeom>
          <a:ln w="635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DPM::narrative.key_message_evidence::value_0" title="SDPM::narrative.key_message_evidence::value_0" descr="SDPM::narrative.key_message_evidence::value_0"/>
          <p:cNvSpPr txBox="1"/>
          <p:nvPr/>
        </p:nvSpPr>
        <p:spPr>
          <a:xfrm>
            <a:off x="635000" y="3177540"/>
            <a:ext cx="3564445" cy="131318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600">
                <a:solidFill>
                  <a:srgbClr val="00A6A6"/>
                </a:solidFill>
                <a:latin typeface="Yu Gothic UI"/>
              </a:rPr>
              <a:t>+8%</a:t>
            </a:r>
          </a:p>
        </p:txBody>
      </p:sp>
      <p:sp>
        <p:nvSpPr>
          <p:cNvPr id="10" name="SDPM::narrative.key_message_evidence::label_0" title="SDPM::narrative.key_message_evidence::label_0" descr="SDPM::narrative.key_message_evidence::label_0"/>
          <p:cNvSpPr txBox="1"/>
          <p:nvPr/>
        </p:nvSpPr>
        <p:spPr>
          <a:xfrm>
            <a:off x="635000" y="4509770"/>
            <a:ext cx="3564445" cy="57778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23039"/>
                </a:solidFill>
                <a:latin typeface="Yu Gothic UI"/>
              </a:rPr>
              <a:t>市場成長</a:t>
            </a:r>
          </a:p>
        </p:txBody>
      </p:sp>
      <p:sp>
        <p:nvSpPr>
          <p:cNvPr id="11" name="SDPM::narrative.key_message_evidence::note_0" title="SDPM::narrative.key_message_evidence::note_0" descr="SDPM::narrative.key_message_evidence::note_0"/>
          <p:cNvSpPr txBox="1"/>
          <p:nvPr/>
        </p:nvSpPr>
        <p:spPr>
          <a:xfrm>
            <a:off x="635000" y="5106606"/>
            <a:ext cx="3564445" cy="735393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年平均成長率</a:t>
            </a:r>
          </a:p>
        </p:txBody>
      </p:sp>
      <p:cxnSp>
        <p:nvCxnSpPr>
          <p:cNvPr id="12" name="SDPM::narrative.key_message_evidence::top_rule_1" title="SDPM::narrative.key_message_evidence::top_rule_1" descr="SDPM::narrative.key_message_evidence::top_rule_1"/>
          <p:cNvCxnSpPr/>
          <p:nvPr/>
        </p:nvCxnSpPr>
        <p:spPr>
          <a:xfrm>
            <a:off x="4313745" y="3075940"/>
            <a:ext cx="3564509" cy="0"/>
          </a:xfrm>
          <a:prstGeom prst="line">
            <a:avLst/>
          </a:prstGeom>
          <a:ln w="63500">
            <a:solidFill>
              <a:srgbClr val="2B7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DPM::narrative.key_message_evidence::value_1" title="SDPM::narrative.key_message_evidence::value_1" descr="SDPM::narrative.key_message_evidence::value_1"/>
          <p:cNvSpPr txBox="1"/>
          <p:nvPr/>
        </p:nvSpPr>
        <p:spPr>
          <a:xfrm>
            <a:off x="4313745" y="3177540"/>
            <a:ext cx="3564445" cy="131318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600">
                <a:solidFill>
                  <a:srgbClr val="2B74B8"/>
                </a:solidFill>
                <a:latin typeface="Yu Gothic UI"/>
              </a:rPr>
              <a:t>-3.6pt</a:t>
            </a:r>
          </a:p>
        </p:txBody>
      </p:sp>
      <p:sp>
        <p:nvSpPr>
          <p:cNvPr id="14" name="SDPM::narrative.key_message_evidence::label_1" title="SDPM::narrative.key_message_evidence::label_1" descr="SDPM::narrative.key_message_evidence::label_1"/>
          <p:cNvSpPr txBox="1"/>
          <p:nvPr/>
        </p:nvSpPr>
        <p:spPr>
          <a:xfrm>
            <a:off x="4313745" y="4509770"/>
            <a:ext cx="3564445" cy="57778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23039"/>
                </a:solidFill>
                <a:latin typeface="Yu Gothic UI"/>
              </a:rPr>
              <a:t>自社シェア</a:t>
            </a:r>
          </a:p>
        </p:txBody>
      </p:sp>
      <p:sp>
        <p:nvSpPr>
          <p:cNvPr id="15" name="SDPM::narrative.key_message_evidence::note_1" title="SDPM::narrative.key_message_evidence::note_1" descr="SDPM::narrative.key_message_evidence::note_1"/>
          <p:cNvSpPr txBox="1"/>
          <p:nvPr/>
        </p:nvSpPr>
        <p:spPr>
          <a:xfrm>
            <a:off x="4313745" y="5106606"/>
            <a:ext cx="3564445" cy="735393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3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年間の低下幅</a:t>
            </a:r>
          </a:p>
        </p:txBody>
      </p:sp>
      <p:cxnSp>
        <p:nvCxnSpPr>
          <p:cNvPr id="16" name="SDPM::narrative.key_message_evidence::top_rule_2" title="SDPM::narrative.key_message_evidence::top_rule_2" descr="SDPM::narrative.key_message_evidence::top_rule_2"/>
          <p:cNvCxnSpPr/>
          <p:nvPr/>
        </p:nvCxnSpPr>
        <p:spPr>
          <a:xfrm>
            <a:off x="7992554" y="3075940"/>
            <a:ext cx="3564446" cy="0"/>
          </a:xfrm>
          <a:prstGeom prst="line">
            <a:avLst/>
          </a:prstGeom>
          <a:ln w="63500">
            <a:solidFill>
              <a:srgbClr val="2B7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DPM::narrative.key_message_evidence::value_2" title="SDPM::narrative.key_message_evidence::value_2" descr="SDPM::narrative.key_message_evidence::value_2"/>
          <p:cNvSpPr txBox="1"/>
          <p:nvPr/>
        </p:nvSpPr>
        <p:spPr>
          <a:xfrm>
            <a:off x="7992554" y="3177540"/>
            <a:ext cx="3564445" cy="131318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600">
                <a:solidFill>
                  <a:srgbClr val="2B74B8"/>
                </a:solidFill>
                <a:latin typeface="Yu Gothic UI"/>
              </a:rPr>
              <a:t>34%</a:t>
            </a:r>
          </a:p>
        </p:txBody>
      </p:sp>
      <p:sp>
        <p:nvSpPr>
          <p:cNvPr id="18" name="SDPM::narrative.key_message_evidence::label_2" title="SDPM::narrative.key_message_evidence::label_2" descr="SDPM::narrative.key_message_evidence::label_2"/>
          <p:cNvSpPr txBox="1"/>
          <p:nvPr/>
        </p:nvSpPr>
        <p:spPr>
          <a:xfrm>
            <a:off x="7992554" y="4509770"/>
            <a:ext cx="3564445" cy="57778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23039"/>
                </a:solidFill>
                <a:latin typeface="Yu Gothic UI"/>
              </a:rPr>
              <a:t>市場</a:t>
            </a:r>
            <a:r>
              <a:rPr sz="1400">
                <a:solidFill>
                  <a:srgbClr val="123039"/>
                </a:solidFill>
                <a:latin typeface="Yu Gothic UI"/>
              </a:rPr>
              <a:t> A </a:t>
            </a:r>
            <a:r>
              <a:rPr lang="ja-JP" sz="1400">
                <a:solidFill>
                  <a:srgbClr val="123039"/>
                </a:solidFill>
                <a:latin typeface="Yu Gothic UI"/>
              </a:rPr>
              <a:t>粗利率</a:t>
            </a:r>
          </a:p>
        </p:txBody>
      </p:sp>
      <p:sp>
        <p:nvSpPr>
          <p:cNvPr id="19" name="SDPM::narrative.key_message_evidence::note_2" title="SDPM::narrative.key_message_evidence::note_2" descr="SDPM::narrative.key_message_evidence::note_2"/>
          <p:cNvSpPr txBox="1"/>
          <p:nvPr/>
        </p:nvSpPr>
        <p:spPr>
          <a:xfrm>
            <a:off x="7992554" y="5106606"/>
            <a:ext cx="3564445" cy="735393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全市場で最高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Consulting Classic — composition, typography and reading path are theme-specific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0C2742"/>
                </a:solidFill>
                <a:latin typeface="Yu Gothic UI"/>
              </a:rPr>
              <a:t>Chart +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chart.insight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chart.insight::label_0" title="SDPM::chart.insight::label_0" descr="SDPM::chart.insight::label_0"/>
          <p:cNvSpPr txBox="1"/>
          <p:nvPr/>
        </p:nvSpPr>
        <p:spPr>
          <a:xfrm>
            <a:off x="635000" y="1524000"/>
            <a:ext cx="1979993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23039"/>
                </a:solidFill>
                <a:latin typeface="Yu Gothic UI"/>
              </a:rPr>
              <a:t>市場</a:t>
            </a:r>
            <a:r>
              <a:rPr sz="1400">
                <a:solidFill>
                  <a:srgbClr val="123039"/>
                </a:solidFill>
                <a:latin typeface="Yu Gothic UI"/>
              </a:rPr>
              <a:t> A</a:t>
            </a:r>
          </a:p>
        </p:txBody>
      </p:sp>
      <p:cxnSp>
        <p:nvCxnSpPr>
          <p:cNvPr id="7" name="SDPM::chart.insight::base_0" title="SDPM::chart.insight::base_0" descr="SDPM::chart.insight::base_0"/>
          <p:cNvCxnSpPr/>
          <p:nvPr/>
        </p:nvCxnSpPr>
        <p:spPr>
          <a:xfrm>
            <a:off x="2665793" y="2039937"/>
            <a:ext cx="403079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chart.insight::bar_0" title="SDPM::chart.insight::bar_0" descr="SDPM::chart.insight::bar_0"/>
          <p:cNvSpPr/>
          <p:nvPr/>
        </p:nvSpPr>
        <p:spPr>
          <a:xfrm>
            <a:off x="2665793" y="1864487"/>
            <a:ext cx="4030726" cy="350837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DPM::chart.insight::value_0" title="SDPM::chart.insight::value_0" descr="SDPM::chart.insight::value_0"/>
          <p:cNvSpPr txBox="1"/>
          <p:nvPr/>
        </p:nvSpPr>
        <p:spPr>
          <a:xfrm>
            <a:off x="6747383" y="1524000"/>
            <a:ext cx="1060704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300">
                <a:solidFill>
                  <a:srgbClr val="00A6A6"/>
                </a:solidFill>
                <a:latin typeface="Yu Gothic UI"/>
              </a:rPr>
              <a:t>82</a:t>
            </a:r>
          </a:p>
        </p:txBody>
      </p:sp>
      <p:sp>
        <p:nvSpPr>
          <p:cNvPr id="10" name="SDPM::chart.insight::label_1" title="SDPM::chart.insight::label_1" descr="SDPM::chart.insight::label_1"/>
          <p:cNvSpPr txBox="1"/>
          <p:nvPr/>
        </p:nvSpPr>
        <p:spPr>
          <a:xfrm>
            <a:off x="635000" y="2619375"/>
            <a:ext cx="1979993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23039"/>
                </a:solidFill>
                <a:latin typeface="Yu Gothic UI"/>
              </a:rPr>
              <a:t>市場</a:t>
            </a:r>
            <a:r>
              <a:rPr sz="1400">
                <a:solidFill>
                  <a:srgbClr val="123039"/>
                </a:solidFill>
                <a:latin typeface="Yu Gothic UI"/>
              </a:rPr>
              <a:t> B</a:t>
            </a:r>
          </a:p>
        </p:txBody>
      </p:sp>
      <p:cxnSp>
        <p:nvCxnSpPr>
          <p:cNvPr id="11" name="SDPM::chart.insight::base_1" title="SDPM::chart.insight::base_1" descr="SDPM::chart.insight::base_1"/>
          <p:cNvCxnSpPr/>
          <p:nvPr/>
        </p:nvCxnSpPr>
        <p:spPr>
          <a:xfrm>
            <a:off x="2665793" y="3135312"/>
            <a:ext cx="403079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DPM::chart.insight::bar_1" title="SDPM::chart.insight::bar_1" descr="SDPM::chart.insight::bar_1"/>
          <p:cNvSpPr/>
          <p:nvPr/>
        </p:nvSpPr>
        <p:spPr>
          <a:xfrm>
            <a:off x="2665793" y="2959862"/>
            <a:ext cx="3096768" cy="350837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DPM::chart.insight::value_1" title="SDPM::chart.insight::value_1" descr="SDPM::chart.insight::value_1"/>
          <p:cNvSpPr txBox="1"/>
          <p:nvPr/>
        </p:nvSpPr>
        <p:spPr>
          <a:xfrm>
            <a:off x="6747383" y="2619375"/>
            <a:ext cx="1060704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300">
                <a:solidFill>
                  <a:srgbClr val="2B74B8"/>
                </a:solidFill>
                <a:latin typeface="Yu Gothic UI"/>
              </a:rPr>
              <a:t>63</a:t>
            </a:r>
          </a:p>
        </p:txBody>
      </p:sp>
      <p:sp>
        <p:nvSpPr>
          <p:cNvPr id="14" name="SDPM::chart.insight::label_2" title="SDPM::chart.insight::label_2" descr="SDPM::chart.insight::label_2"/>
          <p:cNvSpPr txBox="1"/>
          <p:nvPr/>
        </p:nvSpPr>
        <p:spPr>
          <a:xfrm>
            <a:off x="635000" y="3714750"/>
            <a:ext cx="1979993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23039"/>
                </a:solidFill>
                <a:latin typeface="Yu Gothic UI"/>
              </a:rPr>
              <a:t>市場</a:t>
            </a:r>
            <a:r>
              <a:rPr sz="1400">
                <a:solidFill>
                  <a:srgbClr val="123039"/>
                </a:solidFill>
                <a:latin typeface="Yu Gothic UI"/>
              </a:rPr>
              <a:t> C</a:t>
            </a:r>
          </a:p>
        </p:txBody>
      </p:sp>
      <p:cxnSp>
        <p:nvCxnSpPr>
          <p:cNvPr id="15" name="SDPM::chart.insight::base_2" title="SDPM::chart.insight::base_2" descr="SDPM::chart.insight::base_2"/>
          <p:cNvCxnSpPr/>
          <p:nvPr/>
        </p:nvCxnSpPr>
        <p:spPr>
          <a:xfrm>
            <a:off x="2665793" y="4230687"/>
            <a:ext cx="403079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DPM::chart.insight::bar_2" title="SDPM::chart.insight::bar_2" descr="SDPM::chart.insight::bar_2"/>
          <p:cNvSpPr/>
          <p:nvPr/>
        </p:nvSpPr>
        <p:spPr>
          <a:xfrm>
            <a:off x="2665793" y="4055237"/>
            <a:ext cx="2015363" cy="350837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DPM::chart.insight::value_2" title="SDPM::chart.insight::value_2" descr="SDPM::chart.insight::value_2"/>
          <p:cNvSpPr txBox="1"/>
          <p:nvPr/>
        </p:nvSpPr>
        <p:spPr>
          <a:xfrm>
            <a:off x="6747383" y="3714750"/>
            <a:ext cx="1060704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300">
                <a:solidFill>
                  <a:srgbClr val="2B74B8"/>
                </a:solidFill>
                <a:latin typeface="Yu Gothic UI"/>
              </a:rPr>
              <a:t>41</a:t>
            </a:r>
          </a:p>
        </p:txBody>
      </p:sp>
      <p:sp>
        <p:nvSpPr>
          <p:cNvPr id="18" name="SDPM::chart.insight::label_3" title="SDPM::chart.insight::label_3" descr="SDPM::chart.insight::label_3"/>
          <p:cNvSpPr txBox="1"/>
          <p:nvPr/>
        </p:nvSpPr>
        <p:spPr>
          <a:xfrm>
            <a:off x="635000" y="4810125"/>
            <a:ext cx="1979993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23039"/>
                </a:solidFill>
                <a:latin typeface="Yu Gothic UI"/>
              </a:rPr>
              <a:t>市場</a:t>
            </a:r>
            <a:r>
              <a:rPr sz="1400">
                <a:solidFill>
                  <a:srgbClr val="123039"/>
                </a:solidFill>
                <a:latin typeface="Yu Gothic UI"/>
              </a:rPr>
              <a:t> D</a:t>
            </a:r>
          </a:p>
        </p:txBody>
      </p:sp>
      <p:cxnSp>
        <p:nvCxnSpPr>
          <p:cNvPr id="19" name="SDPM::chart.insight::base_3" title="SDPM::chart.insight::base_3" descr="SDPM::chart.insight::base_3"/>
          <p:cNvCxnSpPr/>
          <p:nvPr/>
        </p:nvCxnSpPr>
        <p:spPr>
          <a:xfrm>
            <a:off x="2665793" y="5326062"/>
            <a:ext cx="403079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DPM::chart.insight::bar_3" title="SDPM::chart.insight::bar_3" descr="SDPM::chart.insight::bar_3"/>
          <p:cNvSpPr/>
          <p:nvPr/>
        </p:nvSpPr>
        <p:spPr>
          <a:xfrm>
            <a:off x="2665793" y="5150612"/>
            <a:ext cx="1327213" cy="350837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DPM::chart.insight::value_3" title="SDPM::chart.insight::value_3" descr="SDPM::chart.insight::value_3"/>
          <p:cNvSpPr txBox="1"/>
          <p:nvPr/>
        </p:nvSpPr>
        <p:spPr>
          <a:xfrm>
            <a:off x="6747383" y="4810125"/>
            <a:ext cx="1060704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300">
                <a:solidFill>
                  <a:srgbClr val="2B74B8"/>
                </a:solidFill>
                <a:latin typeface="Yu Gothic UI"/>
              </a:rPr>
              <a:t>27</a:t>
            </a:r>
          </a:p>
        </p:txBody>
      </p:sp>
      <p:cxnSp>
        <p:nvCxnSpPr>
          <p:cNvPr id="22" name="SDPM::chart.insight::divider" title="SDPM::chart.insight::divider" descr="SDPM::chart.insight::divider"/>
          <p:cNvCxnSpPr/>
          <p:nvPr/>
        </p:nvCxnSpPr>
        <p:spPr>
          <a:xfrm>
            <a:off x="8023986" y="1651000"/>
            <a:ext cx="0" cy="4064000"/>
          </a:xfrm>
          <a:prstGeom prst="line">
            <a:avLst/>
          </a:prstGeom>
          <a:ln w="635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DPM::chart.insight::kicker" title="SDPM::chart.insight::kicker" descr="SDPM::chart.insight::kicker"/>
          <p:cNvSpPr txBox="1"/>
          <p:nvPr/>
        </p:nvSpPr>
        <p:spPr>
          <a:xfrm>
            <a:off x="8176386" y="1524000"/>
            <a:ext cx="3380613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WHAT THE DATA SAYS</a:t>
            </a:r>
          </a:p>
        </p:txBody>
      </p:sp>
      <p:cxnSp>
        <p:nvCxnSpPr>
          <p:cNvPr id="24" name="SDPM::chart.insight::kicker_rule" title="SDPM::chart.insight::kicker_rule" descr="SDPM::chart.insight::kicker_rule"/>
          <p:cNvCxnSpPr/>
          <p:nvPr/>
        </p:nvCxnSpPr>
        <p:spPr>
          <a:xfrm>
            <a:off x="8176386" y="1676400"/>
            <a:ext cx="698501" cy="0"/>
          </a:xfrm>
          <a:prstGeom prst="line">
            <a:avLst/>
          </a:prstGeom>
          <a:ln w="3175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DPM::chart.insight::insight" title="SDPM::chart.insight::insight" descr="SDPM::chart.insight::insight"/>
          <p:cNvSpPr txBox="1"/>
          <p:nvPr/>
        </p:nvSpPr>
        <p:spPr>
          <a:xfrm>
            <a:off x="8176386" y="1854200"/>
            <a:ext cx="3355213" cy="3289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2500">
                <a:solidFill>
                  <a:srgbClr val="0C2742"/>
                </a:solidFill>
                <a:latin typeface="Yu Gothic UI"/>
              </a:rPr>
              <a:t>市場</a:t>
            </a:r>
            <a:r>
              <a:rPr sz="2500">
                <a:solidFill>
                  <a:srgbClr val="0C2742"/>
                </a:solidFill>
                <a:latin typeface="Yu Gothic UI"/>
              </a:rPr>
              <a:t> A </a:t>
            </a:r>
            <a:r>
              <a:rPr lang="ja-JP" sz="2500">
                <a:solidFill>
                  <a:srgbClr val="0C2742"/>
                </a:solidFill>
                <a:latin typeface="Yu Gothic UI"/>
              </a:rPr>
              <a:t>は魅力度と収益性の両面で最優先</a:t>
            </a:r>
          </a:p>
        </p:txBody>
      </p:sp>
      <p:sp>
        <p:nvSpPr>
          <p:cNvPr id="26" name="SDPM::chart.insight::support" title="SDPM::chart.insight::support" descr="SDPM::chart.insight::support"/>
          <p:cNvSpPr txBox="1"/>
          <p:nvPr/>
        </p:nvSpPr>
        <p:spPr>
          <a:xfrm>
            <a:off x="8176386" y="5232400"/>
            <a:ext cx="3355213" cy="533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b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資源配分を市場</a:t>
            </a:r>
            <a:r>
              <a:rPr sz="1200">
                <a:solidFill>
                  <a:srgbClr val="61737B"/>
                </a:solidFill>
                <a:latin typeface="Yu Gothic UI"/>
              </a:rPr>
              <a:t> A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へ寄せる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Consulting Classic — composition, typography and reading path are theme-specific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0C2742"/>
                </a:solidFill>
                <a:latin typeface="Yu Gothic UI"/>
              </a:rPr>
              <a:t>Findings +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narrative.findings_implications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narrative.findings_implications::finding_bg_0" title="SDPM::narrative.findings_implications::finding_bg_0" descr="SDPM::narrative.findings_implications::finding_bg_0"/>
          <p:cNvSpPr/>
          <p:nvPr/>
        </p:nvSpPr>
        <p:spPr>
          <a:xfrm>
            <a:off x="635000" y="1524000"/>
            <a:ext cx="4738624" cy="1380045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DPM::narrative.findings_implications::rule_0" title="SDPM::narrative.findings_implications::rule_0" descr="SDPM::narrative.findings_implications::rule_0"/>
          <p:cNvSpPr/>
          <p:nvPr/>
        </p:nvSpPr>
        <p:spPr>
          <a:xfrm>
            <a:off x="635000" y="1524000"/>
            <a:ext cx="44450" cy="1380045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DPM::narrative.findings_implications::finding_0" title="SDPM::narrative.findings_implications::finding_0" descr="SDPM::narrative.findings_implications::finding_0"/>
          <p:cNvSpPr txBox="1"/>
          <p:nvPr/>
        </p:nvSpPr>
        <p:spPr>
          <a:xfrm>
            <a:off x="774700" y="1587500"/>
            <a:ext cx="4510024" cy="125304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123039"/>
                </a:solidFill>
                <a:latin typeface="Yu Gothic UI"/>
              </a:rPr>
              <a:t>離反の</a:t>
            </a:r>
            <a:r>
              <a:rPr sz="1700">
                <a:solidFill>
                  <a:srgbClr val="123039"/>
                </a:solidFill>
                <a:latin typeface="Yu Gothic UI"/>
              </a:rPr>
              <a:t> 62% </a:t>
            </a:r>
            <a:r>
              <a:rPr lang="ja-JP" sz="1700">
                <a:solidFill>
                  <a:srgbClr val="123039"/>
                </a:solidFill>
                <a:latin typeface="Yu Gothic UI"/>
              </a:rPr>
              <a:t>が導入</a:t>
            </a:r>
            <a:r>
              <a:rPr sz="1700">
                <a:solidFill>
                  <a:srgbClr val="123039"/>
                </a:solidFill>
                <a:latin typeface="Yu Gothic UI"/>
              </a:rPr>
              <a:t> 90 </a:t>
            </a:r>
            <a:r>
              <a:rPr lang="ja-JP" sz="1700">
                <a:solidFill>
                  <a:srgbClr val="123039"/>
                </a:solidFill>
                <a:latin typeface="Yu Gothic UI"/>
              </a:rPr>
              <a:t>日以内に発生</a:t>
            </a:r>
          </a:p>
        </p:txBody>
      </p:sp>
      <p:cxnSp>
        <p:nvCxnSpPr>
          <p:cNvPr id="9" name="SDPM::narrative.findings_implications::arrow_0" title="SDPM::narrative.findings_implications::arrow_0" descr="SDPM::narrative.findings_implications::arrow_0"/>
          <p:cNvCxnSpPr/>
          <p:nvPr/>
        </p:nvCxnSpPr>
        <p:spPr>
          <a:xfrm>
            <a:off x="5475224" y="2214054"/>
            <a:ext cx="1026160" cy="0"/>
          </a:xfrm>
          <a:prstGeom prst="line">
            <a:avLst/>
          </a:prstGeom>
          <a:ln w="31750">
            <a:solidFill>
              <a:srgbClr val="00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DPM::narrative.findings_implications::implication_0" title="SDPM::narrative.findings_implications::implication_0" descr="SDPM::narrative.findings_implications::implication_0"/>
          <p:cNvSpPr txBox="1"/>
          <p:nvPr/>
        </p:nvSpPr>
        <p:spPr>
          <a:xfrm>
            <a:off x="6602983" y="1524000"/>
            <a:ext cx="4954016" cy="138004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0C2742"/>
                </a:solidFill>
                <a:latin typeface="Yu Gothic UI"/>
              </a:rPr>
              <a:t>オンボーディングを最優先で改善</a:t>
            </a:r>
          </a:p>
        </p:txBody>
      </p:sp>
      <p:sp>
        <p:nvSpPr>
          <p:cNvPr id="11" name="SDPM::narrative.findings_implications::finding_bg_1" title="SDPM::narrative.findings_implications::finding_bg_1" descr="SDPM::narrative.findings_implications::finding_bg_1"/>
          <p:cNvSpPr/>
          <p:nvPr/>
        </p:nvSpPr>
        <p:spPr>
          <a:xfrm>
            <a:off x="635000" y="2992945"/>
            <a:ext cx="4738624" cy="1380045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DPM::narrative.findings_implications::rule_1" title="SDPM::narrative.findings_implications::rule_1" descr="SDPM::narrative.findings_implications::rule_1"/>
          <p:cNvSpPr/>
          <p:nvPr/>
        </p:nvSpPr>
        <p:spPr>
          <a:xfrm>
            <a:off x="635000" y="2992945"/>
            <a:ext cx="44450" cy="1380045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DPM::narrative.findings_implications::finding_1" title="SDPM::narrative.findings_implications::finding_1" descr="SDPM::narrative.findings_implications::finding_1"/>
          <p:cNvSpPr txBox="1"/>
          <p:nvPr/>
        </p:nvSpPr>
        <p:spPr>
          <a:xfrm>
            <a:off x="774700" y="3056445"/>
            <a:ext cx="4510024" cy="125304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123039"/>
                </a:solidFill>
                <a:latin typeface="Yu Gothic UI"/>
              </a:rPr>
              <a:t>高収益顧客ほど利用部門が限定</a:t>
            </a:r>
          </a:p>
        </p:txBody>
      </p:sp>
      <p:cxnSp>
        <p:nvCxnSpPr>
          <p:cNvPr id="14" name="SDPM::narrative.findings_implications::arrow_1" title="SDPM::narrative.findings_implications::arrow_1" descr="SDPM::narrative.findings_implications::arrow_1"/>
          <p:cNvCxnSpPr/>
          <p:nvPr/>
        </p:nvCxnSpPr>
        <p:spPr>
          <a:xfrm>
            <a:off x="5475224" y="3683000"/>
            <a:ext cx="1026160" cy="0"/>
          </a:xfrm>
          <a:prstGeom prst="line">
            <a:avLst/>
          </a:prstGeom>
          <a:ln w="31750">
            <a:solidFill>
              <a:srgbClr val="2B74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DPM::narrative.findings_implications::implication_1" title="SDPM::narrative.findings_implications::implication_1" descr="SDPM::narrative.findings_implications::implication_1"/>
          <p:cNvSpPr txBox="1"/>
          <p:nvPr/>
        </p:nvSpPr>
        <p:spPr>
          <a:xfrm>
            <a:off x="6602983" y="2992945"/>
            <a:ext cx="4954016" cy="138004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0C2742"/>
                </a:solidFill>
                <a:latin typeface="Yu Gothic UI"/>
              </a:rPr>
              <a:t>部門展開を契約・支援に組み込む</a:t>
            </a:r>
          </a:p>
        </p:txBody>
      </p:sp>
      <p:sp>
        <p:nvSpPr>
          <p:cNvPr id="16" name="SDPM::narrative.findings_implications::finding_bg_2" title="SDPM::narrative.findings_implications::finding_bg_2" descr="SDPM::narrative.findings_implications::finding_bg_2"/>
          <p:cNvSpPr/>
          <p:nvPr/>
        </p:nvSpPr>
        <p:spPr>
          <a:xfrm>
            <a:off x="635000" y="4461954"/>
            <a:ext cx="4738624" cy="1380045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DPM::narrative.findings_implications::rule_2" title="SDPM::narrative.findings_implications::rule_2" descr="SDPM::narrative.findings_implications::rule_2"/>
          <p:cNvSpPr/>
          <p:nvPr/>
        </p:nvSpPr>
        <p:spPr>
          <a:xfrm>
            <a:off x="635000" y="4461954"/>
            <a:ext cx="44450" cy="1380045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DPM::narrative.findings_implications::finding_2" title="SDPM::narrative.findings_implications::finding_2" descr="SDPM::narrative.findings_implications::finding_2"/>
          <p:cNvSpPr txBox="1"/>
          <p:nvPr/>
        </p:nvSpPr>
        <p:spPr>
          <a:xfrm>
            <a:off x="774700" y="4525454"/>
            <a:ext cx="4510024" cy="125304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123039"/>
                </a:solidFill>
                <a:latin typeface="Yu Gothic UI"/>
              </a:rPr>
              <a:t>価格不満より効果不明が多い</a:t>
            </a:r>
          </a:p>
        </p:txBody>
      </p:sp>
      <p:cxnSp>
        <p:nvCxnSpPr>
          <p:cNvPr id="19" name="SDPM::narrative.findings_implications::arrow_2" title="SDPM::narrative.findings_implications::arrow_2" descr="SDPM::narrative.findings_implications::arrow_2"/>
          <p:cNvCxnSpPr/>
          <p:nvPr/>
        </p:nvCxnSpPr>
        <p:spPr>
          <a:xfrm>
            <a:off x="5475224" y="5151945"/>
            <a:ext cx="1026160" cy="0"/>
          </a:xfrm>
          <a:prstGeom prst="line">
            <a:avLst/>
          </a:prstGeom>
          <a:ln w="31750">
            <a:solidFill>
              <a:srgbClr val="2B74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DPM::narrative.findings_implications::implication_2" title="SDPM::narrative.findings_implications::implication_2" descr="SDPM::narrative.findings_implications::implication_2"/>
          <p:cNvSpPr txBox="1"/>
          <p:nvPr/>
        </p:nvSpPr>
        <p:spPr>
          <a:xfrm>
            <a:off x="6602983" y="4461954"/>
            <a:ext cx="4954016" cy="138004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0C2742"/>
                </a:solidFill>
                <a:latin typeface="Yu Gothic UI"/>
              </a:rPr>
              <a:t>成果</a:t>
            </a:r>
            <a:r>
              <a:rPr sz="1700">
                <a:solidFill>
                  <a:srgbClr val="0C2742"/>
                </a:solidFill>
                <a:latin typeface="Yu Gothic UI"/>
              </a:rPr>
              <a:t> KPI </a:t>
            </a:r>
            <a:r>
              <a:rPr lang="ja-JP" sz="1700">
                <a:solidFill>
                  <a:srgbClr val="0C2742"/>
                </a:solidFill>
                <a:latin typeface="Yu Gothic UI"/>
              </a:rPr>
              <a:t>を顧客と共同定義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Consulting Classic — composition, typography and reading path are theme-specific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0C2742"/>
                </a:solidFill>
                <a:latin typeface="Yu Gothic UI"/>
              </a:rPr>
              <a:t>Strategy 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strategy.house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strategy.house::aspiration" title="SDPM::strategy.house::aspiration" descr="SDPM::strategy.house::aspiration"/>
          <p:cNvSpPr/>
          <p:nvPr/>
        </p:nvSpPr>
        <p:spPr>
          <a:xfrm>
            <a:off x="2382520" y="1524000"/>
            <a:ext cx="7426959" cy="949960"/>
          </a:xfrm>
          <a:prstGeom prst="triangle">
            <a:avLst/>
          </a:prstGeom>
          <a:solidFill>
            <a:srgbClr val="0C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52400" rIns="152400" bIns="152400"/>
          <a:lstStyle/>
          <a:p>
            <a:pPr algn="ctr"/>
            <a:r>
              <a:rPr lang="ja-JP" sz="2000">
                <a:solidFill>
                  <a:srgbClr val="FFFFFF"/>
                </a:solidFill>
                <a:latin typeface="Yu Gothic UI"/>
              </a:rPr>
              <a:t>市場</a:t>
            </a:r>
            <a:r>
              <a:rPr sz="2000">
                <a:solidFill>
                  <a:srgbClr val="FFFFFF"/>
                </a:solidFill>
                <a:latin typeface="Aptos"/>
              </a:rPr>
              <a:t> A </a:t>
            </a:r>
            <a:r>
              <a:rPr lang="ja-JP" sz="2000">
                <a:solidFill>
                  <a:srgbClr val="FFFFFF"/>
                </a:solidFill>
                <a:latin typeface="Yu Gothic UI"/>
              </a:rPr>
              <a:t>で顧客成果を最も再現できるパートナーへ</a:t>
            </a:r>
          </a:p>
        </p:txBody>
      </p:sp>
      <p:sp>
        <p:nvSpPr>
          <p:cNvPr id="7" name="SDPM::strategy.house::choice_0" title="SDPM::strategy.house::choice_0" descr="SDPM::strategy.house::choice_0"/>
          <p:cNvSpPr/>
          <p:nvPr/>
        </p:nvSpPr>
        <p:spPr>
          <a:xfrm>
            <a:off x="1508760" y="2207958"/>
            <a:ext cx="2998914" cy="2418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  <a:effectLst>
            <a:outerShdw blurRad="50800" dist="19050" dir="8100000" algn="bl" rotWithShape="0">
              <a:srgbClr val="0E343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DPM::strategy.house::top_rule_0" title="SDPM::strategy.house::top_rule_0" descr="SDPM::strategy.house::top_rule_0"/>
          <p:cNvSpPr/>
          <p:nvPr/>
        </p:nvSpPr>
        <p:spPr>
          <a:xfrm>
            <a:off x="1508760" y="2207958"/>
            <a:ext cx="2998914" cy="381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DPM::strategy.house::choice_title_0" title="SDPM::strategy.house::choice_title_0" descr="SDPM::strategy.house::choice_title_0"/>
          <p:cNvSpPr txBox="1"/>
          <p:nvPr/>
        </p:nvSpPr>
        <p:spPr>
          <a:xfrm>
            <a:off x="1623060" y="2322258"/>
            <a:ext cx="2770314" cy="74009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700">
                <a:solidFill>
                  <a:srgbClr val="123039"/>
                </a:solidFill>
                <a:latin typeface="Yu Gothic UI"/>
              </a:rPr>
              <a:t>Where to play</a:t>
            </a:r>
          </a:p>
        </p:txBody>
      </p:sp>
      <p:sp>
        <p:nvSpPr>
          <p:cNvPr id="10" name="SDPM::strategy.house::choice_body_0" title="SDPM::strategy.house::choice_body_0" descr="SDPM::strategy.house::choice_body_0"/>
          <p:cNvSpPr txBox="1"/>
          <p:nvPr/>
        </p:nvSpPr>
        <p:spPr>
          <a:xfrm>
            <a:off x="1623060" y="3100451"/>
            <a:ext cx="2770314" cy="1436687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lang="ja-JP" sz="1300">
                <a:solidFill>
                  <a:srgbClr val="61737B"/>
                </a:solidFill>
                <a:latin typeface="Yu Gothic UI"/>
              </a:rPr>
              <a:t>市場</a:t>
            </a:r>
            <a:r>
              <a:rPr sz="1300">
                <a:solidFill>
                  <a:srgbClr val="61737B"/>
                </a:solidFill>
                <a:latin typeface="Yu Gothic UI"/>
              </a:rPr>
              <a:t> A </a:t>
            </a:r>
            <a:r>
              <a:rPr lang="ja-JP" sz="1300">
                <a:solidFill>
                  <a:srgbClr val="61737B"/>
                </a:solidFill>
                <a:latin typeface="Yu Gothic UI"/>
              </a:rPr>
              <a:t>の中堅・大企業</a:t>
            </a:r>
          </a:p>
        </p:txBody>
      </p:sp>
      <p:sp>
        <p:nvSpPr>
          <p:cNvPr id="11" name="SDPM::strategy.house::choice_1" title="SDPM::strategy.house::choice_1" descr="SDPM::strategy.house::choice_1"/>
          <p:cNvSpPr/>
          <p:nvPr/>
        </p:nvSpPr>
        <p:spPr>
          <a:xfrm>
            <a:off x="4596574" y="2207958"/>
            <a:ext cx="2998914" cy="2418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  <a:effectLst>
            <a:outerShdw blurRad="50800" dist="19050" dir="8100000" algn="bl" rotWithShape="0">
              <a:srgbClr val="0E343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DPM::strategy.house::top_rule_1" title="SDPM::strategy.house::top_rule_1" descr="SDPM::strategy.house::top_rule_1"/>
          <p:cNvSpPr/>
          <p:nvPr/>
        </p:nvSpPr>
        <p:spPr>
          <a:xfrm>
            <a:off x="4596574" y="2207958"/>
            <a:ext cx="2998914" cy="38100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DPM::strategy.house::choice_title_1" title="SDPM::strategy.house::choice_title_1" descr="SDPM::strategy.house::choice_title_1"/>
          <p:cNvSpPr txBox="1"/>
          <p:nvPr/>
        </p:nvSpPr>
        <p:spPr>
          <a:xfrm>
            <a:off x="4710874" y="2322258"/>
            <a:ext cx="2770314" cy="74009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700">
                <a:solidFill>
                  <a:srgbClr val="123039"/>
                </a:solidFill>
                <a:latin typeface="Yu Gothic UI"/>
              </a:rPr>
              <a:t>How to win</a:t>
            </a:r>
          </a:p>
        </p:txBody>
      </p:sp>
      <p:sp>
        <p:nvSpPr>
          <p:cNvPr id="14" name="SDPM::strategy.house::choice_body_1" title="SDPM::strategy.house::choice_body_1" descr="SDPM::strategy.house::choice_body_1"/>
          <p:cNvSpPr txBox="1"/>
          <p:nvPr/>
        </p:nvSpPr>
        <p:spPr>
          <a:xfrm>
            <a:off x="4710874" y="3100451"/>
            <a:ext cx="2770314" cy="1436687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lang="ja-JP" sz="1300">
                <a:solidFill>
                  <a:srgbClr val="61737B"/>
                </a:solidFill>
                <a:latin typeface="Yu Gothic UI"/>
              </a:rPr>
              <a:t>成果連動型の価値提案</a:t>
            </a:r>
          </a:p>
        </p:txBody>
      </p:sp>
      <p:sp>
        <p:nvSpPr>
          <p:cNvPr id="15" name="SDPM::strategy.house::choice_2" title="SDPM::strategy.house::choice_2" descr="SDPM::strategy.house::choice_2"/>
          <p:cNvSpPr/>
          <p:nvPr/>
        </p:nvSpPr>
        <p:spPr>
          <a:xfrm>
            <a:off x="7684325" y="2207958"/>
            <a:ext cx="2998914" cy="2418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  <a:effectLst>
            <a:outerShdw blurRad="50800" dist="19050" dir="8100000" algn="bl" rotWithShape="0">
              <a:srgbClr val="0E343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DPM::strategy.house::top_rule_2" title="SDPM::strategy.house::top_rule_2" descr="SDPM::strategy.house::top_rule_2"/>
          <p:cNvSpPr/>
          <p:nvPr/>
        </p:nvSpPr>
        <p:spPr>
          <a:xfrm>
            <a:off x="7684325" y="2207958"/>
            <a:ext cx="2998914" cy="38100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DPM::strategy.house::choice_title_2" title="SDPM::strategy.house::choice_title_2" descr="SDPM::strategy.house::choice_title_2"/>
          <p:cNvSpPr txBox="1"/>
          <p:nvPr/>
        </p:nvSpPr>
        <p:spPr>
          <a:xfrm>
            <a:off x="7798625" y="2322258"/>
            <a:ext cx="2770314" cy="74009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700">
                <a:solidFill>
                  <a:srgbClr val="123039"/>
                </a:solidFill>
                <a:latin typeface="Yu Gothic UI"/>
              </a:rPr>
              <a:t>Right to win</a:t>
            </a:r>
          </a:p>
        </p:txBody>
      </p:sp>
      <p:sp>
        <p:nvSpPr>
          <p:cNvPr id="18" name="SDPM::strategy.house::choice_body_2" title="SDPM::strategy.house::choice_body_2" descr="SDPM::strategy.house::choice_body_2"/>
          <p:cNvSpPr txBox="1"/>
          <p:nvPr/>
        </p:nvSpPr>
        <p:spPr>
          <a:xfrm>
            <a:off x="7798625" y="3100451"/>
            <a:ext cx="2770314" cy="1436687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lang="ja-JP" sz="1300">
                <a:solidFill>
                  <a:srgbClr val="61737B"/>
                </a:solidFill>
                <a:latin typeface="Yu Gothic UI"/>
              </a:rPr>
              <a:t>現場知見</a:t>
            </a:r>
            <a:r>
              <a:rPr sz="1300">
                <a:solidFill>
                  <a:srgbClr val="61737B"/>
                </a:solidFill>
                <a:latin typeface="Yu Gothic UI"/>
              </a:rPr>
              <a:t>×</a:t>
            </a:r>
            <a:r>
              <a:rPr lang="ja-JP" sz="1300">
                <a:solidFill>
                  <a:srgbClr val="61737B"/>
                </a:solidFill>
                <a:latin typeface="Yu Gothic UI"/>
              </a:rPr>
              <a:t>利用データ</a:t>
            </a:r>
          </a:p>
        </p:txBody>
      </p:sp>
      <p:sp>
        <p:nvSpPr>
          <p:cNvPr id="19" name="SDPM::strategy.house::initiative_0" title="SDPM::strategy.house::initiative_0" descr="SDPM::strategy.house::initiative_0"/>
          <p:cNvSpPr/>
          <p:nvPr/>
        </p:nvSpPr>
        <p:spPr>
          <a:xfrm>
            <a:off x="1508760" y="4689538"/>
            <a:ext cx="3024314" cy="388620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23039"/>
                </a:solidFill>
                <a:latin typeface="Yu Gothic UI"/>
              </a:rPr>
              <a:t>オンボーディング再設計</a:t>
            </a:r>
          </a:p>
        </p:txBody>
      </p:sp>
      <p:sp>
        <p:nvSpPr>
          <p:cNvPr id="20" name="SDPM::strategy.house::initiative_1" title="SDPM::strategy.house::initiative_1" descr="SDPM::strategy.house::initiative_1"/>
          <p:cNvSpPr/>
          <p:nvPr/>
        </p:nvSpPr>
        <p:spPr>
          <a:xfrm>
            <a:off x="4583874" y="4689538"/>
            <a:ext cx="3024314" cy="388620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23039"/>
                </a:solidFill>
                <a:latin typeface="Yu Gothic UI"/>
              </a:rPr>
              <a:t>価格・契約変更</a:t>
            </a:r>
          </a:p>
        </p:txBody>
      </p:sp>
      <p:sp>
        <p:nvSpPr>
          <p:cNvPr id="21" name="SDPM::strategy.house::initiative_2" title="SDPM::strategy.house::initiative_2" descr="SDPM::strategy.house::initiative_2"/>
          <p:cNvSpPr/>
          <p:nvPr/>
        </p:nvSpPr>
        <p:spPr>
          <a:xfrm>
            <a:off x="7658925" y="4689538"/>
            <a:ext cx="3024314" cy="388620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23039"/>
                </a:solidFill>
                <a:latin typeface="Yu Gothic UI"/>
              </a:rPr>
              <a:t>部門展開モデル</a:t>
            </a:r>
          </a:p>
        </p:txBody>
      </p:sp>
      <p:sp>
        <p:nvSpPr>
          <p:cNvPr id="22" name="SDPM::strategy.house::enabler_0" title="SDPM::strategy.house::enabler_0" descr="SDPM::strategy.house::enabler_0"/>
          <p:cNvSpPr/>
          <p:nvPr/>
        </p:nvSpPr>
        <p:spPr>
          <a:xfrm>
            <a:off x="1508760" y="5128958"/>
            <a:ext cx="3024314" cy="323850"/>
          </a:xfrm>
          <a:prstGeom prst="round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CX </a:t>
            </a:r>
            <a:r>
              <a:rPr lang="ja-JP" sz="1200">
                <a:solidFill>
                  <a:srgbClr val="FFFFFF"/>
                </a:solidFill>
                <a:latin typeface="Yu Gothic UI"/>
              </a:rPr>
              <a:t>人材</a:t>
            </a:r>
          </a:p>
        </p:txBody>
      </p:sp>
      <p:sp>
        <p:nvSpPr>
          <p:cNvPr id="23" name="SDPM::strategy.house::enabler_1" title="SDPM::strategy.house::enabler_1" descr="SDPM::strategy.house::enabler_1"/>
          <p:cNvSpPr/>
          <p:nvPr/>
        </p:nvSpPr>
        <p:spPr>
          <a:xfrm>
            <a:off x="4583874" y="5128958"/>
            <a:ext cx="3024314" cy="323850"/>
          </a:xfrm>
          <a:prstGeom prst="round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顧客データ</a:t>
            </a:r>
          </a:p>
        </p:txBody>
      </p:sp>
      <p:sp>
        <p:nvSpPr>
          <p:cNvPr id="24" name="SDPM::strategy.house::enabler_2" title="SDPM::strategy.house::enabler_2" descr="SDPM::strategy.house::enabler_2"/>
          <p:cNvSpPr/>
          <p:nvPr/>
        </p:nvSpPr>
        <p:spPr>
          <a:xfrm>
            <a:off x="7658925" y="5128958"/>
            <a:ext cx="3024314" cy="323850"/>
          </a:xfrm>
          <a:prstGeom prst="round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ガバナンス</a:t>
            </a:r>
          </a:p>
        </p:txBody>
      </p:sp>
      <p:sp>
        <p:nvSpPr>
          <p:cNvPr id="25" name="SDPM::strategy.house::foundation" title="SDPM::strategy.house::foundation" descr="SDPM::strategy.house::foundation"/>
          <p:cNvSpPr/>
          <p:nvPr/>
        </p:nvSpPr>
        <p:spPr>
          <a:xfrm>
            <a:off x="635000" y="5496560"/>
            <a:ext cx="10922000" cy="345440"/>
          </a:xfrm>
          <a:prstGeom prst="roundRect">
            <a:avLst/>
          </a:prstGeom>
          <a:solidFill>
            <a:srgbClr val="0C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300">
                <a:solidFill>
                  <a:srgbClr val="FFFFFF"/>
                </a:solidFill>
                <a:latin typeface="Yu Gothic UI"/>
              </a:rPr>
              <a:t>顧客中心文化・収益管理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Consulting Classic — composition, typography and reading path are theme-specific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0C2742"/>
                </a:solidFill>
                <a:latin typeface="Yu Gothic UI"/>
              </a:rPr>
              <a:t>Issue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strategy.issue_tree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strategy.issue_tree::root" title="SDPM::strategy.issue_tree::root" descr="SDPM::strategy.issue_tree::root"/>
          <p:cNvSpPr/>
          <p:nvPr/>
        </p:nvSpPr>
        <p:spPr>
          <a:xfrm>
            <a:off x="635000" y="2992120"/>
            <a:ext cx="2512060" cy="1381760"/>
          </a:xfrm>
          <a:prstGeom prst="roundRect">
            <a:avLst/>
          </a:prstGeom>
          <a:solidFill>
            <a:srgbClr val="0C2742"/>
          </a:solidFill>
          <a:ln>
            <a:noFill/>
          </a:ln>
          <a:effectLst>
            <a:outerShdw blurRad="50800" dist="19050" dir="8100000" algn="bl" rotWithShape="0">
              <a:srgbClr val="0E343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114300" rIns="114300" bIns="114300"/>
          <a:lstStyle/>
          <a:p>
            <a:pPr algn="ctr"/>
            <a:r>
              <a:rPr lang="ja-JP" sz="1800">
                <a:solidFill>
                  <a:srgbClr val="FFFFFF"/>
                </a:solidFill>
                <a:latin typeface="Yu Gothic UI"/>
              </a:rPr>
              <a:t>利益成長をどう実現するか</a:t>
            </a:r>
          </a:p>
        </p:txBody>
      </p:sp>
      <p:sp>
        <p:nvSpPr>
          <p:cNvPr id="7" name="SDPM::strategy.issue_tree::branch_0" title="SDPM::strategy.issue_tree::branch_0" descr="SDPM::strategy.issue_tree::branch_0"/>
          <p:cNvSpPr/>
          <p:nvPr/>
        </p:nvSpPr>
        <p:spPr>
          <a:xfrm>
            <a:off x="4020820" y="1524000"/>
            <a:ext cx="2527744" cy="1371600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01600" rIns="101600" bIns="101600"/>
          <a:lstStyle/>
          <a:p>
            <a:pPr algn="l"/>
            <a:r>
              <a:rPr lang="ja-JP" sz="1500">
                <a:solidFill>
                  <a:srgbClr val="123039"/>
                </a:solidFill>
                <a:latin typeface="Yu Gothic UI"/>
              </a:rPr>
              <a:t>売上</a:t>
            </a:r>
          </a:p>
        </p:txBody>
      </p:sp>
      <p:cxnSp>
        <p:nvCxnSpPr>
          <p:cNvPr id="8" name="SDPM::strategy.issue_tree::root_link_0" title="SDPM::strategy.issue_tree::root_link_0" descr="SDPM::strategy.issue_tree::root_link_0"/>
          <p:cNvCxnSpPr/>
          <p:nvPr/>
        </p:nvCxnSpPr>
        <p:spPr>
          <a:xfrm flipV="1">
            <a:off x="3147060" y="2209800"/>
            <a:ext cx="873760" cy="1473200"/>
          </a:xfrm>
          <a:prstGeom prst="line">
            <a:avLst/>
          </a:prstGeom>
          <a:ln w="254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DPM::strategy.issue_tree::child_0_0" title="SDPM::strategy.issue_tree::child_0_0" descr="SDPM::strategy.issue_tree::child_0_0"/>
          <p:cNvSpPr/>
          <p:nvPr/>
        </p:nvSpPr>
        <p:spPr>
          <a:xfrm>
            <a:off x="6650164" y="1524000"/>
            <a:ext cx="2421636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23039"/>
                </a:solidFill>
                <a:latin typeface="Yu Gothic UI"/>
              </a:rPr>
              <a:t>顧客数</a:t>
            </a:r>
          </a:p>
        </p:txBody>
      </p:sp>
      <p:cxnSp>
        <p:nvCxnSpPr>
          <p:cNvPr id="10" name="SDPM::strategy.issue_tree::branch_link_0_0" title="SDPM::strategy.issue_tree::branch_link_0_0" descr="SDPM::strategy.issue_tree::branch_link_0_0"/>
          <p:cNvCxnSpPr/>
          <p:nvPr/>
        </p:nvCxnSpPr>
        <p:spPr>
          <a:xfrm>
            <a:off x="6548564" y="2209800"/>
            <a:ext cx="101600" cy="0"/>
          </a:xfrm>
          <a:prstGeom prst="line">
            <a:avLst/>
          </a:prstGeom>
          <a:ln w="1524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strategy.issue_tree::child_0_1" title="SDPM::strategy.issue_tree::child_0_1" descr="SDPM::strategy.issue_tree::child_0_1"/>
          <p:cNvSpPr/>
          <p:nvPr/>
        </p:nvSpPr>
        <p:spPr>
          <a:xfrm>
            <a:off x="9135364" y="1524000"/>
            <a:ext cx="2421636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23039"/>
                </a:solidFill>
                <a:latin typeface="Yu Gothic UI"/>
              </a:rPr>
              <a:t>単価</a:t>
            </a:r>
          </a:p>
        </p:txBody>
      </p:sp>
      <p:cxnSp>
        <p:nvCxnSpPr>
          <p:cNvPr id="12" name="SDPM::strategy.issue_tree::branch_link_0_1" title="SDPM::strategy.issue_tree::branch_link_0_1" descr="SDPM::strategy.issue_tree::branch_link_0_1"/>
          <p:cNvCxnSpPr/>
          <p:nvPr/>
        </p:nvCxnSpPr>
        <p:spPr>
          <a:xfrm>
            <a:off x="6548564" y="2209800"/>
            <a:ext cx="2586800" cy="0"/>
          </a:xfrm>
          <a:prstGeom prst="line">
            <a:avLst/>
          </a:prstGeom>
          <a:ln w="1524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DPM::strategy.issue_tree::branch_1" title="SDPM::strategy.issue_tree::branch_1" descr="SDPM::strategy.issue_tree::branch_1"/>
          <p:cNvSpPr/>
          <p:nvPr/>
        </p:nvSpPr>
        <p:spPr>
          <a:xfrm>
            <a:off x="4020820" y="2997200"/>
            <a:ext cx="2527744" cy="1371600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01600" rIns="101600" bIns="101600"/>
          <a:lstStyle/>
          <a:p>
            <a:pPr algn="l"/>
            <a:r>
              <a:rPr lang="ja-JP" sz="1500">
                <a:solidFill>
                  <a:srgbClr val="123039"/>
                </a:solidFill>
                <a:latin typeface="Yu Gothic UI"/>
              </a:rPr>
              <a:t>粗利</a:t>
            </a:r>
          </a:p>
        </p:txBody>
      </p:sp>
      <p:cxnSp>
        <p:nvCxnSpPr>
          <p:cNvPr id="14" name="SDPM::strategy.issue_tree::root_link_1" title="SDPM::strategy.issue_tree::root_link_1" descr="SDPM::strategy.issue_tree::root_link_1"/>
          <p:cNvCxnSpPr/>
          <p:nvPr/>
        </p:nvCxnSpPr>
        <p:spPr>
          <a:xfrm>
            <a:off x="3147060" y="3683000"/>
            <a:ext cx="873760" cy="0"/>
          </a:xfrm>
          <a:prstGeom prst="line">
            <a:avLst/>
          </a:prstGeom>
          <a:ln w="25400">
            <a:solidFill>
              <a:srgbClr val="2B7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DPM::strategy.issue_tree::child_1_0" title="SDPM::strategy.issue_tree::child_1_0" descr="SDPM::strategy.issue_tree::child_1_0"/>
          <p:cNvSpPr/>
          <p:nvPr/>
        </p:nvSpPr>
        <p:spPr>
          <a:xfrm>
            <a:off x="6650164" y="2997200"/>
            <a:ext cx="2421636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23039"/>
                </a:solidFill>
                <a:latin typeface="Yu Gothic UI"/>
              </a:rPr>
              <a:t>商品構成</a:t>
            </a:r>
          </a:p>
        </p:txBody>
      </p:sp>
      <p:cxnSp>
        <p:nvCxnSpPr>
          <p:cNvPr id="16" name="SDPM::strategy.issue_tree::branch_link_1_0" title="SDPM::strategy.issue_tree::branch_link_1_0" descr="SDPM::strategy.issue_tree::branch_link_1_0"/>
          <p:cNvCxnSpPr/>
          <p:nvPr/>
        </p:nvCxnSpPr>
        <p:spPr>
          <a:xfrm>
            <a:off x="6548564" y="3683000"/>
            <a:ext cx="101600" cy="0"/>
          </a:xfrm>
          <a:prstGeom prst="line">
            <a:avLst/>
          </a:prstGeom>
          <a:ln w="1524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DPM::strategy.issue_tree::child_1_1" title="SDPM::strategy.issue_tree::child_1_1" descr="SDPM::strategy.issue_tree::child_1_1"/>
          <p:cNvSpPr/>
          <p:nvPr/>
        </p:nvSpPr>
        <p:spPr>
          <a:xfrm>
            <a:off x="9135364" y="2997200"/>
            <a:ext cx="2421636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23039"/>
                </a:solidFill>
                <a:latin typeface="Yu Gothic UI"/>
              </a:rPr>
              <a:t>原価</a:t>
            </a:r>
          </a:p>
        </p:txBody>
      </p:sp>
      <p:cxnSp>
        <p:nvCxnSpPr>
          <p:cNvPr id="18" name="SDPM::strategy.issue_tree::branch_link_1_1" title="SDPM::strategy.issue_tree::branch_link_1_1" descr="SDPM::strategy.issue_tree::branch_link_1_1"/>
          <p:cNvCxnSpPr/>
          <p:nvPr/>
        </p:nvCxnSpPr>
        <p:spPr>
          <a:xfrm>
            <a:off x="6548564" y="3683000"/>
            <a:ext cx="2586800" cy="0"/>
          </a:xfrm>
          <a:prstGeom prst="line">
            <a:avLst/>
          </a:prstGeom>
          <a:ln w="1524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DPM::strategy.issue_tree::branch_2" title="SDPM::strategy.issue_tree::branch_2" descr="SDPM::strategy.issue_tree::branch_2"/>
          <p:cNvSpPr/>
          <p:nvPr/>
        </p:nvSpPr>
        <p:spPr>
          <a:xfrm>
            <a:off x="4020820" y="4470400"/>
            <a:ext cx="2527744" cy="1371600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01600" rIns="101600" bIns="101600"/>
          <a:lstStyle/>
          <a:p>
            <a:pPr algn="l"/>
            <a:r>
              <a:rPr lang="ja-JP" sz="1500">
                <a:solidFill>
                  <a:srgbClr val="123039"/>
                </a:solidFill>
                <a:latin typeface="Yu Gothic UI"/>
              </a:rPr>
              <a:t>販管費</a:t>
            </a:r>
          </a:p>
        </p:txBody>
      </p:sp>
      <p:cxnSp>
        <p:nvCxnSpPr>
          <p:cNvPr id="20" name="SDPM::strategy.issue_tree::root_link_2" title="SDPM::strategy.issue_tree::root_link_2" descr="SDPM::strategy.issue_tree::root_link_2"/>
          <p:cNvCxnSpPr/>
          <p:nvPr/>
        </p:nvCxnSpPr>
        <p:spPr>
          <a:xfrm>
            <a:off x="3147060" y="3683000"/>
            <a:ext cx="873760" cy="1473200"/>
          </a:xfrm>
          <a:prstGeom prst="line">
            <a:avLst/>
          </a:prstGeom>
          <a:ln w="25400">
            <a:solidFill>
              <a:srgbClr val="2B7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DPM::strategy.issue_tree::child_2_0" title="SDPM::strategy.issue_tree::child_2_0" descr="SDPM::strategy.issue_tree::child_2_0"/>
          <p:cNvSpPr/>
          <p:nvPr/>
        </p:nvSpPr>
        <p:spPr>
          <a:xfrm>
            <a:off x="6650164" y="4470400"/>
            <a:ext cx="2421636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23039"/>
                </a:solidFill>
                <a:latin typeface="Yu Gothic UI"/>
              </a:rPr>
              <a:t>生産性</a:t>
            </a:r>
          </a:p>
        </p:txBody>
      </p:sp>
      <p:cxnSp>
        <p:nvCxnSpPr>
          <p:cNvPr id="22" name="SDPM::strategy.issue_tree::branch_link_2_0" title="SDPM::strategy.issue_tree::branch_link_2_0" descr="SDPM::strategy.issue_tree::branch_link_2_0"/>
          <p:cNvCxnSpPr/>
          <p:nvPr/>
        </p:nvCxnSpPr>
        <p:spPr>
          <a:xfrm>
            <a:off x="6548564" y="5156200"/>
            <a:ext cx="101600" cy="0"/>
          </a:xfrm>
          <a:prstGeom prst="line">
            <a:avLst/>
          </a:prstGeom>
          <a:ln w="1524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DPM::strategy.issue_tree::child_2_1" title="SDPM::strategy.issue_tree::child_2_1" descr="SDPM::strategy.issue_tree::child_2_1"/>
          <p:cNvSpPr/>
          <p:nvPr/>
        </p:nvSpPr>
        <p:spPr>
          <a:xfrm>
            <a:off x="9135364" y="4470400"/>
            <a:ext cx="2421636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23039"/>
                </a:solidFill>
                <a:latin typeface="Yu Gothic UI"/>
              </a:rPr>
              <a:t>固定費</a:t>
            </a:r>
          </a:p>
        </p:txBody>
      </p:sp>
      <p:cxnSp>
        <p:nvCxnSpPr>
          <p:cNvPr id="24" name="SDPM::strategy.issue_tree::branch_link_2_1" title="SDPM::strategy.issue_tree::branch_link_2_1" descr="SDPM::strategy.issue_tree::branch_link_2_1"/>
          <p:cNvCxnSpPr/>
          <p:nvPr/>
        </p:nvCxnSpPr>
        <p:spPr>
          <a:xfrm>
            <a:off x="6548564" y="5156200"/>
            <a:ext cx="2586800" cy="0"/>
          </a:xfrm>
          <a:prstGeom prst="line">
            <a:avLst/>
          </a:prstGeom>
          <a:ln w="1524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Consulting Classic — composition, typography and reading path are theme-specific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0C2742"/>
                </a:solidFill>
                <a:latin typeface="Yu Gothic UI"/>
              </a:rPr>
              <a:t>Portfolio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strategy.portfolio_matrix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strategy.portfolio_matrix::priority_zone" title="SDPM::strategy.portfolio_matrix::priority_zone" descr="SDPM::strategy.portfolio_matrix::priority_zone"/>
          <p:cNvSpPr/>
          <p:nvPr/>
        </p:nvSpPr>
        <p:spPr>
          <a:xfrm>
            <a:off x="6254750" y="1638300"/>
            <a:ext cx="5162550" cy="1917700"/>
          </a:xfrm>
          <a:prstGeom prst="rect">
            <a:avLst/>
          </a:prstGeom>
          <a:solidFill>
            <a:srgbClr val="E7F2F3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SDPM::strategy.portfolio_matrix::x_axis" title="SDPM::strategy.portfolio_matrix::x_axis" descr="SDPM::strategy.portfolio_matrix::x_axis"/>
          <p:cNvCxnSpPr/>
          <p:nvPr/>
        </p:nvCxnSpPr>
        <p:spPr>
          <a:xfrm>
            <a:off x="1092200" y="5473700"/>
            <a:ext cx="10325100" cy="0"/>
          </a:xfrm>
          <a:prstGeom prst="line">
            <a:avLst/>
          </a:prstGeom>
          <a:ln w="25400">
            <a:solidFill>
              <a:srgbClr val="1230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DPM::strategy.portfolio_matrix::y_axis" title="SDPM::strategy.portfolio_matrix::y_axis" descr="SDPM::strategy.portfolio_matrix::y_axis"/>
          <p:cNvCxnSpPr/>
          <p:nvPr/>
        </p:nvCxnSpPr>
        <p:spPr>
          <a:xfrm flipV="1">
            <a:off x="1092200" y="1638300"/>
            <a:ext cx="0" cy="3835400"/>
          </a:xfrm>
          <a:prstGeom prst="line">
            <a:avLst/>
          </a:prstGeom>
          <a:ln w="25400">
            <a:solidFill>
              <a:srgbClr val="1230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DPM::strategy.portfolio_matrix::v_mid" title="SDPM::strategy.portfolio_matrix::v_mid" descr="SDPM::strategy.portfolio_matrix::v_mid"/>
          <p:cNvCxnSpPr/>
          <p:nvPr/>
        </p:nvCxnSpPr>
        <p:spPr>
          <a:xfrm>
            <a:off x="6254750" y="1638300"/>
            <a:ext cx="0" cy="383540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DPM::strategy.portfolio_matrix::h_mid" title="SDPM::strategy.portfolio_matrix::h_mid" descr="SDPM::strategy.portfolio_matrix::h_mid"/>
          <p:cNvCxnSpPr/>
          <p:nvPr/>
        </p:nvCxnSpPr>
        <p:spPr>
          <a:xfrm>
            <a:off x="1092200" y="3556000"/>
            <a:ext cx="103251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strategy.portfolio_matrix::quad_0" title="SDPM::strategy.portfolio_matrix::quad_0" descr="SDPM::strategy.portfolio_matrix::quad_0"/>
          <p:cNvSpPr txBox="1"/>
          <p:nvPr/>
        </p:nvSpPr>
        <p:spPr>
          <a:xfrm>
            <a:off x="1401953" y="3671062"/>
            <a:ext cx="4336542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低優先</a:t>
            </a:r>
          </a:p>
        </p:txBody>
      </p:sp>
      <p:sp>
        <p:nvSpPr>
          <p:cNvPr id="12" name="SDPM::strategy.portfolio_matrix::quad_1" title="SDPM::strategy.portfolio_matrix::quad_1" descr="SDPM::strategy.portfolio_matrix::quad_1"/>
          <p:cNvSpPr txBox="1"/>
          <p:nvPr/>
        </p:nvSpPr>
        <p:spPr>
          <a:xfrm>
            <a:off x="6667754" y="3671062"/>
            <a:ext cx="4336542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Quick wins</a:t>
            </a:r>
          </a:p>
        </p:txBody>
      </p:sp>
      <p:sp>
        <p:nvSpPr>
          <p:cNvPr id="13" name="SDPM::strategy.portfolio_matrix::quad_2" title="SDPM::strategy.portfolio_matrix::quad_2" descr="SDPM::strategy.portfolio_matrix::quad_2"/>
          <p:cNvSpPr txBox="1"/>
          <p:nvPr/>
        </p:nvSpPr>
        <p:spPr>
          <a:xfrm>
            <a:off x="1401953" y="1715008"/>
            <a:ext cx="4336542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再設計</a:t>
            </a:r>
          </a:p>
        </p:txBody>
      </p:sp>
      <p:sp>
        <p:nvSpPr>
          <p:cNvPr id="14" name="SDPM::strategy.portfolio_matrix::quad_3" title="SDPM::strategy.portfolio_matrix::quad_3" descr="SDPM::strategy.portfolio_matrix::quad_3"/>
          <p:cNvSpPr txBox="1"/>
          <p:nvPr/>
        </p:nvSpPr>
        <p:spPr>
          <a:xfrm>
            <a:off x="6667754" y="1715008"/>
            <a:ext cx="4336542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Strategic bets</a:t>
            </a:r>
          </a:p>
        </p:txBody>
      </p:sp>
      <p:sp>
        <p:nvSpPr>
          <p:cNvPr id="15" name="SDPM::strategy.portfolio_matrix::item_0" title="SDPM::strategy.portfolio_matrix::item_0" descr="SDPM::strategy.portfolio_matrix::item_0"/>
          <p:cNvSpPr/>
          <p:nvPr/>
        </p:nvSpPr>
        <p:spPr>
          <a:xfrm>
            <a:off x="8923528" y="2106422"/>
            <a:ext cx="444500" cy="444500"/>
          </a:xfrm>
          <a:prstGeom prst="ellipse">
            <a:avLst/>
          </a:prstGeom>
          <a:solidFill>
            <a:srgbClr val="00A6A6">
              <a:alpha val="90000"/>
            </a:srgbClr>
          </a:solidFill>
          <a:ln w="12700">
            <a:solidFill>
              <a:srgbClr val="FFFFFF"/>
            </a:solidFill>
          </a:ln>
          <a:effectLst>
            <a:outerShdw blurRad="50800" dist="19050" dir="8100000" algn="bl" rotWithShape="0">
              <a:srgbClr val="0E343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オンボーディング</a:t>
            </a:r>
          </a:p>
        </p:txBody>
      </p:sp>
      <p:sp>
        <p:nvSpPr>
          <p:cNvPr id="16" name="SDPM::strategy.portfolio_matrix::item_1" title="SDPM::strategy.portfolio_matrix::item_1" descr="SDPM::strategy.portfolio_matrix::item_1"/>
          <p:cNvSpPr/>
          <p:nvPr/>
        </p:nvSpPr>
        <p:spPr>
          <a:xfrm>
            <a:off x="6599555" y="2387346"/>
            <a:ext cx="342900" cy="342900"/>
          </a:xfrm>
          <a:prstGeom prst="ellipse">
            <a:avLst/>
          </a:prstGeom>
          <a:solidFill>
            <a:srgbClr val="2B74B8">
              <a:alpha val="9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価格・契約</a:t>
            </a:r>
          </a:p>
        </p:txBody>
      </p:sp>
      <p:sp>
        <p:nvSpPr>
          <p:cNvPr id="17" name="SDPM::strategy.portfolio_matrix::item_2" title="SDPM::strategy.portfolio_matrix::item_2" descr="SDPM::strategy.portfolio_matrix::item_2"/>
          <p:cNvSpPr/>
          <p:nvPr/>
        </p:nvSpPr>
        <p:spPr>
          <a:xfrm>
            <a:off x="5269992" y="2706878"/>
            <a:ext cx="317500" cy="317500"/>
          </a:xfrm>
          <a:prstGeom prst="ellipse">
            <a:avLst/>
          </a:prstGeom>
          <a:solidFill>
            <a:srgbClr val="2B74B8">
              <a:alpha val="9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顧客データ</a:t>
            </a:r>
          </a:p>
        </p:txBody>
      </p:sp>
      <p:sp>
        <p:nvSpPr>
          <p:cNvPr id="18" name="SDPM::strategy.portfolio_matrix::item_3" title="SDPM::strategy.portfolio_matrix::item_3" descr="SDPM::strategy.portfolio_matrix::item_3"/>
          <p:cNvSpPr/>
          <p:nvPr/>
        </p:nvSpPr>
        <p:spPr>
          <a:xfrm>
            <a:off x="3862578" y="4010660"/>
            <a:ext cx="241300" cy="241300"/>
          </a:xfrm>
          <a:prstGeom prst="ellipse">
            <a:avLst/>
          </a:prstGeom>
          <a:solidFill>
            <a:srgbClr val="2B74B8">
              <a:alpha val="9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新規市場</a:t>
            </a:r>
          </a:p>
        </p:txBody>
      </p:sp>
      <p:sp>
        <p:nvSpPr>
          <p:cNvPr id="19" name="SDPM::strategy.portfolio_matrix::x_label" title="SDPM::strategy.portfolio_matrix::x_label" descr="SDPM::strategy.portfolio_matrix::x_label"/>
          <p:cNvSpPr txBox="1"/>
          <p:nvPr/>
        </p:nvSpPr>
        <p:spPr>
          <a:xfrm>
            <a:off x="1092200" y="5613400"/>
            <a:ext cx="103251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lang="ja-JP" sz="1200">
                <a:solidFill>
                  <a:srgbClr val="61737B"/>
                </a:solidFill>
                <a:latin typeface="Yu Gothic UI"/>
              </a:rPr>
              <a:t>実行容易性</a:t>
            </a:r>
          </a:p>
        </p:txBody>
      </p:sp>
      <p:sp>
        <p:nvSpPr>
          <p:cNvPr id="20" name="SDPM::strategy.portfolio_matrix::y_label" title="SDPM::strategy.portfolio_matrix::y_label" descr="SDPM::strategy.portfolio_matrix::y_label"/>
          <p:cNvSpPr txBox="1"/>
          <p:nvPr/>
        </p:nvSpPr>
        <p:spPr>
          <a:xfrm rot="16200000">
            <a:off x="635000" y="1638300"/>
            <a:ext cx="215900" cy="3835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61737B"/>
                </a:solidFill>
                <a:latin typeface="Yu Gothic UI"/>
              </a:rPr>
              <a:t>利益インパクト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Consulting Classic — composition, typography and reading path are theme-specific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0C2742"/>
                </a:solidFill>
                <a:latin typeface="Yu Gothic UI"/>
              </a:rPr>
              <a:t>Capability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strategy.capability_map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strategy.capability_map::group_0" title="SDPM::strategy.capability_map::group_0" descr="SDPM::strategy.capability_map::group_0"/>
          <p:cNvSpPr/>
          <p:nvPr/>
        </p:nvSpPr>
        <p:spPr>
          <a:xfrm>
            <a:off x="635000" y="1524000"/>
            <a:ext cx="3564445" cy="368300"/>
          </a:xfrm>
          <a:prstGeom prst="roundRect">
            <a:avLst/>
          </a:prstGeom>
          <a:solidFill>
            <a:srgbClr val="0C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500">
                <a:solidFill>
                  <a:srgbClr val="FFFFFF"/>
                </a:solidFill>
                <a:latin typeface="Yu Gothic UI"/>
              </a:rPr>
              <a:t>顧客</a:t>
            </a:r>
          </a:p>
        </p:txBody>
      </p:sp>
      <p:sp>
        <p:nvSpPr>
          <p:cNvPr id="7" name="SDPM::strategy.capability_map::item_bg_0_0" title="SDPM::strategy.capability_map::item_bg_0_0" descr="SDPM::strategy.capability_map::item_bg_0_0"/>
          <p:cNvSpPr/>
          <p:nvPr/>
        </p:nvSpPr>
        <p:spPr>
          <a:xfrm>
            <a:off x="635000" y="1968500"/>
            <a:ext cx="3564445" cy="12488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DPM::strategy.capability_map::label_0_0" title="SDPM::strategy.capability_map::label_0_0" descr="SDPM::strategy.capability_map::label_0_0"/>
          <p:cNvSpPr txBox="1"/>
          <p:nvPr/>
        </p:nvSpPr>
        <p:spPr>
          <a:xfrm>
            <a:off x="723900" y="2019300"/>
            <a:ext cx="2068258" cy="11472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顧客洞察</a:t>
            </a:r>
          </a:p>
        </p:txBody>
      </p:sp>
      <p:sp>
        <p:nvSpPr>
          <p:cNvPr id="9" name="SDPM::strategy.capability_map::dot_0_0_0" title="SDPM::strategy.capability_map::dot_0_0_0" descr="SDPM::strategy.capability_map::dot_0_0_0"/>
          <p:cNvSpPr/>
          <p:nvPr/>
        </p:nvSpPr>
        <p:spPr>
          <a:xfrm>
            <a:off x="2862008" y="2432304"/>
            <a:ext cx="200215" cy="32124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DPM::strategy.capability_map::dot_0_0_1" title="SDPM::strategy.capability_map::dot_0_0_1" descr="SDPM::strategy.capability_map::dot_0_0_1"/>
          <p:cNvSpPr/>
          <p:nvPr/>
        </p:nvSpPr>
        <p:spPr>
          <a:xfrm>
            <a:off x="3119310" y="2432304"/>
            <a:ext cx="200215" cy="32124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DPM::strategy.capability_map::dot_0_0_2" title="SDPM::strategy.capability_map::dot_0_0_2" descr="SDPM::strategy.capability_map::dot_0_0_2"/>
          <p:cNvSpPr/>
          <p:nvPr/>
        </p:nvSpPr>
        <p:spPr>
          <a:xfrm>
            <a:off x="3376676" y="2432304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DPM::strategy.capability_map::dot_0_0_3" title="SDPM::strategy.capability_map::dot_0_0_3" descr="SDPM::strategy.capability_map::dot_0_0_3"/>
          <p:cNvSpPr/>
          <p:nvPr/>
        </p:nvSpPr>
        <p:spPr>
          <a:xfrm>
            <a:off x="3633978" y="2432304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DPM::strategy.capability_map::dot_0_0_4" title="SDPM::strategy.capability_map::dot_0_0_4" descr="SDPM::strategy.capability_map::dot_0_0_4"/>
          <p:cNvSpPr/>
          <p:nvPr/>
        </p:nvSpPr>
        <p:spPr>
          <a:xfrm>
            <a:off x="3891343" y="2432304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DPM::strategy.capability_map::item_bg_0_1" title="SDPM::strategy.capability_map::item_bg_0_1" descr="SDPM::strategy.capability_map::item_bg_0_1"/>
          <p:cNvSpPr/>
          <p:nvPr/>
        </p:nvSpPr>
        <p:spPr>
          <a:xfrm>
            <a:off x="635000" y="3280854"/>
            <a:ext cx="3564445" cy="12488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DPM::strategy.capability_map::label_0_1" title="SDPM::strategy.capability_map::label_0_1" descr="SDPM::strategy.capability_map::label_0_1"/>
          <p:cNvSpPr txBox="1"/>
          <p:nvPr/>
        </p:nvSpPr>
        <p:spPr>
          <a:xfrm>
            <a:off x="723900" y="3331654"/>
            <a:ext cx="2068258" cy="11472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成果設計</a:t>
            </a:r>
          </a:p>
        </p:txBody>
      </p:sp>
      <p:sp>
        <p:nvSpPr>
          <p:cNvPr id="16" name="SDPM::strategy.capability_map::dot_0_1_0" title="SDPM::strategy.capability_map::dot_0_1_0" descr="SDPM::strategy.capability_map::dot_0_1_0"/>
          <p:cNvSpPr/>
          <p:nvPr/>
        </p:nvSpPr>
        <p:spPr>
          <a:xfrm>
            <a:off x="2862008" y="3744658"/>
            <a:ext cx="200215" cy="32124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DPM::strategy.capability_map::dot_0_1_1" title="SDPM::strategy.capability_map::dot_0_1_1" descr="SDPM::strategy.capability_map::dot_0_1_1"/>
          <p:cNvSpPr/>
          <p:nvPr/>
        </p:nvSpPr>
        <p:spPr>
          <a:xfrm>
            <a:off x="3119310" y="3744658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DPM::strategy.capability_map::dot_0_1_2" title="SDPM::strategy.capability_map::dot_0_1_2" descr="SDPM::strategy.capability_map::dot_0_1_2"/>
          <p:cNvSpPr/>
          <p:nvPr/>
        </p:nvSpPr>
        <p:spPr>
          <a:xfrm>
            <a:off x="3376676" y="3744658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DPM::strategy.capability_map::dot_0_1_3" title="SDPM::strategy.capability_map::dot_0_1_3" descr="SDPM::strategy.capability_map::dot_0_1_3"/>
          <p:cNvSpPr/>
          <p:nvPr/>
        </p:nvSpPr>
        <p:spPr>
          <a:xfrm>
            <a:off x="3633978" y="3744658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DPM::strategy.capability_map::dot_0_1_4" title="SDPM::strategy.capability_map::dot_0_1_4" descr="SDPM::strategy.capability_map::dot_0_1_4"/>
          <p:cNvSpPr/>
          <p:nvPr/>
        </p:nvSpPr>
        <p:spPr>
          <a:xfrm>
            <a:off x="3891343" y="3744658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DPM::strategy.capability_map::item_bg_0_2" title="SDPM::strategy.capability_map::item_bg_0_2" descr="SDPM::strategy.capability_map::item_bg_0_2"/>
          <p:cNvSpPr/>
          <p:nvPr/>
        </p:nvSpPr>
        <p:spPr>
          <a:xfrm>
            <a:off x="635000" y="4593145"/>
            <a:ext cx="3564445" cy="12488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DPM::strategy.capability_map::label_0_2" title="SDPM::strategy.capability_map::label_0_2" descr="SDPM::strategy.capability_map::label_0_2"/>
          <p:cNvSpPr txBox="1"/>
          <p:nvPr/>
        </p:nvSpPr>
        <p:spPr>
          <a:xfrm>
            <a:off x="723900" y="4643945"/>
            <a:ext cx="2068258" cy="11472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300">
                <a:solidFill>
                  <a:srgbClr val="123039"/>
                </a:solidFill>
                <a:latin typeface="Yu Gothic UI"/>
              </a:rPr>
              <a:t>CX </a:t>
            </a:r>
            <a:r>
              <a:rPr lang="ja-JP" sz="1300">
                <a:solidFill>
                  <a:srgbClr val="123039"/>
                </a:solidFill>
                <a:latin typeface="Yu Gothic UI"/>
              </a:rPr>
              <a:t>運用</a:t>
            </a:r>
          </a:p>
        </p:txBody>
      </p:sp>
      <p:sp>
        <p:nvSpPr>
          <p:cNvPr id="23" name="SDPM::strategy.capability_map::dot_0_2_0" title="SDPM::strategy.capability_map::dot_0_2_0" descr="SDPM::strategy.capability_map::dot_0_2_0"/>
          <p:cNvSpPr/>
          <p:nvPr/>
        </p:nvSpPr>
        <p:spPr>
          <a:xfrm>
            <a:off x="2862008" y="5056949"/>
            <a:ext cx="200215" cy="32124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DPM::strategy.capability_map::dot_0_2_1" title="SDPM::strategy.capability_map::dot_0_2_1" descr="SDPM::strategy.capability_map::dot_0_2_1"/>
          <p:cNvSpPr/>
          <p:nvPr/>
        </p:nvSpPr>
        <p:spPr>
          <a:xfrm>
            <a:off x="3119310" y="5056949"/>
            <a:ext cx="200215" cy="32124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DPM::strategy.capability_map::dot_0_2_2" title="SDPM::strategy.capability_map::dot_0_2_2" descr="SDPM::strategy.capability_map::dot_0_2_2"/>
          <p:cNvSpPr/>
          <p:nvPr/>
        </p:nvSpPr>
        <p:spPr>
          <a:xfrm>
            <a:off x="3376676" y="5056949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DPM::strategy.capability_map::dot_0_2_3" title="SDPM::strategy.capability_map::dot_0_2_3" descr="SDPM::strategy.capability_map::dot_0_2_3"/>
          <p:cNvSpPr/>
          <p:nvPr/>
        </p:nvSpPr>
        <p:spPr>
          <a:xfrm>
            <a:off x="3633978" y="5056949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DPM::strategy.capability_map::dot_0_2_4" title="SDPM::strategy.capability_map::dot_0_2_4" descr="SDPM::strategy.capability_map::dot_0_2_4"/>
          <p:cNvSpPr/>
          <p:nvPr/>
        </p:nvSpPr>
        <p:spPr>
          <a:xfrm>
            <a:off x="3891343" y="5056949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DPM::strategy.capability_map::group_1" title="SDPM::strategy.capability_map::group_1" descr="SDPM::strategy.capability_map::group_1"/>
          <p:cNvSpPr/>
          <p:nvPr/>
        </p:nvSpPr>
        <p:spPr>
          <a:xfrm>
            <a:off x="4313745" y="1524000"/>
            <a:ext cx="3564445" cy="368300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500">
                <a:solidFill>
                  <a:srgbClr val="0C2742"/>
                </a:solidFill>
                <a:latin typeface="Yu Gothic UI"/>
              </a:rPr>
              <a:t>商業</a:t>
            </a:r>
          </a:p>
        </p:txBody>
      </p:sp>
      <p:sp>
        <p:nvSpPr>
          <p:cNvPr id="29" name="SDPM::strategy.capability_map::item_bg_1_0" title="SDPM::strategy.capability_map::item_bg_1_0" descr="SDPM::strategy.capability_map::item_bg_1_0"/>
          <p:cNvSpPr/>
          <p:nvPr/>
        </p:nvSpPr>
        <p:spPr>
          <a:xfrm>
            <a:off x="4313745" y="1968500"/>
            <a:ext cx="3564445" cy="12488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DPM::strategy.capability_map::label_1_0" title="SDPM::strategy.capability_map::label_1_0" descr="SDPM::strategy.capability_map::label_1_0"/>
          <p:cNvSpPr txBox="1"/>
          <p:nvPr/>
        </p:nvSpPr>
        <p:spPr>
          <a:xfrm>
            <a:off x="4402645" y="2019300"/>
            <a:ext cx="2068258" cy="11472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提案営業</a:t>
            </a:r>
          </a:p>
        </p:txBody>
      </p:sp>
      <p:sp>
        <p:nvSpPr>
          <p:cNvPr id="31" name="SDPM::strategy.capability_map::dot_1_0_0" title="SDPM::strategy.capability_map::dot_1_0_0" descr="SDPM::strategy.capability_map::dot_1_0_0"/>
          <p:cNvSpPr/>
          <p:nvPr/>
        </p:nvSpPr>
        <p:spPr>
          <a:xfrm>
            <a:off x="6540754" y="2432304"/>
            <a:ext cx="200215" cy="32124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DPM::strategy.capability_map::dot_1_0_1" title="SDPM::strategy.capability_map::dot_1_0_1" descr="SDPM::strategy.capability_map::dot_1_0_1"/>
          <p:cNvSpPr/>
          <p:nvPr/>
        </p:nvSpPr>
        <p:spPr>
          <a:xfrm>
            <a:off x="6798119" y="2432304"/>
            <a:ext cx="200215" cy="32124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DPM::strategy.capability_map::dot_1_0_2" title="SDPM::strategy.capability_map::dot_1_0_2" descr="SDPM::strategy.capability_map::dot_1_0_2"/>
          <p:cNvSpPr/>
          <p:nvPr/>
        </p:nvSpPr>
        <p:spPr>
          <a:xfrm>
            <a:off x="7055421" y="2432304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DPM::strategy.capability_map::dot_1_0_3" title="SDPM::strategy.capability_map::dot_1_0_3" descr="SDPM::strategy.capability_map::dot_1_0_3"/>
          <p:cNvSpPr/>
          <p:nvPr/>
        </p:nvSpPr>
        <p:spPr>
          <a:xfrm>
            <a:off x="7312786" y="2432304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DPM::strategy.capability_map::dot_1_0_4" title="SDPM::strategy.capability_map::dot_1_0_4" descr="SDPM::strategy.capability_map::dot_1_0_4"/>
          <p:cNvSpPr/>
          <p:nvPr/>
        </p:nvSpPr>
        <p:spPr>
          <a:xfrm>
            <a:off x="7570089" y="2432304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DPM::strategy.capability_map::item_bg_1_1" title="SDPM::strategy.capability_map::item_bg_1_1" descr="SDPM::strategy.capability_map::item_bg_1_1"/>
          <p:cNvSpPr/>
          <p:nvPr/>
        </p:nvSpPr>
        <p:spPr>
          <a:xfrm>
            <a:off x="4313745" y="3280854"/>
            <a:ext cx="3564445" cy="12488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DPM::strategy.capability_map::label_1_1" title="SDPM::strategy.capability_map::label_1_1" descr="SDPM::strategy.capability_map::label_1_1"/>
          <p:cNvSpPr txBox="1"/>
          <p:nvPr/>
        </p:nvSpPr>
        <p:spPr>
          <a:xfrm>
            <a:off x="4402645" y="3331654"/>
            <a:ext cx="2068258" cy="11472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価格設計</a:t>
            </a:r>
          </a:p>
        </p:txBody>
      </p:sp>
      <p:sp>
        <p:nvSpPr>
          <p:cNvPr id="38" name="SDPM::strategy.capability_map::dot_1_1_0" title="SDPM::strategy.capability_map::dot_1_1_0" descr="SDPM::strategy.capability_map::dot_1_1_0"/>
          <p:cNvSpPr/>
          <p:nvPr/>
        </p:nvSpPr>
        <p:spPr>
          <a:xfrm>
            <a:off x="6540754" y="3744658"/>
            <a:ext cx="200215" cy="32124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DPM::strategy.capability_map::dot_1_1_1" title="SDPM::strategy.capability_map::dot_1_1_1" descr="SDPM::strategy.capability_map::dot_1_1_1"/>
          <p:cNvSpPr/>
          <p:nvPr/>
        </p:nvSpPr>
        <p:spPr>
          <a:xfrm>
            <a:off x="6798119" y="3744658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DPM::strategy.capability_map::dot_1_1_2" title="SDPM::strategy.capability_map::dot_1_1_2" descr="SDPM::strategy.capability_map::dot_1_1_2"/>
          <p:cNvSpPr/>
          <p:nvPr/>
        </p:nvSpPr>
        <p:spPr>
          <a:xfrm>
            <a:off x="7055421" y="3744658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DPM::strategy.capability_map::dot_1_1_3" title="SDPM::strategy.capability_map::dot_1_1_3" descr="SDPM::strategy.capability_map::dot_1_1_3"/>
          <p:cNvSpPr/>
          <p:nvPr/>
        </p:nvSpPr>
        <p:spPr>
          <a:xfrm>
            <a:off x="7312786" y="3744658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DPM::strategy.capability_map::dot_1_1_4" title="SDPM::strategy.capability_map::dot_1_1_4" descr="SDPM::strategy.capability_map::dot_1_1_4"/>
          <p:cNvSpPr/>
          <p:nvPr/>
        </p:nvSpPr>
        <p:spPr>
          <a:xfrm>
            <a:off x="7570089" y="3744658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DPM::strategy.capability_map::item_bg_1_2" title="SDPM::strategy.capability_map::item_bg_1_2" descr="SDPM::strategy.capability_map::item_bg_1_2"/>
          <p:cNvSpPr/>
          <p:nvPr/>
        </p:nvSpPr>
        <p:spPr>
          <a:xfrm>
            <a:off x="4313745" y="4593145"/>
            <a:ext cx="3564445" cy="12488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DPM::strategy.capability_map::label_1_2" title="SDPM::strategy.capability_map::label_1_2" descr="SDPM::strategy.capability_map::label_1_2"/>
          <p:cNvSpPr txBox="1"/>
          <p:nvPr/>
        </p:nvSpPr>
        <p:spPr>
          <a:xfrm>
            <a:off x="4402645" y="4643945"/>
            <a:ext cx="2068258" cy="11472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部門展開</a:t>
            </a:r>
          </a:p>
        </p:txBody>
      </p:sp>
      <p:sp>
        <p:nvSpPr>
          <p:cNvPr id="45" name="SDPM::strategy.capability_map::dot_1_2_0" title="SDPM::strategy.capability_map::dot_1_2_0" descr="SDPM::strategy.capability_map::dot_1_2_0"/>
          <p:cNvSpPr/>
          <p:nvPr/>
        </p:nvSpPr>
        <p:spPr>
          <a:xfrm>
            <a:off x="6540754" y="5056949"/>
            <a:ext cx="200215" cy="32124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DPM::strategy.capability_map::dot_1_2_1" title="SDPM::strategy.capability_map::dot_1_2_1" descr="SDPM::strategy.capability_map::dot_1_2_1"/>
          <p:cNvSpPr/>
          <p:nvPr/>
        </p:nvSpPr>
        <p:spPr>
          <a:xfrm>
            <a:off x="6798119" y="5056949"/>
            <a:ext cx="200215" cy="32124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DPM::strategy.capability_map::dot_1_2_2" title="SDPM::strategy.capability_map::dot_1_2_2" descr="SDPM::strategy.capability_map::dot_1_2_2"/>
          <p:cNvSpPr/>
          <p:nvPr/>
        </p:nvSpPr>
        <p:spPr>
          <a:xfrm>
            <a:off x="7055421" y="5056949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DPM::strategy.capability_map::dot_1_2_3" title="SDPM::strategy.capability_map::dot_1_2_3" descr="SDPM::strategy.capability_map::dot_1_2_3"/>
          <p:cNvSpPr/>
          <p:nvPr/>
        </p:nvSpPr>
        <p:spPr>
          <a:xfrm>
            <a:off x="7312786" y="5056949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DPM::strategy.capability_map::dot_1_2_4" title="SDPM::strategy.capability_map::dot_1_2_4" descr="SDPM::strategy.capability_map::dot_1_2_4"/>
          <p:cNvSpPr/>
          <p:nvPr/>
        </p:nvSpPr>
        <p:spPr>
          <a:xfrm>
            <a:off x="7570089" y="5056949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DPM::strategy.capability_map::group_2" title="SDPM::strategy.capability_map::group_2" descr="SDPM::strategy.capability_map::group_2"/>
          <p:cNvSpPr/>
          <p:nvPr/>
        </p:nvSpPr>
        <p:spPr>
          <a:xfrm>
            <a:off x="7992554" y="1524000"/>
            <a:ext cx="3564445" cy="368300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500">
                <a:solidFill>
                  <a:srgbClr val="0C2742"/>
                </a:solidFill>
                <a:latin typeface="Yu Gothic UI"/>
              </a:rPr>
              <a:t>基盤</a:t>
            </a:r>
          </a:p>
        </p:txBody>
      </p:sp>
      <p:sp>
        <p:nvSpPr>
          <p:cNvPr id="51" name="SDPM::strategy.capability_map::item_bg_2_0" title="SDPM::strategy.capability_map::item_bg_2_0" descr="SDPM::strategy.capability_map::item_bg_2_0"/>
          <p:cNvSpPr/>
          <p:nvPr/>
        </p:nvSpPr>
        <p:spPr>
          <a:xfrm>
            <a:off x="7992554" y="1968500"/>
            <a:ext cx="3564445" cy="12488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DPM::strategy.capability_map::label_2_0" title="SDPM::strategy.capability_map::label_2_0" descr="SDPM::strategy.capability_map::label_2_0"/>
          <p:cNvSpPr txBox="1"/>
          <p:nvPr/>
        </p:nvSpPr>
        <p:spPr>
          <a:xfrm>
            <a:off x="8081454" y="2019300"/>
            <a:ext cx="2068258" cy="11472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利用データ</a:t>
            </a:r>
          </a:p>
        </p:txBody>
      </p:sp>
      <p:sp>
        <p:nvSpPr>
          <p:cNvPr id="53" name="SDPM::strategy.capability_map::dot_2_0_0" title="SDPM::strategy.capability_map::dot_2_0_0" descr="SDPM::strategy.capability_map::dot_2_0_0"/>
          <p:cNvSpPr/>
          <p:nvPr/>
        </p:nvSpPr>
        <p:spPr>
          <a:xfrm>
            <a:off x="10219499" y="2432304"/>
            <a:ext cx="200215" cy="32124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DPM::strategy.capability_map::dot_2_0_1" title="SDPM::strategy.capability_map::dot_2_0_1" descr="SDPM::strategy.capability_map::dot_2_0_1"/>
          <p:cNvSpPr/>
          <p:nvPr/>
        </p:nvSpPr>
        <p:spPr>
          <a:xfrm>
            <a:off x="10476865" y="2432304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DPM::strategy.capability_map::dot_2_0_2" title="SDPM::strategy.capability_map::dot_2_0_2" descr="SDPM::strategy.capability_map::dot_2_0_2"/>
          <p:cNvSpPr/>
          <p:nvPr/>
        </p:nvSpPr>
        <p:spPr>
          <a:xfrm>
            <a:off x="10734167" y="2432304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DPM::strategy.capability_map::dot_2_0_3" title="SDPM::strategy.capability_map::dot_2_0_3" descr="SDPM::strategy.capability_map::dot_2_0_3"/>
          <p:cNvSpPr/>
          <p:nvPr/>
        </p:nvSpPr>
        <p:spPr>
          <a:xfrm>
            <a:off x="10991532" y="2432304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DPM::strategy.capability_map::dot_2_0_4" title="SDPM::strategy.capability_map::dot_2_0_4" descr="SDPM::strategy.capability_map::dot_2_0_4"/>
          <p:cNvSpPr/>
          <p:nvPr/>
        </p:nvSpPr>
        <p:spPr>
          <a:xfrm>
            <a:off x="11248834" y="2432304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DPM::strategy.capability_map::item_bg_2_1" title="SDPM::strategy.capability_map::item_bg_2_1" descr="SDPM::strategy.capability_map::item_bg_2_1"/>
          <p:cNvSpPr/>
          <p:nvPr/>
        </p:nvSpPr>
        <p:spPr>
          <a:xfrm>
            <a:off x="7992554" y="3280854"/>
            <a:ext cx="3564445" cy="12488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DPM::strategy.capability_map::label_2_1" title="SDPM::strategy.capability_map::label_2_1" descr="SDPM::strategy.capability_map::label_2_1"/>
          <p:cNvSpPr txBox="1"/>
          <p:nvPr/>
        </p:nvSpPr>
        <p:spPr>
          <a:xfrm>
            <a:off x="8081454" y="3331654"/>
            <a:ext cx="2068258" cy="11472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人材</a:t>
            </a:r>
          </a:p>
        </p:txBody>
      </p:sp>
      <p:sp>
        <p:nvSpPr>
          <p:cNvPr id="60" name="SDPM::strategy.capability_map::dot_2_1_0" title="SDPM::strategy.capability_map::dot_2_1_0" descr="SDPM::strategy.capability_map::dot_2_1_0"/>
          <p:cNvSpPr/>
          <p:nvPr/>
        </p:nvSpPr>
        <p:spPr>
          <a:xfrm>
            <a:off x="10219499" y="3744658"/>
            <a:ext cx="200215" cy="32124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DPM::strategy.capability_map::dot_2_1_1" title="SDPM::strategy.capability_map::dot_2_1_1" descr="SDPM::strategy.capability_map::dot_2_1_1"/>
          <p:cNvSpPr/>
          <p:nvPr/>
        </p:nvSpPr>
        <p:spPr>
          <a:xfrm>
            <a:off x="10476865" y="3744658"/>
            <a:ext cx="200215" cy="32124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DPM::strategy.capability_map::dot_2_1_2" title="SDPM::strategy.capability_map::dot_2_1_2" descr="SDPM::strategy.capability_map::dot_2_1_2"/>
          <p:cNvSpPr/>
          <p:nvPr/>
        </p:nvSpPr>
        <p:spPr>
          <a:xfrm>
            <a:off x="10734167" y="3744658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DPM::strategy.capability_map::dot_2_1_3" title="SDPM::strategy.capability_map::dot_2_1_3" descr="SDPM::strategy.capability_map::dot_2_1_3"/>
          <p:cNvSpPr/>
          <p:nvPr/>
        </p:nvSpPr>
        <p:spPr>
          <a:xfrm>
            <a:off x="10991532" y="3744658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DPM::strategy.capability_map::dot_2_1_4" title="SDPM::strategy.capability_map::dot_2_1_4" descr="SDPM::strategy.capability_map::dot_2_1_4"/>
          <p:cNvSpPr/>
          <p:nvPr/>
        </p:nvSpPr>
        <p:spPr>
          <a:xfrm>
            <a:off x="11248834" y="3744658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DPM::strategy.capability_map::item_bg_2_2" title="SDPM::strategy.capability_map::item_bg_2_2" descr="SDPM::strategy.capability_map::item_bg_2_2"/>
          <p:cNvSpPr/>
          <p:nvPr/>
        </p:nvSpPr>
        <p:spPr>
          <a:xfrm>
            <a:off x="7992554" y="4593145"/>
            <a:ext cx="3564445" cy="12488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DPM::strategy.capability_map::label_2_2" title="SDPM::strategy.capability_map::label_2_2" descr="SDPM::strategy.capability_map::label_2_2"/>
          <p:cNvSpPr txBox="1"/>
          <p:nvPr/>
        </p:nvSpPr>
        <p:spPr>
          <a:xfrm>
            <a:off x="8081454" y="4643945"/>
            <a:ext cx="2068258" cy="11472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ガバナンス</a:t>
            </a:r>
          </a:p>
        </p:txBody>
      </p:sp>
      <p:sp>
        <p:nvSpPr>
          <p:cNvPr id="67" name="SDPM::strategy.capability_map::dot_2_2_0" title="SDPM::strategy.capability_map::dot_2_2_0" descr="SDPM::strategy.capability_map::dot_2_2_0"/>
          <p:cNvSpPr/>
          <p:nvPr/>
        </p:nvSpPr>
        <p:spPr>
          <a:xfrm>
            <a:off x="10219499" y="5056949"/>
            <a:ext cx="200215" cy="32124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DPM::strategy.capability_map::dot_2_2_1" title="SDPM::strategy.capability_map::dot_2_2_1" descr="SDPM::strategy.capability_map::dot_2_2_1"/>
          <p:cNvSpPr/>
          <p:nvPr/>
        </p:nvSpPr>
        <p:spPr>
          <a:xfrm>
            <a:off x="10476865" y="5056949"/>
            <a:ext cx="200215" cy="321246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DPM::strategy.capability_map::dot_2_2_2" title="SDPM::strategy.capability_map::dot_2_2_2" descr="SDPM::strategy.capability_map::dot_2_2_2"/>
          <p:cNvSpPr/>
          <p:nvPr/>
        </p:nvSpPr>
        <p:spPr>
          <a:xfrm>
            <a:off x="10734167" y="5056949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DPM::strategy.capability_map::dot_2_2_3" title="SDPM::strategy.capability_map::dot_2_2_3" descr="SDPM::strategy.capability_map::dot_2_2_3"/>
          <p:cNvSpPr/>
          <p:nvPr/>
        </p:nvSpPr>
        <p:spPr>
          <a:xfrm>
            <a:off x="10991532" y="5056949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DPM::strategy.capability_map::dot_2_2_4" title="SDPM::strategy.capability_map::dot_2_2_4" descr="SDPM::strategy.capability_map::dot_2_2_4"/>
          <p:cNvSpPr/>
          <p:nvPr/>
        </p:nvSpPr>
        <p:spPr>
          <a:xfrm>
            <a:off x="11248834" y="5056949"/>
            <a:ext cx="200215" cy="321246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Consulting Classic — composition, typography and reading path are theme-specific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0C2742"/>
                </a:solidFill>
                <a:latin typeface="Yu Gothic UI"/>
              </a:rPr>
              <a:t>Value Driver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strategy.value_driver_tree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strategy.value_driver_tree::root" title="SDPM::strategy.value_driver_tree::root" descr="SDPM::strategy.value_driver_tree::root"/>
          <p:cNvSpPr/>
          <p:nvPr/>
        </p:nvSpPr>
        <p:spPr>
          <a:xfrm>
            <a:off x="635000" y="3035300"/>
            <a:ext cx="2402840" cy="1295400"/>
          </a:xfrm>
          <a:prstGeom prst="roundRect">
            <a:avLst/>
          </a:prstGeom>
          <a:solidFill>
            <a:srgbClr val="0C2742"/>
          </a:solidFill>
          <a:ln>
            <a:noFill/>
          </a:ln>
          <a:effectLst>
            <a:outerShdw blurRad="50800" dist="19050" dir="8100000" algn="bl" rotWithShape="0">
              <a:srgbClr val="0E343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01600" rIns="101600" bIns="101600"/>
          <a:lstStyle/>
          <a:p>
            <a:pPr algn="ctr"/>
            <a:r>
              <a:rPr lang="ja-JP" sz="1800">
                <a:solidFill>
                  <a:srgbClr val="FFFFFF"/>
                </a:solidFill>
                <a:latin typeface="Yu Gothic UI"/>
              </a:rPr>
              <a:t>営業利益</a:t>
            </a:r>
            <a:r>
              <a:rPr sz="1800">
                <a:solidFill>
                  <a:srgbClr val="FFFFFF"/>
                </a:solidFill>
                <a:latin typeface="Aptos"/>
              </a:rPr>
              <a:t> +10%</a:t>
            </a:r>
          </a:p>
        </p:txBody>
      </p:sp>
      <p:sp>
        <p:nvSpPr>
          <p:cNvPr id="7" name="SDPM::strategy.value_driver_tree::driver_0" title="SDPM::strategy.value_driver_tree::driver_0" descr="SDPM::strategy.value_driver_tree::driver_0"/>
          <p:cNvSpPr/>
          <p:nvPr/>
        </p:nvSpPr>
        <p:spPr>
          <a:xfrm>
            <a:off x="4020820" y="2042160"/>
            <a:ext cx="2435860" cy="1209040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600">
                <a:solidFill>
                  <a:srgbClr val="123039"/>
                </a:solidFill>
                <a:latin typeface="Yu Gothic UI"/>
              </a:rPr>
              <a:t>売上</a:t>
            </a:r>
            <a:r>
              <a:rPr sz="1600">
                <a:solidFill>
                  <a:srgbClr val="123039"/>
                </a:solidFill>
                <a:latin typeface="Aptos"/>
              </a:rPr>
              <a:t> +8%</a:t>
            </a:r>
          </a:p>
        </p:txBody>
      </p:sp>
      <p:cxnSp>
        <p:nvCxnSpPr>
          <p:cNvPr id="8" name="SDPM::strategy.value_driver_tree::root_link_0" title="SDPM::strategy.value_driver_tree::root_link_0" descr="SDPM::strategy.value_driver_tree::root_link_0"/>
          <p:cNvCxnSpPr/>
          <p:nvPr/>
        </p:nvCxnSpPr>
        <p:spPr>
          <a:xfrm flipV="1">
            <a:off x="3037840" y="2646680"/>
            <a:ext cx="982980" cy="1036320"/>
          </a:xfrm>
          <a:prstGeom prst="line">
            <a:avLst/>
          </a:prstGeom>
          <a:ln w="2286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DPM::strategy.value_driver_tree::sub_0_0" title="SDPM::strategy.value_driver_tree::sub_0_0" descr="SDPM::strategy.value_driver_tree::sub_0_0"/>
          <p:cNvSpPr/>
          <p:nvPr/>
        </p:nvSpPr>
        <p:spPr>
          <a:xfrm>
            <a:off x="4020820" y="3769360"/>
            <a:ext cx="2435860" cy="8750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23039"/>
                </a:solidFill>
                <a:latin typeface="Yu Gothic UI"/>
              </a:rPr>
              <a:t>顧客数</a:t>
            </a:r>
            <a:r>
              <a:rPr sz="1200">
                <a:solidFill>
                  <a:srgbClr val="123039"/>
                </a:solidFill>
                <a:latin typeface="Aptos"/>
              </a:rPr>
              <a:t> +5%</a:t>
            </a:r>
          </a:p>
        </p:txBody>
      </p:sp>
      <p:cxnSp>
        <p:nvCxnSpPr>
          <p:cNvPr id="10" name="SDPM::strategy.value_driver_tree::sub_link_0_0" title="SDPM::strategy.value_driver_tree::sub_link_0_0" descr="SDPM::strategy.value_driver_tree::sub_link_0_0"/>
          <p:cNvCxnSpPr/>
          <p:nvPr/>
        </p:nvCxnSpPr>
        <p:spPr>
          <a:xfrm>
            <a:off x="5238750" y="3251200"/>
            <a:ext cx="0" cy="51816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strategy.value_driver_tree::sub_0_1" title="SDPM::strategy.value_driver_tree::sub_0_1" descr="SDPM::strategy.value_driver_tree::sub_0_1"/>
          <p:cNvSpPr/>
          <p:nvPr/>
        </p:nvSpPr>
        <p:spPr>
          <a:xfrm>
            <a:off x="4020820" y="4707890"/>
            <a:ext cx="2435860" cy="8750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23039"/>
                </a:solidFill>
                <a:latin typeface="Yu Gothic UI"/>
              </a:rPr>
              <a:t>単価</a:t>
            </a:r>
            <a:r>
              <a:rPr sz="1200">
                <a:solidFill>
                  <a:srgbClr val="123039"/>
                </a:solidFill>
                <a:latin typeface="Aptos"/>
              </a:rPr>
              <a:t> +3%</a:t>
            </a:r>
          </a:p>
        </p:txBody>
      </p:sp>
      <p:cxnSp>
        <p:nvCxnSpPr>
          <p:cNvPr id="12" name="SDPM::strategy.value_driver_tree::sub_link_0_1" title="SDPM::strategy.value_driver_tree::sub_link_0_1" descr="SDPM::strategy.value_driver_tree::sub_link_0_1"/>
          <p:cNvCxnSpPr/>
          <p:nvPr/>
        </p:nvCxnSpPr>
        <p:spPr>
          <a:xfrm>
            <a:off x="5238750" y="3251200"/>
            <a:ext cx="0" cy="145669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DPM::strategy.value_driver_tree::driver_1" title="SDPM::strategy.value_driver_tree::driver_1" descr="SDPM::strategy.value_driver_tree::driver_1"/>
          <p:cNvSpPr/>
          <p:nvPr/>
        </p:nvSpPr>
        <p:spPr>
          <a:xfrm>
            <a:off x="6570980" y="2042160"/>
            <a:ext cx="2435860" cy="1209040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600">
                <a:solidFill>
                  <a:srgbClr val="123039"/>
                </a:solidFill>
                <a:latin typeface="Yu Gothic UI"/>
              </a:rPr>
              <a:t>粗利率</a:t>
            </a:r>
            <a:r>
              <a:rPr sz="1600">
                <a:solidFill>
                  <a:srgbClr val="123039"/>
                </a:solidFill>
                <a:latin typeface="Aptos"/>
              </a:rPr>
              <a:t> +2pt</a:t>
            </a:r>
          </a:p>
        </p:txBody>
      </p:sp>
      <p:cxnSp>
        <p:nvCxnSpPr>
          <p:cNvPr id="14" name="SDPM::strategy.value_driver_tree::root_link_1" title="SDPM::strategy.value_driver_tree::root_link_1" descr="SDPM::strategy.value_driver_tree::root_link_1"/>
          <p:cNvCxnSpPr/>
          <p:nvPr/>
        </p:nvCxnSpPr>
        <p:spPr>
          <a:xfrm flipV="1">
            <a:off x="3037840" y="2646680"/>
            <a:ext cx="3533140" cy="1036320"/>
          </a:xfrm>
          <a:prstGeom prst="line">
            <a:avLst/>
          </a:prstGeom>
          <a:ln w="22860">
            <a:solidFill>
              <a:srgbClr val="2B7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DPM::strategy.value_driver_tree::sub_1_0" title="SDPM::strategy.value_driver_tree::sub_1_0" descr="SDPM::strategy.value_driver_tree::sub_1_0"/>
          <p:cNvSpPr/>
          <p:nvPr/>
        </p:nvSpPr>
        <p:spPr>
          <a:xfrm>
            <a:off x="6570980" y="3769360"/>
            <a:ext cx="2435860" cy="8750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23039"/>
                </a:solidFill>
                <a:latin typeface="Yu Gothic UI"/>
              </a:rPr>
              <a:t>価格</a:t>
            </a:r>
            <a:r>
              <a:rPr sz="1200">
                <a:solidFill>
                  <a:srgbClr val="123039"/>
                </a:solidFill>
                <a:latin typeface="Aptos"/>
              </a:rPr>
              <a:t> +1pt</a:t>
            </a:r>
          </a:p>
        </p:txBody>
      </p:sp>
      <p:cxnSp>
        <p:nvCxnSpPr>
          <p:cNvPr id="16" name="SDPM::strategy.value_driver_tree::sub_link_1_0" title="SDPM::strategy.value_driver_tree::sub_link_1_0" descr="SDPM::strategy.value_driver_tree::sub_link_1_0"/>
          <p:cNvCxnSpPr/>
          <p:nvPr/>
        </p:nvCxnSpPr>
        <p:spPr>
          <a:xfrm>
            <a:off x="7788909" y="3251200"/>
            <a:ext cx="0" cy="51816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DPM::strategy.value_driver_tree::sub_1_1" title="SDPM::strategy.value_driver_tree::sub_1_1" descr="SDPM::strategy.value_driver_tree::sub_1_1"/>
          <p:cNvSpPr/>
          <p:nvPr/>
        </p:nvSpPr>
        <p:spPr>
          <a:xfrm>
            <a:off x="6570980" y="4707890"/>
            <a:ext cx="2435860" cy="8750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23039"/>
                </a:solidFill>
                <a:latin typeface="Yu Gothic UI"/>
              </a:rPr>
              <a:t>原価</a:t>
            </a:r>
            <a:r>
              <a:rPr sz="1200">
                <a:solidFill>
                  <a:srgbClr val="123039"/>
                </a:solidFill>
                <a:latin typeface="Aptos"/>
              </a:rPr>
              <a:t> -1pt</a:t>
            </a:r>
          </a:p>
        </p:txBody>
      </p:sp>
      <p:cxnSp>
        <p:nvCxnSpPr>
          <p:cNvPr id="18" name="SDPM::strategy.value_driver_tree::sub_link_1_1" title="SDPM::strategy.value_driver_tree::sub_link_1_1" descr="SDPM::strategy.value_driver_tree::sub_link_1_1"/>
          <p:cNvCxnSpPr/>
          <p:nvPr/>
        </p:nvCxnSpPr>
        <p:spPr>
          <a:xfrm>
            <a:off x="7788909" y="3251200"/>
            <a:ext cx="0" cy="145669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DPM::strategy.value_driver_tree::driver_2" title="SDPM::strategy.value_driver_tree::driver_2" descr="SDPM::strategy.value_driver_tree::driver_2"/>
          <p:cNvSpPr/>
          <p:nvPr/>
        </p:nvSpPr>
        <p:spPr>
          <a:xfrm>
            <a:off x="9121140" y="2042160"/>
            <a:ext cx="2435860" cy="1209040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600">
                <a:solidFill>
                  <a:srgbClr val="123039"/>
                </a:solidFill>
                <a:latin typeface="Yu Gothic UI"/>
              </a:rPr>
              <a:t>販管費</a:t>
            </a:r>
            <a:r>
              <a:rPr sz="1600">
                <a:solidFill>
                  <a:srgbClr val="123039"/>
                </a:solidFill>
                <a:latin typeface="Aptos"/>
              </a:rPr>
              <a:t> </a:t>
            </a:r>
            <a:r>
              <a:rPr lang="ja-JP" sz="1600">
                <a:solidFill>
                  <a:srgbClr val="123039"/>
                </a:solidFill>
                <a:latin typeface="Yu Gothic UI"/>
              </a:rPr>
              <a:t>横ばい</a:t>
            </a:r>
          </a:p>
        </p:txBody>
      </p:sp>
      <p:cxnSp>
        <p:nvCxnSpPr>
          <p:cNvPr id="20" name="SDPM::strategy.value_driver_tree::root_link_2" title="SDPM::strategy.value_driver_tree::root_link_2" descr="SDPM::strategy.value_driver_tree::root_link_2"/>
          <p:cNvCxnSpPr/>
          <p:nvPr/>
        </p:nvCxnSpPr>
        <p:spPr>
          <a:xfrm flipV="1">
            <a:off x="3037840" y="2646680"/>
            <a:ext cx="6083300" cy="1036320"/>
          </a:xfrm>
          <a:prstGeom prst="line">
            <a:avLst/>
          </a:prstGeom>
          <a:ln w="22860">
            <a:solidFill>
              <a:srgbClr val="2B7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DPM::strategy.value_driver_tree::sub_2_0" title="SDPM::strategy.value_driver_tree::sub_2_0" descr="SDPM::strategy.value_driver_tree::sub_2_0"/>
          <p:cNvSpPr/>
          <p:nvPr/>
        </p:nvSpPr>
        <p:spPr>
          <a:xfrm>
            <a:off x="9121140" y="3769360"/>
            <a:ext cx="2435860" cy="8750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23039"/>
                </a:solidFill>
                <a:latin typeface="Yu Gothic UI"/>
              </a:rPr>
              <a:t>営業生産性</a:t>
            </a:r>
          </a:p>
        </p:txBody>
      </p:sp>
      <p:cxnSp>
        <p:nvCxnSpPr>
          <p:cNvPr id="22" name="SDPM::strategy.value_driver_tree::sub_link_2_0" title="SDPM::strategy.value_driver_tree::sub_link_2_0" descr="SDPM::strategy.value_driver_tree::sub_link_2_0"/>
          <p:cNvCxnSpPr/>
          <p:nvPr/>
        </p:nvCxnSpPr>
        <p:spPr>
          <a:xfrm>
            <a:off x="10339070" y="3251200"/>
            <a:ext cx="0" cy="51816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DPM::strategy.value_driver_tree::sub_2_1" title="SDPM::strategy.value_driver_tree::sub_2_1" descr="SDPM::strategy.value_driver_tree::sub_2_1"/>
          <p:cNvSpPr/>
          <p:nvPr/>
        </p:nvSpPr>
        <p:spPr>
          <a:xfrm>
            <a:off x="9121140" y="4707890"/>
            <a:ext cx="2435860" cy="8750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123039"/>
                </a:solidFill>
                <a:latin typeface="Aptos"/>
              </a:rPr>
              <a:t>CS </a:t>
            </a:r>
            <a:r>
              <a:rPr lang="ja-JP" sz="1200">
                <a:solidFill>
                  <a:srgbClr val="123039"/>
                </a:solidFill>
                <a:latin typeface="Yu Gothic UI"/>
              </a:rPr>
              <a:t>自動化</a:t>
            </a:r>
          </a:p>
        </p:txBody>
      </p:sp>
      <p:cxnSp>
        <p:nvCxnSpPr>
          <p:cNvPr id="24" name="SDPM::strategy.value_driver_tree::sub_link_2_1" title="SDPM::strategy.value_driver_tree::sub_link_2_1" descr="SDPM::strategy.value_driver_tree::sub_link_2_1"/>
          <p:cNvCxnSpPr/>
          <p:nvPr/>
        </p:nvCxnSpPr>
        <p:spPr>
          <a:xfrm>
            <a:off x="10339070" y="3251200"/>
            <a:ext cx="0" cy="145669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Consulting Classic — composition, typography and reading path are theme-specific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0C2742"/>
                </a:solidFill>
                <a:latin typeface="Yu Gothic UI"/>
              </a:rPr>
              <a:t>Initiative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strategy.initiative_portfolio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strategy.initiative_portfolio::index_0" title="SDPM::strategy.initiative_portfolio::index_0" descr="SDPM::strategy.initiative_portfolio::index_0"/>
          <p:cNvSpPr txBox="1"/>
          <p:nvPr/>
        </p:nvSpPr>
        <p:spPr>
          <a:xfrm>
            <a:off x="635000" y="1524000"/>
            <a:ext cx="84836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800">
                <a:solidFill>
                  <a:srgbClr val="00A6A6"/>
                </a:solidFill>
                <a:latin typeface="Yu Gothic UI"/>
              </a:rPr>
              <a:t>01</a:t>
            </a:r>
          </a:p>
        </p:txBody>
      </p:sp>
      <p:sp>
        <p:nvSpPr>
          <p:cNvPr id="7" name="SDPM::strategy.initiative_portfolio::title_0" title="SDPM::strategy.initiative_portfolio::title_0" descr="SDPM::strategy.initiative_portfolio::title_0"/>
          <p:cNvSpPr txBox="1"/>
          <p:nvPr/>
        </p:nvSpPr>
        <p:spPr>
          <a:xfrm>
            <a:off x="1546860" y="1524000"/>
            <a:ext cx="402971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123039"/>
                </a:solidFill>
                <a:latin typeface="Yu Gothic UI"/>
              </a:rPr>
              <a:t>オンボーディング再設計</a:t>
            </a:r>
          </a:p>
        </p:txBody>
      </p:sp>
      <p:sp>
        <p:nvSpPr>
          <p:cNvPr id="8" name="SDPM::strategy.initiative_portfolio::value_0" title="SDPM::strategy.initiative_portfolio::value_0" descr="SDPM::strategy.initiative_portfolio::value_0"/>
          <p:cNvSpPr txBox="1"/>
          <p:nvPr/>
        </p:nvSpPr>
        <p:spPr>
          <a:xfrm>
            <a:off x="5640070" y="1524000"/>
            <a:ext cx="148463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300">
                <a:solidFill>
                  <a:srgbClr val="00A6A6"/>
                </a:solidFill>
                <a:latin typeface="Yu Gothic UI"/>
              </a:rPr>
              <a:t>高</a:t>
            </a:r>
          </a:p>
        </p:txBody>
      </p:sp>
      <p:sp>
        <p:nvSpPr>
          <p:cNvPr id="9" name="SDPM::strategy.initiative_portfolio::effort_0" title="SDPM::strategy.initiative_portfolio::effort_0" descr="SDPM::strategy.initiative_portfolio::effort_0"/>
          <p:cNvSpPr txBox="1"/>
          <p:nvPr/>
        </p:nvSpPr>
        <p:spPr>
          <a:xfrm>
            <a:off x="7188200" y="1524000"/>
            <a:ext cx="127254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61737B"/>
                </a:solidFill>
                <a:latin typeface="Yu Gothic UI"/>
              </a:rPr>
              <a:t>中</a:t>
            </a:r>
          </a:p>
        </p:txBody>
      </p:sp>
      <p:sp>
        <p:nvSpPr>
          <p:cNvPr id="10" name="SDPM::strategy.initiative_portfolio::owner_0" title="SDPM::strategy.initiative_portfolio::owner_0" descr="SDPM::strategy.initiative_portfolio::owner_0"/>
          <p:cNvSpPr txBox="1"/>
          <p:nvPr/>
        </p:nvSpPr>
        <p:spPr>
          <a:xfrm>
            <a:off x="8524240" y="1524000"/>
            <a:ext cx="169672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61737B"/>
                </a:solidFill>
                <a:latin typeface="Yu Gothic UI"/>
              </a:rPr>
              <a:t>CX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責任者</a:t>
            </a:r>
          </a:p>
        </p:txBody>
      </p:sp>
      <p:sp>
        <p:nvSpPr>
          <p:cNvPr id="11" name="SDPM::strategy.initiative_portfolio::status_0" title="SDPM::strategy.initiative_portfolio::status_0" descr="SDPM::strategy.initiative_portfolio::status_0"/>
          <p:cNvSpPr/>
          <p:nvPr/>
        </p:nvSpPr>
        <p:spPr>
          <a:xfrm>
            <a:off x="10335260" y="1802638"/>
            <a:ext cx="1170940" cy="474662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0C2742"/>
                </a:solidFill>
                <a:latin typeface="Yu Gothic UI"/>
              </a:rPr>
              <a:t>優先</a:t>
            </a:r>
          </a:p>
        </p:txBody>
      </p:sp>
      <p:cxnSp>
        <p:nvCxnSpPr>
          <p:cNvPr id="12" name="SDPM::strategy.initiative_portfolio::rule_0" title="SDPM::strategy.initiative_portfolio::rule_0" descr="SDPM::strategy.initiative_portfolio::rule_0"/>
          <p:cNvCxnSpPr/>
          <p:nvPr/>
        </p:nvCxnSpPr>
        <p:spPr>
          <a:xfrm>
            <a:off x="635000" y="2555875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DPM::strategy.initiative_portfolio::index_1" title="SDPM::strategy.initiative_portfolio::index_1" descr="SDPM::strategy.initiative_portfolio::index_1"/>
          <p:cNvSpPr txBox="1"/>
          <p:nvPr/>
        </p:nvSpPr>
        <p:spPr>
          <a:xfrm>
            <a:off x="635000" y="2619375"/>
            <a:ext cx="84836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800">
                <a:solidFill>
                  <a:srgbClr val="2B74B8"/>
                </a:solidFill>
                <a:latin typeface="Yu Gothic UI"/>
              </a:rPr>
              <a:t>02</a:t>
            </a:r>
          </a:p>
        </p:txBody>
      </p:sp>
      <p:sp>
        <p:nvSpPr>
          <p:cNvPr id="14" name="SDPM::strategy.initiative_portfolio::title_1" title="SDPM::strategy.initiative_portfolio::title_1" descr="SDPM::strategy.initiative_portfolio::title_1"/>
          <p:cNvSpPr txBox="1"/>
          <p:nvPr/>
        </p:nvSpPr>
        <p:spPr>
          <a:xfrm>
            <a:off x="1546860" y="2619375"/>
            <a:ext cx="402971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123039"/>
                </a:solidFill>
                <a:latin typeface="Yu Gothic UI"/>
              </a:rPr>
              <a:t>価格・契約モデル変更</a:t>
            </a:r>
          </a:p>
        </p:txBody>
      </p:sp>
      <p:sp>
        <p:nvSpPr>
          <p:cNvPr id="15" name="SDPM::strategy.initiative_portfolio::value_1" title="SDPM::strategy.initiative_portfolio::value_1" descr="SDPM::strategy.initiative_portfolio::value_1"/>
          <p:cNvSpPr txBox="1"/>
          <p:nvPr/>
        </p:nvSpPr>
        <p:spPr>
          <a:xfrm>
            <a:off x="5640070" y="2619375"/>
            <a:ext cx="148463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300">
                <a:solidFill>
                  <a:srgbClr val="00A6A6"/>
                </a:solidFill>
                <a:latin typeface="Yu Gothic UI"/>
              </a:rPr>
              <a:t>高</a:t>
            </a:r>
          </a:p>
        </p:txBody>
      </p:sp>
      <p:sp>
        <p:nvSpPr>
          <p:cNvPr id="16" name="SDPM::strategy.initiative_portfolio::effort_1" title="SDPM::strategy.initiative_portfolio::effort_1" descr="SDPM::strategy.initiative_portfolio::effort_1"/>
          <p:cNvSpPr txBox="1"/>
          <p:nvPr/>
        </p:nvSpPr>
        <p:spPr>
          <a:xfrm>
            <a:off x="7188200" y="2619375"/>
            <a:ext cx="127254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61737B"/>
                </a:solidFill>
                <a:latin typeface="Yu Gothic UI"/>
              </a:rPr>
              <a:t>高</a:t>
            </a:r>
          </a:p>
        </p:txBody>
      </p:sp>
      <p:sp>
        <p:nvSpPr>
          <p:cNvPr id="17" name="SDPM::strategy.initiative_portfolio::owner_1" title="SDPM::strategy.initiative_portfolio::owner_1" descr="SDPM::strategy.initiative_portfolio::owner_1"/>
          <p:cNvSpPr txBox="1"/>
          <p:nvPr/>
        </p:nvSpPr>
        <p:spPr>
          <a:xfrm>
            <a:off x="8524240" y="2619375"/>
            <a:ext cx="169672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61737B"/>
                </a:solidFill>
                <a:latin typeface="Yu Gothic UI"/>
              </a:rPr>
              <a:t>事業責任者</a:t>
            </a:r>
          </a:p>
        </p:txBody>
      </p:sp>
      <p:sp>
        <p:nvSpPr>
          <p:cNvPr id="18" name="SDPM::strategy.initiative_portfolio::status_1" title="SDPM::strategy.initiative_portfolio::status_1" descr="SDPM::strategy.initiative_portfolio::status_1"/>
          <p:cNvSpPr/>
          <p:nvPr/>
        </p:nvSpPr>
        <p:spPr>
          <a:xfrm>
            <a:off x="10335260" y="2898013"/>
            <a:ext cx="1170940" cy="474662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0C2742"/>
                </a:solidFill>
                <a:latin typeface="Yu Gothic UI"/>
              </a:rPr>
              <a:t>設計中</a:t>
            </a:r>
          </a:p>
        </p:txBody>
      </p:sp>
      <p:cxnSp>
        <p:nvCxnSpPr>
          <p:cNvPr id="19" name="SDPM::strategy.initiative_portfolio::rule_1" title="SDPM::strategy.initiative_portfolio::rule_1" descr="SDPM::strategy.initiative_portfolio::rule_1"/>
          <p:cNvCxnSpPr/>
          <p:nvPr/>
        </p:nvCxnSpPr>
        <p:spPr>
          <a:xfrm>
            <a:off x="635000" y="3651250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DPM::strategy.initiative_portfolio::index_2" title="SDPM::strategy.initiative_portfolio::index_2" descr="SDPM::strategy.initiative_portfolio::index_2"/>
          <p:cNvSpPr txBox="1"/>
          <p:nvPr/>
        </p:nvSpPr>
        <p:spPr>
          <a:xfrm>
            <a:off x="635000" y="3714750"/>
            <a:ext cx="84836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800">
                <a:solidFill>
                  <a:srgbClr val="2B74B8"/>
                </a:solidFill>
                <a:latin typeface="Yu Gothic UI"/>
              </a:rPr>
              <a:t>03</a:t>
            </a:r>
          </a:p>
        </p:txBody>
      </p:sp>
      <p:sp>
        <p:nvSpPr>
          <p:cNvPr id="21" name="SDPM::strategy.initiative_portfolio::title_2" title="SDPM::strategy.initiative_portfolio::title_2" descr="SDPM::strategy.initiative_portfolio::title_2"/>
          <p:cNvSpPr txBox="1"/>
          <p:nvPr/>
        </p:nvSpPr>
        <p:spPr>
          <a:xfrm>
            <a:off x="1546860" y="3714750"/>
            <a:ext cx="402971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123039"/>
                </a:solidFill>
                <a:latin typeface="Yu Gothic UI"/>
              </a:rPr>
              <a:t>顧客データ基盤</a:t>
            </a:r>
          </a:p>
        </p:txBody>
      </p:sp>
      <p:sp>
        <p:nvSpPr>
          <p:cNvPr id="22" name="SDPM::strategy.initiative_portfolio::value_2" title="SDPM::strategy.initiative_portfolio::value_2" descr="SDPM::strategy.initiative_portfolio::value_2"/>
          <p:cNvSpPr txBox="1"/>
          <p:nvPr/>
        </p:nvSpPr>
        <p:spPr>
          <a:xfrm>
            <a:off x="5640070" y="3714750"/>
            <a:ext cx="148463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300">
                <a:solidFill>
                  <a:srgbClr val="00A6A6"/>
                </a:solidFill>
                <a:latin typeface="Yu Gothic UI"/>
              </a:rPr>
              <a:t>中</a:t>
            </a:r>
          </a:p>
        </p:txBody>
      </p:sp>
      <p:sp>
        <p:nvSpPr>
          <p:cNvPr id="23" name="SDPM::strategy.initiative_portfolio::effort_2" title="SDPM::strategy.initiative_portfolio::effort_2" descr="SDPM::strategy.initiative_portfolio::effort_2"/>
          <p:cNvSpPr txBox="1"/>
          <p:nvPr/>
        </p:nvSpPr>
        <p:spPr>
          <a:xfrm>
            <a:off x="7188200" y="3714750"/>
            <a:ext cx="127254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61737B"/>
                </a:solidFill>
                <a:latin typeface="Yu Gothic UI"/>
              </a:rPr>
              <a:t>高</a:t>
            </a:r>
          </a:p>
        </p:txBody>
      </p:sp>
      <p:sp>
        <p:nvSpPr>
          <p:cNvPr id="24" name="SDPM::strategy.initiative_portfolio::owner_2" title="SDPM::strategy.initiative_portfolio::owner_2" descr="SDPM::strategy.initiative_portfolio::owner_2"/>
          <p:cNvSpPr txBox="1"/>
          <p:nvPr/>
        </p:nvSpPr>
        <p:spPr>
          <a:xfrm>
            <a:off x="8524240" y="3714750"/>
            <a:ext cx="169672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61737B"/>
                </a:solidFill>
                <a:latin typeface="Yu Gothic UI"/>
              </a:rPr>
              <a:t>IT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責任者</a:t>
            </a:r>
          </a:p>
        </p:txBody>
      </p:sp>
      <p:sp>
        <p:nvSpPr>
          <p:cNvPr id="25" name="SDPM::strategy.initiative_portfolio::status_2" title="SDPM::strategy.initiative_portfolio::status_2" descr="SDPM::strategy.initiative_portfolio::status_2"/>
          <p:cNvSpPr/>
          <p:nvPr/>
        </p:nvSpPr>
        <p:spPr>
          <a:xfrm>
            <a:off x="10335260" y="3993388"/>
            <a:ext cx="1170940" cy="474662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0C2742"/>
                </a:solidFill>
                <a:latin typeface="Yu Gothic UI"/>
              </a:rPr>
              <a:t>準備</a:t>
            </a:r>
          </a:p>
        </p:txBody>
      </p:sp>
      <p:cxnSp>
        <p:nvCxnSpPr>
          <p:cNvPr id="26" name="SDPM::strategy.initiative_portfolio::rule_2" title="SDPM::strategy.initiative_portfolio::rule_2" descr="SDPM::strategy.initiative_portfolio::rule_2"/>
          <p:cNvCxnSpPr/>
          <p:nvPr/>
        </p:nvCxnSpPr>
        <p:spPr>
          <a:xfrm>
            <a:off x="635000" y="4746625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DPM::strategy.initiative_portfolio::index_3" title="SDPM::strategy.initiative_portfolio::index_3" descr="SDPM::strategy.initiative_portfolio::index_3"/>
          <p:cNvSpPr txBox="1"/>
          <p:nvPr/>
        </p:nvSpPr>
        <p:spPr>
          <a:xfrm>
            <a:off x="635000" y="4810125"/>
            <a:ext cx="84836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800">
                <a:solidFill>
                  <a:srgbClr val="2B74B8"/>
                </a:solidFill>
                <a:latin typeface="Yu Gothic UI"/>
              </a:rPr>
              <a:t>04</a:t>
            </a:r>
          </a:p>
        </p:txBody>
      </p:sp>
      <p:sp>
        <p:nvSpPr>
          <p:cNvPr id="28" name="SDPM::strategy.initiative_portfolio::title_3" title="SDPM::strategy.initiative_portfolio::title_3" descr="SDPM::strategy.initiative_portfolio::title_3"/>
          <p:cNvSpPr txBox="1"/>
          <p:nvPr/>
        </p:nvSpPr>
        <p:spPr>
          <a:xfrm>
            <a:off x="1546860" y="4810125"/>
            <a:ext cx="402971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123039"/>
                </a:solidFill>
                <a:latin typeface="Yu Gothic UI"/>
              </a:rPr>
              <a:t>部門展開プレイブック</a:t>
            </a:r>
          </a:p>
        </p:txBody>
      </p:sp>
      <p:sp>
        <p:nvSpPr>
          <p:cNvPr id="29" name="SDPM::strategy.initiative_portfolio::value_3" title="SDPM::strategy.initiative_portfolio::value_3" descr="SDPM::strategy.initiative_portfolio::value_3"/>
          <p:cNvSpPr txBox="1"/>
          <p:nvPr/>
        </p:nvSpPr>
        <p:spPr>
          <a:xfrm>
            <a:off x="5640070" y="4810125"/>
            <a:ext cx="148463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300">
                <a:solidFill>
                  <a:srgbClr val="00A6A6"/>
                </a:solidFill>
                <a:latin typeface="Yu Gothic UI"/>
              </a:rPr>
              <a:t>中</a:t>
            </a:r>
          </a:p>
        </p:txBody>
      </p:sp>
      <p:sp>
        <p:nvSpPr>
          <p:cNvPr id="30" name="SDPM::strategy.initiative_portfolio::effort_3" title="SDPM::strategy.initiative_portfolio::effort_3" descr="SDPM::strategy.initiative_portfolio::effort_3"/>
          <p:cNvSpPr txBox="1"/>
          <p:nvPr/>
        </p:nvSpPr>
        <p:spPr>
          <a:xfrm>
            <a:off x="7188200" y="4810125"/>
            <a:ext cx="127254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61737B"/>
                </a:solidFill>
                <a:latin typeface="Yu Gothic UI"/>
              </a:rPr>
              <a:t>中</a:t>
            </a:r>
          </a:p>
        </p:txBody>
      </p:sp>
      <p:sp>
        <p:nvSpPr>
          <p:cNvPr id="31" name="SDPM::strategy.initiative_portfolio::owner_3" title="SDPM::strategy.initiative_portfolio::owner_3" descr="SDPM::strategy.initiative_portfolio::owner_3"/>
          <p:cNvSpPr txBox="1"/>
          <p:nvPr/>
        </p:nvSpPr>
        <p:spPr>
          <a:xfrm>
            <a:off x="8524240" y="4810125"/>
            <a:ext cx="169672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61737B"/>
                </a:solidFill>
                <a:latin typeface="Yu Gothic UI"/>
              </a:rPr>
              <a:t>営業責任者</a:t>
            </a:r>
          </a:p>
        </p:txBody>
      </p:sp>
      <p:sp>
        <p:nvSpPr>
          <p:cNvPr id="32" name="SDPM::strategy.initiative_portfolio::status_3" title="SDPM::strategy.initiative_portfolio::status_3" descr="SDPM::strategy.initiative_portfolio::status_3"/>
          <p:cNvSpPr/>
          <p:nvPr/>
        </p:nvSpPr>
        <p:spPr>
          <a:xfrm>
            <a:off x="10335260" y="5088763"/>
            <a:ext cx="1170940" cy="474662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0C2742"/>
                </a:solidFill>
                <a:latin typeface="Yu Gothic UI"/>
              </a:rPr>
              <a:t>候補</a:t>
            </a:r>
          </a:p>
        </p:txBody>
      </p:sp>
      <p:cxnSp>
        <p:nvCxnSpPr>
          <p:cNvPr id="33" name="SDPM::strategy.initiative_portfolio::rule_3" title="SDPM::strategy.initiative_portfolio::rule_3" descr="SDPM::strategy.initiative_portfolio::rule_3"/>
          <p:cNvCxnSpPr/>
          <p:nvPr/>
        </p:nvCxnSpPr>
        <p:spPr>
          <a:xfrm>
            <a:off x="635000" y="5842000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Consulting Classic — composition, typography and reading path are theme-specific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0C2742"/>
                </a:solidFill>
                <a:latin typeface="Yu Gothic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execution.roadmap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DPM::execution.roadmap::arrow_0" title="SDPM::execution.roadmap::arrow_0" descr="SDPM::execution.roadmap::arrow_0"/>
          <p:cNvCxnSpPr/>
          <p:nvPr/>
        </p:nvCxnSpPr>
        <p:spPr>
          <a:xfrm>
            <a:off x="2105342" y="2301240"/>
            <a:ext cx="1546543" cy="0"/>
          </a:xfrm>
          <a:prstGeom prst="line">
            <a:avLst/>
          </a:prstGeom>
          <a:ln w="38100">
            <a:solidFill>
              <a:srgbClr val="00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DPM::execution.roadmap::node_0" title="SDPM::execution.roadmap::node_0" descr="SDPM::execution.roadmap::node_0"/>
          <p:cNvSpPr/>
          <p:nvPr/>
        </p:nvSpPr>
        <p:spPr>
          <a:xfrm>
            <a:off x="1819275" y="1889760"/>
            <a:ext cx="304800" cy="304800"/>
          </a:xfrm>
          <a:prstGeom prst="ellipse">
            <a:avLst/>
          </a:prstGeom>
          <a:solidFill>
            <a:srgbClr val="0C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SDPM::execution.roadmap::period_0" title="SDPM::execution.roadmap::period_0" descr="SDPM::execution.roadmap::period_0"/>
          <p:cNvSpPr txBox="1"/>
          <p:nvPr/>
        </p:nvSpPr>
        <p:spPr>
          <a:xfrm>
            <a:off x="635000" y="2473960"/>
            <a:ext cx="267335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sz="1200">
                <a:solidFill>
                  <a:srgbClr val="00A6A6"/>
                </a:solidFill>
                <a:latin typeface="Yu Gothic UI"/>
              </a:rPr>
              <a:t>0-30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日</a:t>
            </a:r>
          </a:p>
        </p:txBody>
      </p:sp>
      <p:sp>
        <p:nvSpPr>
          <p:cNvPr id="9" name="SDPM::execution.roadmap::title_0" title="SDPM::execution.roadmap::title_0" descr="SDPM::execution.roadmap::title_0"/>
          <p:cNvSpPr txBox="1"/>
          <p:nvPr/>
        </p:nvSpPr>
        <p:spPr>
          <a:xfrm>
            <a:off x="635000" y="2862580"/>
            <a:ext cx="267335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600">
                <a:solidFill>
                  <a:srgbClr val="123039"/>
                </a:solidFill>
                <a:latin typeface="Yu Gothic UI"/>
              </a:rPr>
              <a:t>設計</a:t>
            </a:r>
          </a:p>
        </p:txBody>
      </p:sp>
      <p:sp>
        <p:nvSpPr>
          <p:cNvPr id="10" name="SDPM::execution.roadmap::items_0" title="SDPM::execution.roadmap::items_0" descr="SDPM::execution.roadmap::items_0"/>
          <p:cNvSpPr txBox="1"/>
          <p:nvPr/>
        </p:nvSpPr>
        <p:spPr>
          <a:xfrm>
            <a:off x="711200" y="3553460"/>
            <a:ext cx="2520950" cy="202946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顧客課題定義</a:t>
            </a:r>
          </a:p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成果</a:t>
            </a:r>
            <a:r>
              <a:rPr sz="1200">
                <a:solidFill>
                  <a:srgbClr val="61737B"/>
                </a:solidFill>
                <a:latin typeface="Yu Gothic UI"/>
              </a:rPr>
              <a:t> KPI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設定</a:t>
            </a:r>
          </a:p>
        </p:txBody>
      </p:sp>
      <p:cxnSp>
        <p:nvCxnSpPr>
          <p:cNvPr id="11" name="SDPM::execution.roadmap::arrow_1" title="SDPM::execution.roadmap::arrow_1" descr="SDPM::execution.roadmap::arrow_1"/>
          <p:cNvCxnSpPr/>
          <p:nvPr/>
        </p:nvCxnSpPr>
        <p:spPr>
          <a:xfrm>
            <a:off x="4854892" y="2301240"/>
            <a:ext cx="1546543" cy="0"/>
          </a:xfrm>
          <a:prstGeom prst="line">
            <a:avLst/>
          </a:prstGeom>
          <a:ln w="38100">
            <a:solidFill>
              <a:srgbClr val="00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DPM::execution.roadmap::node_1" title="SDPM::execution.roadmap::node_1" descr="SDPM::execution.roadmap::node_1"/>
          <p:cNvSpPr/>
          <p:nvPr/>
        </p:nvSpPr>
        <p:spPr>
          <a:xfrm>
            <a:off x="4568825" y="1889760"/>
            <a:ext cx="304800" cy="304800"/>
          </a:xfrm>
          <a:prstGeom prst="ellipse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SDPM::execution.roadmap::period_1" title="SDPM::execution.roadmap::period_1" descr="SDPM::execution.roadmap::period_1"/>
          <p:cNvSpPr txBox="1"/>
          <p:nvPr/>
        </p:nvSpPr>
        <p:spPr>
          <a:xfrm>
            <a:off x="3384550" y="2473960"/>
            <a:ext cx="267335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sz="1200">
                <a:solidFill>
                  <a:srgbClr val="00A6A6"/>
                </a:solidFill>
                <a:latin typeface="Yu Gothic UI"/>
              </a:rPr>
              <a:t>31-90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日</a:t>
            </a:r>
          </a:p>
        </p:txBody>
      </p:sp>
      <p:sp>
        <p:nvSpPr>
          <p:cNvPr id="14" name="SDPM::execution.roadmap::title_1" title="SDPM::execution.roadmap::title_1" descr="SDPM::execution.roadmap::title_1"/>
          <p:cNvSpPr txBox="1"/>
          <p:nvPr/>
        </p:nvSpPr>
        <p:spPr>
          <a:xfrm>
            <a:off x="3384550" y="2862580"/>
            <a:ext cx="267335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600">
                <a:solidFill>
                  <a:srgbClr val="123039"/>
                </a:solidFill>
                <a:latin typeface="Yu Gothic UI"/>
              </a:rPr>
              <a:t>パイロット</a:t>
            </a:r>
          </a:p>
        </p:txBody>
      </p:sp>
      <p:sp>
        <p:nvSpPr>
          <p:cNvPr id="15" name="SDPM::execution.roadmap::items_1" title="SDPM::execution.roadmap::items_1" descr="SDPM::execution.roadmap::items_1"/>
          <p:cNvSpPr txBox="1"/>
          <p:nvPr/>
        </p:nvSpPr>
        <p:spPr>
          <a:xfrm>
            <a:off x="3460750" y="3553460"/>
            <a:ext cx="2520950" cy="202946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重点顧客で実装</a:t>
            </a:r>
          </a:p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効果測定</a:t>
            </a:r>
          </a:p>
        </p:txBody>
      </p:sp>
      <p:cxnSp>
        <p:nvCxnSpPr>
          <p:cNvPr id="16" name="SDPM::execution.roadmap::arrow_2" title="SDPM::execution.roadmap::arrow_2" descr="SDPM::execution.roadmap::arrow_2"/>
          <p:cNvCxnSpPr/>
          <p:nvPr/>
        </p:nvCxnSpPr>
        <p:spPr>
          <a:xfrm>
            <a:off x="7604442" y="2301240"/>
            <a:ext cx="1546543" cy="0"/>
          </a:xfrm>
          <a:prstGeom prst="line">
            <a:avLst/>
          </a:prstGeom>
          <a:ln w="38100">
            <a:solidFill>
              <a:srgbClr val="00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DPM::execution.roadmap::node_2" title="SDPM::execution.roadmap::node_2" descr="SDPM::execution.roadmap::node_2"/>
          <p:cNvSpPr/>
          <p:nvPr/>
        </p:nvSpPr>
        <p:spPr>
          <a:xfrm>
            <a:off x="7318375" y="1889760"/>
            <a:ext cx="304800" cy="304800"/>
          </a:xfrm>
          <a:prstGeom prst="ellipse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SDPM::execution.roadmap::period_2" title="SDPM::execution.roadmap::period_2" descr="SDPM::execution.roadmap::period_2"/>
          <p:cNvSpPr txBox="1"/>
          <p:nvPr/>
        </p:nvSpPr>
        <p:spPr>
          <a:xfrm>
            <a:off x="6134100" y="2473960"/>
            <a:ext cx="267335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sz="1200">
                <a:solidFill>
                  <a:srgbClr val="00A6A6"/>
                </a:solidFill>
                <a:latin typeface="Yu Gothic UI"/>
              </a:rPr>
              <a:t>4-6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か月</a:t>
            </a:r>
          </a:p>
        </p:txBody>
      </p:sp>
      <p:sp>
        <p:nvSpPr>
          <p:cNvPr id="19" name="SDPM::execution.roadmap::title_2" title="SDPM::execution.roadmap::title_2" descr="SDPM::execution.roadmap::title_2"/>
          <p:cNvSpPr txBox="1"/>
          <p:nvPr/>
        </p:nvSpPr>
        <p:spPr>
          <a:xfrm>
            <a:off x="6134100" y="2862580"/>
            <a:ext cx="267335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600">
                <a:solidFill>
                  <a:srgbClr val="123039"/>
                </a:solidFill>
                <a:latin typeface="Yu Gothic UI"/>
              </a:rPr>
              <a:t>標準化</a:t>
            </a:r>
          </a:p>
        </p:txBody>
      </p:sp>
      <p:sp>
        <p:nvSpPr>
          <p:cNvPr id="20" name="SDPM::execution.roadmap::items_2" title="SDPM::execution.roadmap::items_2" descr="SDPM::execution.roadmap::items_2"/>
          <p:cNvSpPr txBox="1"/>
          <p:nvPr/>
        </p:nvSpPr>
        <p:spPr>
          <a:xfrm>
            <a:off x="6210300" y="3553460"/>
            <a:ext cx="2520950" cy="202946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業務標準化</a:t>
            </a:r>
          </a:p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教育・データ整備</a:t>
            </a:r>
          </a:p>
        </p:txBody>
      </p:sp>
      <p:sp>
        <p:nvSpPr>
          <p:cNvPr id="21" name="SDPM::execution.roadmap::node_3" title="SDPM::execution.roadmap::node_3" descr="SDPM::execution.roadmap::node_3"/>
          <p:cNvSpPr/>
          <p:nvPr/>
        </p:nvSpPr>
        <p:spPr>
          <a:xfrm>
            <a:off x="10067925" y="1889760"/>
            <a:ext cx="304800" cy="304800"/>
          </a:xfrm>
          <a:prstGeom prst="ellipse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SDPM::execution.roadmap::period_3" title="SDPM::execution.roadmap::period_3" descr="SDPM::execution.roadmap::period_3"/>
          <p:cNvSpPr txBox="1"/>
          <p:nvPr/>
        </p:nvSpPr>
        <p:spPr>
          <a:xfrm>
            <a:off x="8883650" y="2473960"/>
            <a:ext cx="267335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sz="1200">
                <a:solidFill>
                  <a:srgbClr val="00A6A6"/>
                </a:solidFill>
                <a:latin typeface="Yu Gothic UI"/>
              </a:rPr>
              <a:t>7-12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か月</a:t>
            </a:r>
          </a:p>
        </p:txBody>
      </p:sp>
      <p:sp>
        <p:nvSpPr>
          <p:cNvPr id="23" name="SDPM::execution.roadmap::title_3" title="SDPM::execution.roadmap::title_3" descr="SDPM::execution.roadmap::title_3"/>
          <p:cNvSpPr txBox="1"/>
          <p:nvPr/>
        </p:nvSpPr>
        <p:spPr>
          <a:xfrm>
            <a:off x="8883650" y="2862580"/>
            <a:ext cx="267335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600">
                <a:solidFill>
                  <a:srgbClr val="123039"/>
                </a:solidFill>
                <a:latin typeface="Yu Gothic UI"/>
              </a:rPr>
              <a:t>展開</a:t>
            </a:r>
          </a:p>
        </p:txBody>
      </p:sp>
      <p:sp>
        <p:nvSpPr>
          <p:cNvPr id="24" name="SDPM::execution.roadmap::items_3" title="SDPM::execution.roadmap::items_3" descr="SDPM::execution.roadmap::items_3"/>
          <p:cNvSpPr txBox="1"/>
          <p:nvPr/>
        </p:nvSpPr>
        <p:spPr>
          <a:xfrm>
            <a:off x="8959850" y="3553460"/>
            <a:ext cx="2520950" cy="202946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全社展開</a:t>
            </a:r>
          </a:p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収益モデル更新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Consulting Classic — composition, typography and reading path are theme-specific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0C2742"/>
                </a:solidFill>
                <a:latin typeface="Yu Gothic UI"/>
              </a:rPr>
              <a:t>Gantt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execution.gantt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execution.gantt::head_task" title="SDPM::execution.gantt::head_task" descr="SDPM::execution.gantt::head_task"/>
          <p:cNvSpPr/>
          <p:nvPr/>
        </p:nvSpPr>
        <p:spPr>
          <a:xfrm>
            <a:off x="635000" y="1524000"/>
            <a:ext cx="2730500" cy="604520"/>
          </a:xfrm>
          <a:prstGeom prst="roundRect">
            <a:avLst/>
          </a:prstGeom>
          <a:solidFill>
            <a:srgbClr val="0C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WORKSTREAM</a:t>
            </a:r>
          </a:p>
        </p:txBody>
      </p:sp>
      <p:sp>
        <p:nvSpPr>
          <p:cNvPr id="7" name="SDPM::execution.gantt::period_0" title="SDPM::execution.gantt::period_0" descr="SDPM::execution.gantt::period_0"/>
          <p:cNvSpPr/>
          <p:nvPr/>
        </p:nvSpPr>
        <p:spPr>
          <a:xfrm>
            <a:off x="3365500" y="1524000"/>
            <a:ext cx="2047875" cy="604520"/>
          </a:xfrm>
          <a:prstGeom prst="roundRect">
            <a:avLst/>
          </a:prstGeom>
          <a:solidFill>
            <a:srgbClr val="0C274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Q1</a:t>
            </a:r>
          </a:p>
        </p:txBody>
      </p:sp>
      <p:sp>
        <p:nvSpPr>
          <p:cNvPr id="8" name="SDPM::execution.gantt::period_1" title="SDPM::execution.gantt::period_1" descr="SDPM::execution.gantt::period_1"/>
          <p:cNvSpPr/>
          <p:nvPr/>
        </p:nvSpPr>
        <p:spPr>
          <a:xfrm>
            <a:off x="5413375" y="1524000"/>
            <a:ext cx="2047875" cy="604520"/>
          </a:xfrm>
          <a:prstGeom prst="roundRect">
            <a:avLst/>
          </a:prstGeom>
          <a:solidFill>
            <a:srgbClr val="0C274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Q2</a:t>
            </a:r>
          </a:p>
        </p:txBody>
      </p:sp>
      <p:sp>
        <p:nvSpPr>
          <p:cNvPr id="9" name="SDPM::execution.gantt::period_2" title="SDPM::execution.gantt::period_2" descr="SDPM::execution.gantt::period_2"/>
          <p:cNvSpPr/>
          <p:nvPr/>
        </p:nvSpPr>
        <p:spPr>
          <a:xfrm>
            <a:off x="7461250" y="1524000"/>
            <a:ext cx="2047875" cy="604520"/>
          </a:xfrm>
          <a:prstGeom prst="roundRect">
            <a:avLst/>
          </a:prstGeom>
          <a:solidFill>
            <a:srgbClr val="0C274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Q3</a:t>
            </a:r>
          </a:p>
        </p:txBody>
      </p:sp>
      <p:sp>
        <p:nvSpPr>
          <p:cNvPr id="10" name="SDPM::execution.gantt::period_3" title="SDPM::execution.gantt::period_3" descr="SDPM::execution.gantt::period_3"/>
          <p:cNvSpPr/>
          <p:nvPr/>
        </p:nvSpPr>
        <p:spPr>
          <a:xfrm>
            <a:off x="9509125" y="1524000"/>
            <a:ext cx="2047875" cy="604520"/>
          </a:xfrm>
          <a:prstGeom prst="roundRect">
            <a:avLst/>
          </a:prstGeom>
          <a:solidFill>
            <a:srgbClr val="0C274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Q4</a:t>
            </a:r>
          </a:p>
        </p:txBody>
      </p:sp>
      <p:sp>
        <p:nvSpPr>
          <p:cNvPr id="11" name="SDPM::execution.gantt::label_0" title="SDPM::execution.gantt::label_0" descr="SDPM::execution.gantt::label_0"/>
          <p:cNvSpPr/>
          <p:nvPr/>
        </p:nvSpPr>
        <p:spPr>
          <a:xfrm>
            <a:off x="635000" y="2128520"/>
            <a:ext cx="2730500" cy="92836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76200" rIns="76200" bIns="76200"/>
          <a:lstStyle/>
          <a:p>
            <a:pPr algn="l"/>
            <a:r>
              <a:rPr lang="ja-JP" sz="1200">
                <a:solidFill>
                  <a:srgbClr val="123039"/>
                </a:solidFill>
                <a:latin typeface="Yu Gothic UI"/>
              </a:rPr>
              <a:t>オンボーディング</a:t>
            </a:r>
          </a:p>
        </p:txBody>
      </p:sp>
      <p:sp>
        <p:nvSpPr>
          <p:cNvPr id="12" name="SDPM::execution.gantt::timeline_0" title="SDPM::execution.gantt::timeline_0" descr="SDPM::execution.gantt::timeline_0"/>
          <p:cNvSpPr/>
          <p:nvPr/>
        </p:nvSpPr>
        <p:spPr>
          <a:xfrm>
            <a:off x="3365500" y="2128520"/>
            <a:ext cx="8191500" cy="92836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SDPM::execution.gantt::grid_0_1" title="SDPM::execution.gantt::grid_0_1" descr="SDPM::execution.gantt::grid_0_1"/>
          <p:cNvCxnSpPr/>
          <p:nvPr/>
        </p:nvCxnSpPr>
        <p:spPr>
          <a:xfrm>
            <a:off x="5413375" y="2128520"/>
            <a:ext cx="0" cy="92837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DPM::execution.gantt::grid_0_2" title="SDPM::execution.gantt::grid_0_2" descr="SDPM::execution.gantt::grid_0_2"/>
          <p:cNvCxnSpPr/>
          <p:nvPr/>
        </p:nvCxnSpPr>
        <p:spPr>
          <a:xfrm>
            <a:off x="7461250" y="2128520"/>
            <a:ext cx="0" cy="92837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DPM::execution.gantt::grid_0_3" title="SDPM::execution.gantt::grid_0_3" descr="SDPM::execution.gantt::grid_0_3"/>
          <p:cNvCxnSpPr/>
          <p:nvPr/>
        </p:nvCxnSpPr>
        <p:spPr>
          <a:xfrm>
            <a:off x="9509125" y="2128520"/>
            <a:ext cx="0" cy="92837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DPM::execution.gantt::bar_0" title="SDPM::execution.gantt::bar_0" descr="SDPM::execution.gantt::bar_0"/>
          <p:cNvSpPr/>
          <p:nvPr/>
        </p:nvSpPr>
        <p:spPr>
          <a:xfrm>
            <a:off x="3397250" y="2397760"/>
            <a:ext cx="4032250" cy="38989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DPM::execution.gantt::milestone_0" title="SDPM::execution.gantt::milestone_0" descr="SDPM::execution.gantt::milestone_0"/>
          <p:cNvSpPr/>
          <p:nvPr/>
        </p:nvSpPr>
        <p:spPr>
          <a:xfrm>
            <a:off x="6386512" y="2541905"/>
            <a:ext cx="101600" cy="101600"/>
          </a:xfrm>
          <a:prstGeom prst="diamond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DPM::execution.gantt::label_1" title="SDPM::execution.gantt::label_1" descr="SDPM::execution.gantt::label_1"/>
          <p:cNvSpPr/>
          <p:nvPr/>
        </p:nvSpPr>
        <p:spPr>
          <a:xfrm>
            <a:off x="635000" y="3056890"/>
            <a:ext cx="2730500" cy="928369"/>
          </a:xfrm>
          <a:prstGeom prst="rect">
            <a:avLst/>
          </a:prstGeom>
          <a:solidFill>
            <a:srgbClr val="E7F2F3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76200" rIns="76200" bIns="76200"/>
          <a:lstStyle/>
          <a:p>
            <a:pPr algn="l"/>
            <a:r>
              <a:rPr lang="ja-JP" sz="1200">
                <a:solidFill>
                  <a:srgbClr val="123039"/>
                </a:solidFill>
                <a:latin typeface="Yu Gothic UI"/>
              </a:rPr>
              <a:t>価格・契約</a:t>
            </a:r>
          </a:p>
        </p:txBody>
      </p:sp>
      <p:sp>
        <p:nvSpPr>
          <p:cNvPr id="19" name="SDPM::execution.gantt::timeline_1" title="SDPM::execution.gantt::timeline_1" descr="SDPM::execution.gantt::timeline_1"/>
          <p:cNvSpPr/>
          <p:nvPr/>
        </p:nvSpPr>
        <p:spPr>
          <a:xfrm>
            <a:off x="3365500" y="3056890"/>
            <a:ext cx="8191500" cy="928369"/>
          </a:xfrm>
          <a:prstGeom prst="rect">
            <a:avLst/>
          </a:prstGeom>
          <a:solidFill>
            <a:srgbClr val="E7F2F3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SDPM::execution.gantt::grid_1_1" title="SDPM::execution.gantt::grid_1_1" descr="SDPM::execution.gantt::grid_1_1"/>
          <p:cNvCxnSpPr/>
          <p:nvPr/>
        </p:nvCxnSpPr>
        <p:spPr>
          <a:xfrm>
            <a:off x="5413375" y="3056890"/>
            <a:ext cx="0" cy="92837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DPM::execution.gantt::grid_1_2" title="SDPM::execution.gantt::grid_1_2" descr="SDPM::execution.gantt::grid_1_2"/>
          <p:cNvCxnSpPr/>
          <p:nvPr/>
        </p:nvCxnSpPr>
        <p:spPr>
          <a:xfrm>
            <a:off x="7461250" y="3056890"/>
            <a:ext cx="0" cy="92837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DPM::execution.gantt::grid_1_3" title="SDPM::execution.gantt::grid_1_3" descr="SDPM::execution.gantt::grid_1_3"/>
          <p:cNvCxnSpPr/>
          <p:nvPr/>
        </p:nvCxnSpPr>
        <p:spPr>
          <a:xfrm>
            <a:off x="9509125" y="3056890"/>
            <a:ext cx="0" cy="92837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DPM::execution.gantt::bar_1" title="SDPM::execution.gantt::bar_1" descr="SDPM::execution.gantt::bar_1"/>
          <p:cNvSpPr/>
          <p:nvPr/>
        </p:nvSpPr>
        <p:spPr>
          <a:xfrm>
            <a:off x="3397250" y="3326129"/>
            <a:ext cx="6080125" cy="389890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DPM::execution.gantt::label_2" title="SDPM::execution.gantt::label_2" descr="SDPM::execution.gantt::label_2"/>
          <p:cNvSpPr/>
          <p:nvPr/>
        </p:nvSpPr>
        <p:spPr>
          <a:xfrm>
            <a:off x="635000" y="3985260"/>
            <a:ext cx="2730500" cy="92836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76200" rIns="76200" bIns="76200"/>
          <a:lstStyle/>
          <a:p>
            <a:pPr algn="l"/>
            <a:r>
              <a:rPr lang="ja-JP" sz="1200">
                <a:solidFill>
                  <a:srgbClr val="123039"/>
                </a:solidFill>
                <a:latin typeface="Yu Gothic UI"/>
              </a:rPr>
              <a:t>顧客データ</a:t>
            </a:r>
          </a:p>
        </p:txBody>
      </p:sp>
      <p:sp>
        <p:nvSpPr>
          <p:cNvPr id="25" name="SDPM::execution.gantt::timeline_2" title="SDPM::execution.gantt::timeline_2" descr="SDPM::execution.gantt::timeline_2"/>
          <p:cNvSpPr/>
          <p:nvPr/>
        </p:nvSpPr>
        <p:spPr>
          <a:xfrm>
            <a:off x="3365500" y="3985260"/>
            <a:ext cx="8191500" cy="92836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SDPM::execution.gantt::grid_2_1" title="SDPM::execution.gantt::grid_2_1" descr="SDPM::execution.gantt::grid_2_1"/>
          <p:cNvCxnSpPr/>
          <p:nvPr/>
        </p:nvCxnSpPr>
        <p:spPr>
          <a:xfrm>
            <a:off x="5413375" y="3985260"/>
            <a:ext cx="0" cy="92837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DPM::execution.gantt::grid_2_2" title="SDPM::execution.gantt::grid_2_2" descr="SDPM::execution.gantt::grid_2_2"/>
          <p:cNvCxnSpPr/>
          <p:nvPr/>
        </p:nvCxnSpPr>
        <p:spPr>
          <a:xfrm>
            <a:off x="7461250" y="3985260"/>
            <a:ext cx="0" cy="92837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DPM::execution.gantt::grid_2_3" title="SDPM::execution.gantt::grid_2_3" descr="SDPM::execution.gantt::grid_2_3"/>
          <p:cNvCxnSpPr/>
          <p:nvPr/>
        </p:nvCxnSpPr>
        <p:spPr>
          <a:xfrm>
            <a:off x="9509125" y="3985260"/>
            <a:ext cx="0" cy="92837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DPM::execution.gantt::bar_2" title="SDPM::execution.gantt::bar_2" descr="SDPM::execution.gantt::bar_2"/>
          <p:cNvSpPr/>
          <p:nvPr/>
        </p:nvSpPr>
        <p:spPr>
          <a:xfrm>
            <a:off x="5445125" y="4254500"/>
            <a:ext cx="6080125" cy="389890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DPM::execution.gantt::label_3" title="SDPM::execution.gantt::label_3" descr="SDPM::execution.gantt::label_3"/>
          <p:cNvSpPr/>
          <p:nvPr/>
        </p:nvSpPr>
        <p:spPr>
          <a:xfrm>
            <a:off x="635000" y="4913630"/>
            <a:ext cx="2730500" cy="928369"/>
          </a:xfrm>
          <a:prstGeom prst="rect">
            <a:avLst/>
          </a:prstGeom>
          <a:solidFill>
            <a:srgbClr val="E7F2F3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76200" rIns="76200" bIns="76200"/>
          <a:lstStyle/>
          <a:p>
            <a:pPr algn="l"/>
            <a:r>
              <a:rPr lang="ja-JP" sz="1200">
                <a:solidFill>
                  <a:srgbClr val="123039"/>
                </a:solidFill>
                <a:latin typeface="Yu Gothic UI"/>
              </a:rPr>
              <a:t>全社展開</a:t>
            </a:r>
          </a:p>
        </p:txBody>
      </p:sp>
      <p:sp>
        <p:nvSpPr>
          <p:cNvPr id="31" name="SDPM::execution.gantt::timeline_3" title="SDPM::execution.gantt::timeline_3" descr="SDPM::execution.gantt::timeline_3"/>
          <p:cNvSpPr/>
          <p:nvPr/>
        </p:nvSpPr>
        <p:spPr>
          <a:xfrm>
            <a:off x="3365500" y="4913630"/>
            <a:ext cx="8191500" cy="928369"/>
          </a:xfrm>
          <a:prstGeom prst="rect">
            <a:avLst/>
          </a:prstGeom>
          <a:solidFill>
            <a:srgbClr val="E7F2F3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SDPM::execution.gantt::grid_3_1" title="SDPM::execution.gantt::grid_3_1" descr="SDPM::execution.gantt::grid_3_1"/>
          <p:cNvCxnSpPr/>
          <p:nvPr/>
        </p:nvCxnSpPr>
        <p:spPr>
          <a:xfrm>
            <a:off x="5413375" y="4913630"/>
            <a:ext cx="0" cy="92837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DPM::execution.gantt::grid_3_2" title="SDPM::execution.gantt::grid_3_2" descr="SDPM::execution.gantt::grid_3_2"/>
          <p:cNvCxnSpPr/>
          <p:nvPr/>
        </p:nvCxnSpPr>
        <p:spPr>
          <a:xfrm>
            <a:off x="7461250" y="4913630"/>
            <a:ext cx="0" cy="92837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DPM::execution.gantt::grid_3_3" title="SDPM::execution.gantt::grid_3_3" descr="SDPM::execution.gantt::grid_3_3"/>
          <p:cNvCxnSpPr/>
          <p:nvPr/>
        </p:nvCxnSpPr>
        <p:spPr>
          <a:xfrm>
            <a:off x="9509125" y="4913630"/>
            <a:ext cx="0" cy="92837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DPM::execution.gantt::bar_3" title="SDPM::execution.gantt::bar_3" descr="SDPM::execution.gantt::bar_3"/>
          <p:cNvSpPr/>
          <p:nvPr/>
        </p:nvSpPr>
        <p:spPr>
          <a:xfrm>
            <a:off x="7493000" y="5182870"/>
            <a:ext cx="4032250" cy="389890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DPM::execution.gantt::milestone_3" title="SDPM::execution.gantt::milestone_3" descr="SDPM::execution.gantt::milestone_3"/>
          <p:cNvSpPr/>
          <p:nvPr/>
        </p:nvSpPr>
        <p:spPr>
          <a:xfrm>
            <a:off x="10482262" y="5327015"/>
            <a:ext cx="101600" cy="101600"/>
          </a:xfrm>
          <a:prstGeom prst="diamond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Consulting Classic — composition, typography and reading path are theme-specific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0C2742"/>
                </a:solidFill>
                <a:latin typeface="Yu Gothic UI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execution.governance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execution.governance::level_0" title="SDPM::execution.governance::level_0" descr="SDPM::execution.governance::level_0"/>
          <p:cNvSpPr/>
          <p:nvPr/>
        </p:nvSpPr>
        <p:spPr>
          <a:xfrm>
            <a:off x="2491740" y="1524000"/>
            <a:ext cx="7208520" cy="1363154"/>
          </a:xfrm>
          <a:prstGeom prst="roundRect">
            <a:avLst/>
          </a:prstGeom>
          <a:solidFill>
            <a:srgbClr val="0C2742"/>
          </a:solidFill>
          <a:ln>
            <a:noFill/>
          </a:ln>
          <a:effectLst>
            <a:outerShdw blurRad="50800" dist="19050" dir="8100000" algn="bl" rotWithShape="0">
              <a:srgbClr val="0E343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114300" rIns="114300" bIns="114300"/>
          <a:lstStyle/>
          <a:p>
            <a:pPr algn="ctr"/>
            <a:r>
              <a:rPr sz="1700">
                <a:solidFill>
                  <a:srgbClr val="FFFFFF"/>
                </a:solidFill>
                <a:latin typeface="Aptos"/>
              </a:rPr>
              <a:t>Steering Committee</a:t>
            </a:r>
          </a:p>
        </p:txBody>
      </p:sp>
      <p:sp>
        <p:nvSpPr>
          <p:cNvPr id="7" name="SDPM::execution.governance::detail_0" title="SDPM::execution.governance::detail_0" descr="SDPM::execution.governance::detail_0"/>
          <p:cNvSpPr txBox="1"/>
          <p:nvPr/>
        </p:nvSpPr>
        <p:spPr>
          <a:xfrm>
            <a:off x="6456426" y="1524000"/>
            <a:ext cx="3027553" cy="13631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200">
                <a:solidFill>
                  <a:srgbClr val="FFFFFF"/>
                </a:solidFill>
                <a:latin typeface="Yu Gothic UI"/>
              </a:rPr>
              <a:t>月次・投資判断</a:t>
            </a:r>
          </a:p>
        </p:txBody>
      </p:sp>
      <p:cxnSp>
        <p:nvCxnSpPr>
          <p:cNvPr id="8" name="SDPM::execution.governance::link_0" title="SDPM::execution.governance::link_0" descr="SDPM::execution.governance::link_0"/>
          <p:cNvCxnSpPr/>
          <p:nvPr/>
        </p:nvCxnSpPr>
        <p:spPr>
          <a:xfrm>
            <a:off x="6096000" y="2887154"/>
            <a:ext cx="0" cy="114300"/>
          </a:xfrm>
          <a:prstGeom prst="line">
            <a:avLst/>
          </a:prstGeom>
          <a:ln w="25400">
            <a:solidFill>
              <a:srgbClr val="00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DPM::execution.governance::level_1" title="SDPM::execution.governance::level_1" descr="SDPM::execution.governance::level_1"/>
          <p:cNvSpPr/>
          <p:nvPr/>
        </p:nvSpPr>
        <p:spPr>
          <a:xfrm>
            <a:off x="1945639" y="3001454"/>
            <a:ext cx="8300720" cy="1363154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114300" rIns="114300" bIns="114300"/>
          <a:lstStyle/>
          <a:p>
            <a:pPr algn="ctr"/>
            <a:r>
              <a:rPr sz="1700">
                <a:solidFill>
                  <a:srgbClr val="FFFFFF"/>
                </a:solidFill>
                <a:latin typeface="Aptos"/>
              </a:rPr>
              <a:t>Program Office</a:t>
            </a:r>
          </a:p>
        </p:txBody>
      </p:sp>
      <p:sp>
        <p:nvSpPr>
          <p:cNvPr id="10" name="SDPM::execution.governance::detail_1" title="SDPM::execution.governance::detail_1" descr="SDPM::execution.governance::detail_1"/>
          <p:cNvSpPr txBox="1"/>
          <p:nvPr/>
        </p:nvSpPr>
        <p:spPr>
          <a:xfrm>
            <a:off x="6511035" y="3001454"/>
            <a:ext cx="3486277" cy="13631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200">
                <a:solidFill>
                  <a:srgbClr val="FFFFFF"/>
                </a:solidFill>
                <a:latin typeface="Yu Gothic UI"/>
              </a:rPr>
              <a:t>週次・横断課題</a:t>
            </a:r>
          </a:p>
        </p:txBody>
      </p:sp>
      <p:cxnSp>
        <p:nvCxnSpPr>
          <p:cNvPr id="11" name="SDPM::execution.governance::link_1" title="SDPM::execution.governance::link_1" descr="SDPM::execution.governance::link_1"/>
          <p:cNvCxnSpPr/>
          <p:nvPr/>
        </p:nvCxnSpPr>
        <p:spPr>
          <a:xfrm>
            <a:off x="6096000" y="4364545"/>
            <a:ext cx="0" cy="114300"/>
          </a:xfrm>
          <a:prstGeom prst="line">
            <a:avLst/>
          </a:prstGeom>
          <a:ln w="25400">
            <a:solidFill>
              <a:srgbClr val="00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DPM::execution.governance::level_2" title="SDPM::execution.governance::level_2" descr="SDPM::execution.governance::level_2"/>
          <p:cNvSpPr/>
          <p:nvPr/>
        </p:nvSpPr>
        <p:spPr>
          <a:xfrm>
            <a:off x="1399540" y="4478845"/>
            <a:ext cx="9392920" cy="136315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114300" rIns="114300" bIns="114300"/>
          <a:lstStyle/>
          <a:p>
            <a:pPr algn="ctr"/>
            <a:r>
              <a:rPr sz="1700">
                <a:solidFill>
                  <a:srgbClr val="123039"/>
                </a:solidFill>
                <a:latin typeface="Aptos"/>
              </a:rPr>
              <a:t>Workstreams</a:t>
            </a:r>
          </a:p>
        </p:txBody>
      </p:sp>
      <p:sp>
        <p:nvSpPr>
          <p:cNvPr id="13" name="SDPM::execution.governance::detail_2" title="SDPM::execution.governance::detail_2" descr="SDPM::execution.governance::detail_2"/>
          <p:cNvSpPr txBox="1"/>
          <p:nvPr/>
        </p:nvSpPr>
        <p:spPr>
          <a:xfrm>
            <a:off x="6565646" y="4478845"/>
            <a:ext cx="3945001" cy="13631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200">
                <a:solidFill>
                  <a:srgbClr val="61737B"/>
                </a:solidFill>
                <a:latin typeface="Yu Gothic UI"/>
              </a:rPr>
              <a:t>日次・実行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Consulting Classic — composition, typography and reading path are theme-specific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0C2742"/>
                </a:solidFill>
                <a:latin typeface="Yu Gothic UI"/>
              </a:rPr>
              <a:t>KPI Cascade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execution.kpi_cascade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execution.kpi_cascade::top" title="SDPM::execution.kpi_cascade::top" descr="SDPM::execution.kpi_cascade::top"/>
          <p:cNvSpPr/>
          <p:nvPr/>
        </p:nvSpPr>
        <p:spPr>
          <a:xfrm>
            <a:off x="3693160" y="1524000"/>
            <a:ext cx="4805680" cy="863600"/>
          </a:xfrm>
          <a:prstGeom prst="roundRect">
            <a:avLst/>
          </a:prstGeom>
          <a:solidFill>
            <a:srgbClr val="0C2742"/>
          </a:solidFill>
          <a:ln>
            <a:noFill/>
          </a:ln>
          <a:effectLst>
            <a:outerShdw blurRad="101600" dist="44450" dir="8100000" algn="bl" rotWithShape="0">
              <a:srgbClr val="061C2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tIns="88900" rIns="88900" bIns="88900"/>
          <a:lstStyle/>
          <a:p>
            <a:pPr algn="ctr"/>
            <a:r>
              <a:rPr sz="1800">
                <a:solidFill>
                  <a:srgbClr val="FFFFFF"/>
                </a:solidFill>
                <a:latin typeface="Aptos"/>
              </a:rPr>
              <a:t>+10%</a:t>
            </a:r>
          </a:p>
          <a:p>
            <a:pPr algn="ctr"/>
            <a:r>
              <a:rPr lang="ja-JP" sz="1800">
                <a:solidFill>
                  <a:srgbClr val="FFFFFF"/>
                </a:solidFill>
                <a:latin typeface="Yu Gothic UI"/>
              </a:rPr>
              <a:t>営業利益</a:t>
            </a:r>
          </a:p>
        </p:txBody>
      </p:sp>
      <p:sp>
        <p:nvSpPr>
          <p:cNvPr id="7" name="SDPM::execution.kpi_cascade::item_0_0" title="SDPM::execution.kpi_cascade::item_0_0" descr="SDPM::execution.kpi_cascade::item_0_0"/>
          <p:cNvSpPr/>
          <p:nvPr/>
        </p:nvSpPr>
        <p:spPr>
          <a:xfrm>
            <a:off x="635000" y="2501900"/>
            <a:ext cx="5416550" cy="158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76200" rIns="76200" bIns="76200"/>
          <a:lstStyle/>
          <a:p>
            <a:pPr algn="ctr"/>
            <a:r>
              <a:rPr sz="1500">
                <a:solidFill>
                  <a:srgbClr val="123039"/>
                </a:solidFill>
                <a:latin typeface="Aptos"/>
              </a:rPr>
              <a:t>+8%</a:t>
            </a:r>
          </a:p>
          <a:p>
            <a:pPr algn="ctr"/>
            <a:r>
              <a:rPr lang="ja-JP" sz="1500">
                <a:solidFill>
                  <a:srgbClr val="123039"/>
                </a:solidFill>
                <a:latin typeface="Yu Gothic UI"/>
              </a:rPr>
              <a:t>売上</a:t>
            </a:r>
          </a:p>
        </p:txBody>
      </p:sp>
      <p:cxnSp>
        <p:nvCxnSpPr>
          <p:cNvPr id="8" name="SDPM::execution.kpi_cascade::connector_0_0" title="SDPM::execution.kpi_cascade::connector_0_0" descr="SDPM::execution.kpi_cascade::connector_0_0"/>
          <p:cNvCxnSpPr/>
          <p:nvPr/>
        </p:nvCxnSpPr>
        <p:spPr>
          <a:xfrm flipH="1">
            <a:off x="3343275" y="2387600"/>
            <a:ext cx="2752725" cy="114300"/>
          </a:xfrm>
          <a:prstGeom prst="line">
            <a:avLst/>
          </a:prstGeom>
          <a:ln w="1905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DPM::execution.kpi_cascade::item_0_1" title="SDPM::execution.kpi_cascade::item_0_1" descr="SDPM::execution.kpi_cascade::item_0_1"/>
          <p:cNvSpPr/>
          <p:nvPr/>
        </p:nvSpPr>
        <p:spPr>
          <a:xfrm>
            <a:off x="6140450" y="2501900"/>
            <a:ext cx="5416550" cy="158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76200" rIns="76200" bIns="76200"/>
          <a:lstStyle/>
          <a:p>
            <a:pPr algn="ctr"/>
            <a:r>
              <a:rPr sz="1500">
                <a:solidFill>
                  <a:srgbClr val="123039"/>
                </a:solidFill>
                <a:latin typeface="Aptos"/>
              </a:rPr>
              <a:t>+2pt</a:t>
            </a:r>
          </a:p>
          <a:p>
            <a:pPr algn="ctr"/>
            <a:r>
              <a:rPr lang="ja-JP" sz="1500">
                <a:solidFill>
                  <a:srgbClr val="123039"/>
                </a:solidFill>
                <a:latin typeface="Yu Gothic UI"/>
              </a:rPr>
              <a:t>粗利率</a:t>
            </a:r>
          </a:p>
        </p:txBody>
      </p:sp>
      <p:cxnSp>
        <p:nvCxnSpPr>
          <p:cNvPr id="10" name="SDPM::execution.kpi_cascade::connector_0_1" title="SDPM::execution.kpi_cascade::connector_0_1" descr="SDPM::execution.kpi_cascade::connector_0_1"/>
          <p:cNvCxnSpPr/>
          <p:nvPr/>
        </p:nvCxnSpPr>
        <p:spPr>
          <a:xfrm>
            <a:off x="6096000" y="2387600"/>
            <a:ext cx="2752725" cy="114300"/>
          </a:xfrm>
          <a:prstGeom prst="line">
            <a:avLst/>
          </a:prstGeom>
          <a:ln w="1905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execution.kpi_cascade::item_1_0" title="SDPM::execution.kpi_cascade::item_1_0" descr="SDPM::execution.kpi_cascade::item_1_0"/>
          <p:cNvSpPr/>
          <p:nvPr/>
        </p:nvSpPr>
        <p:spPr>
          <a:xfrm>
            <a:off x="635000" y="4203700"/>
            <a:ext cx="3581400" cy="158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76200" rIns="76200" bIns="76200"/>
          <a:lstStyle/>
          <a:p>
            <a:pPr algn="ctr"/>
            <a:r>
              <a:rPr sz="1500">
                <a:solidFill>
                  <a:srgbClr val="123039"/>
                </a:solidFill>
                <a:latin typeface="Aptos"/>
              </a:rPr>
              <a:t>+5%</a:t>
            </a:r>
          </a:p>
          <a:p>
            <a:pPr algn="ctr"/>
            <a:r>
              <a:rPr lang="ja-JP" sz="1500">
                <a:solidFill>
                  <a:srgbClr val="123039"/>
                </a:solidFill>
                <a:latin typeface="Yu Gothic UI"/>
              </a:rPr>
              <a:t>顧客数</a:t>
            </a:r>
          </a:p>
        </p:txBody>
      </p:sp>
      <p:cxnSp>
        <p:nvCxnSpPr>
          <p:cNvPr id="12" name="SDPM::execution.kpi_cascade::connector_1_0" title="SDPM::execution.kpi_cascade::connector_1_0" descr="SDPM::execution.kpi_cascade::connector_1_0"/>
          <p:cNvCxnSpPr/>
          <p:nvPr/>
        </p:nvCxnSpPr>
        <p:spPr>
          <a:xfrm flipH="1">
            <a:off x="2425700" y="4089400"/>
            <a:ext cx="29654" cy="114300"/>
          </a:xfrm>
          <a:prstGeom prst="line">
            <a:avLst/>
          </a:prstGeom>
          <a:ln w="1905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DPM::execution.kpi_cascade::item_1_1" title="SDPM::execution.kpi_cascade::item_1_1" descr="SDPM::execution.kpi_cascade::item_1_1"/>
          <p:cNvSpPr/>
          <p:nvPr/>
        </p:nvSpPr>
        <p:spPr>
          <a:xfrm>
            <a:off x="4305300" y="4203700"/>
            <a:ext cx="3581400" cy="158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76200" rIns="76200" bIns="76200"/>
          <a:lstStyle/>
          <a:p>
            <a:pPr algn="ctr"/>
            <a:r>
              <a:rPr sz="1500">
                <a:solidFill>
                  <a:srgbClr val="123039"/>
                </a:solidFill>
                <a:latin typeface="Aptos"/>
              </a:rPr>
              <a:t>+3%</a:t>
            </a:r>
          </a:p>
          <a:p>
            <a:pPr algn="ctr"/>
            <a:r>
              <a:rPr lang="ja-JP" sz="1500">
                <a:solidFill>
                  <a:srgbClr val="123039"/>
                </a:solidFill>
                <a:latin typeface="Yu Gothic UI"/>
              </a:rPr>
              <a:t>単価</a:t>
            </a:r>
          </a:p>
        </p:txBody>
      </p:sp>
      <p:cxnSp>
        <p:nvCxnSpPr>
          <p:cNvPr id="14" name="SDPM::execution.kpi_cascade::connector_1_1" title="SDPM::execution.kpi_cascade::connector_1_1" descr="SDPM::execution.kpi_cascade::connector_1_1"/>
          <p:cNvCxnSpPr/>
          <p:nvPr/>
        </p:nvCxnSpPr>
        <p:spPr>
          <a:xfrm>
            <a:off x="6096000" y="4089400"/>
            <a:ext cx="0" cy="114300"/>
          </a:xfrm>
          <a:prstGeom prst="line">
            <a:avLst/>
          </a:prstGeom>
          <a:ln w="1905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DPM::execution.kpi_cascade::item_1_2" title="SDPM::execution.kpi_cascade::item_1_2" descr="SDPM::execution.kpi_cascade::item_1_2"/>
          <p:cNvSpPr/>
          <p:nvPr/>
        </p:nvSpPr>
        <p:spPr>
          <a:xfrm>
            <a:off x="7975600" y="4203700"/>
            <a:ext cx="3581400" cy="158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76200" rIns="76200" bIns="76200"/>
          <a:lstStyle/>
          <a:p>
            <a:pPr algn="ctr"/>
            <a:r>
              <a:rPr sz="1500">
                <a:solidFill>
                  <a:srgbClr val="123039"/>
                </a:solidFill>
                <a:latin typeface="Aptos"/>
              </a:rPr>
              <a:t>-5%</a:t>
            </a:r>
          </a:p>
          <a:p>
            <a:pPr algn="ctr"/>
            <a:r>
              <a:rPr lang="ja-JP" sz="1500">
                <a:solidFill>
                  <a:srgbClr val="123039"/>
                </a:solidFill>
                <a:latin typeface="Yu Gothic UI"/>
              </a:rPr>
              <a:t>離反率</a:t>
            </a:r>
          </a:p>
        </p:txBody>
      </p:sp>
      <p:cxnSp>
        <p:nvCxnSpPr>
          <p:cNvPr id="16" name="SDPM::execution.kpi_cascade::connector_1_2" title="SDPM::execution.kpi_cascade::connector_1_2" descr="SDPM::execution.kpi_cascade::connector_1_2"/>
          <p:cNvCxnSpPr/>
          <p:nvPr/>
        </p:nvCxnSpPr>
        <p:spPr>
          <a:xfrm>
            <a:off x="9736645" y="4089400"/>
            <a:ext cx="29655" cy="114300"/>
          </a:xfrm>
          <a:prstGeom prst="line">
            <a:avLst/>
          </a:prstGeom>
          <a:ln w="1905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Consulting Classic — composition, typography and reading path are theme-specific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0C2742"/>
                </a:solidFill>
                <a:latin typeface="Yu Gothic UI"/>
              </a:rPr>
              <a:t>Decision /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narrative.recommendation_actions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narrative.recommendation_actions::recommendation_bg" title="SDPM::narrative.recommendation_actions::recommendation_bg" descr="SDPM::narrative.recommendation_actions::recommendation_bg"/>
          <p:cNvSpPr/>
          <p:nvPr/>
        </p:nvSpPr>
        <p:spPr>
          <a:xfrm>
            <a:off x="635000" y="1524000"/>
            <a:ext cx="6637782" cy="4318000"/>
          </a:xfrm>
          <a:prstGeom prst="roundRect">
            <a:avLst/>
          </a:prstGeom>
          <a:solidFill>
            <a:srgbClr val="0C2742"/>
          </a:solidFill>
          <a:ln>
            <a:noFill/>
          </a:ln>
          <a:effectLst>
            <a:outerShdw blurRad="101600" dist="44450" dir="8100000" algn="bl" rotWithShape="0">
              <a:srgbClr val="061C2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DPM::narrative.recommendation_actions::label" title="SDPM::narrative.recommendation_actions::label" descr="SDPM::narrative.recommendation_actions::label"/>
          <p:cNvSpPr txBox="1"/>
          <p:nvPr/>
        </p:nvSpPr>
        <p:spPr>
          <a:xfrm>
            <a:off x="850900" y="1701800"/>
            <a:ext cx="6205982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RECOMMENDATION</a:t>
            </a:r>
          </a:p>
        </p:txBody>
      </p:sp>
      <p:sp>
        <p:nvSpPr>
          <p:cNvPr id="8" name="SDPM::narrative.recommendation_actions::recommendation" title="SDPM::narrative.recommendation_actions::recommendation" descr="SDPM::narrative.recommendation_actions::recommendation"/>
          <p:cNvSpPr txBox="1"/>
          <p:nvPr/>
        </p:nvSpPr>
        <p:spPr>
          <a:xfrm>
            <a:off x="850900" y="1968500"/>
            <a:ext cx="6205982" cy="3403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000">
                <a:solidFill>
                  <a:srgbClr val="FFFFFF"/>
                </a:solidFill>
                <a:latin typeface="Yu Gothic UI"/>
              </a:rPr>
              <a:t>市場</a:t>
            </a:r>
            <a:r>
              <a:rPr sz="3000">
                <a:solidFill>
                  <a:srgbClr val="FFFFFF"/>
                </a:solidFill>
                <a:latin typeface="Yu Gothic UI"/>
              </a:rPr>
              <a:t> A </a:t>
            </a:r>
            <a:r>
              <a:rPr lang="ja-JP" sz="3000">
                <a:solidFill>
                  <a:srgbClr val="FFFFFF"/>
                </a:solidFill>
                <a:latin typeface="Yu Gothic UI"/>
              </a:rPr>
              <a:t>の重点顧客に集中し、成果連動型の価値提案とオンボーディングを</a:t>
            </a:r>
            <a:r>
              <a:rPr sz="3000">
                <a:solidFill>
                  <a:srgbClr val="FFFFFF"/>
                </a:solidFill>
                <a:latin typeface="Yu Gothic UI"/>
              </a:rPr>
              <a:t> 90 </a:t>
            </a:r>
            <a:r>
              <a:rPr lang="ja-JP" sz="3000">
                <a:solidFill>
                  <a:srgbClr val="FFFFFF"/>
                </a:solidFill>
                <a:latin typeface="Yu Gothic UI"/>
              </a:rPr>
              <a:t>日で検証する</a:t>
            </a:r>
          </a:p>
        </p:txBody>
      </p:sp>
      <p:sp>
        <p:nvSpPr>
          <p:cNvPr id="9" name="SDPM::narrative.recommendation_actions::decision" title="SDPM::narrative.recommendation_actions::decision" descr="SDPM::narrative.recommendation_actions::decision"/>
          <p:cNvSpPr txBox="1"/>
          <p:nvPr/>
        </p:nvSpPr>
        <p:spPr>
          <a:xfrm>
            <a:off x="850900" y="5448300"/>
            <a:ext cx="6205982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00A6A6"/>
                </a:solidFill>
                <a:latin typeface="Yu Gothic UI"/>
              </a:rPr>
              <a:t>本日の判断：</a:t>
            </a:r>
            <a:r>
              <a:rPr sz="1200">
                <a:solidFill>
                  <a:srgbClr val="00A6A6"/>
                </a:solidFill>
                <a:latin typeface="Yu Gothic UI"/>
              </a:rPr>
              <a:t> 90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日パイロットを承認するか</a:t>
            </a:r>
          </a:p>
        </p:txBody>
      </p:sp>
      <p:sp>
        <p:nvSpPr>
          <p:cNvPr id="10" name="SDPM::narrative.recommendation_actions::index_0" title="SDPM::narrative.recommendation_actions::index_0" descr="SDPM::narrative.recommendation_actions::index_0"/>
          <p:cNvSpPr/>
          <p:nvPr/>
        </p:nvSpPr>
        <p:spPr>
          <a:xfrm>
            <a:off x="7488682" y="2097595"/>
            <a:ext cx="241300" cy="2413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SDPM::narrative.recommendation_actions::action_0" title="SDPM::narrative.recommendation_actions::action_0" descr="SDPM::narrative.recommendation_actions::action_0"/>
          <p:cNvSpPr txBox="1"/>
          <p:nvPr/>
        </p:nvSpPr>
        <p:spPr>
          <a:xfrm>
            <a:off x="7831582" y="1524000"/>
            <a:ext cx="3700017" cy="13885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600">
                <a:solidFill>
                  <a:srgbClr val="123039"/>
                </a:solidFill>
                <a:latin typeface="Yu Gothic UI"/>
              </a:rPr>
              <a:t>対象顧客</a:t>
            </a:r>
            <a:r>
              <a:rPr sz="1600">
                <a:solidFill>
                  <a:srgbClr val="123039"/>
                </a:solidFill>
                <a:latin typeface="Yu Gothic UI"/>
              </a:rPr>
              <a:t> 10 </a:t>
            </a:r>
            <a:r>
              <a:rPr lang="ja-JP" sz="1600">
                <a:solidFill>
                  <a:srgbClr val="123039"/>
                </a:solidFill>
                <a:latin typeface="Yu Gothic UI"/>
              </a:rPr>
              <a:t>社と責任者を確定</a:t>
            </a:r>
          </a:p>
        </p:txBody>
      </p:sp>
      <p:cxnSp>
        <p:nvCxnSpPr>
          <p:cNvPr id="12" name="SDPM::narrative.recommendation_actions::divider_0" title="SDPM::narrative.recommendation_actions::divider_0" descr="SDPM::narrative.recommendation_actions::divider_0"/>
          <p:cNvCxnSpPr/>
          <p:nvPr/>
        </p:nvCxnSpPr>
        <p:spPr>
          <a:xfrm>
            <a:off x="7831582" y="2912554"/>
            <a:ext cx="3725418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DPM::narrative.recommendation_actions::index_1" title="SDPM::narrative.recommendation_actions::index_1" descr="SDPM::narrative.recommendation_actions::index_1"/>
          <p:cNvSpPr/>
          <p:nvPr/>
        </p:nvSpPr>
        <p:spPr>
          <a:xfrm>
            <a:off x="7488682" y="3562350"/>
            <a:ext cx="241300" cy="241300"/>
          </a:xfrm>
          <a:prstGeom prst="ellipse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SDPM::narrative.recommendation_actions::action_1" title="SDPM::narrative.recommendation_actions::action_1" descr="SDPM::narrative.recommendation_actions::action_1"/>
          <p:cNvSpPr txBox="1"/>
          <p:nvPr/>
        </p:nvSpPr>
        <p:spPr>
          <a:xfrm>
            <a:off x="7831582" y="2988754"/>
            <a:ext cx="3700017" cy="13885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600">
                <a:solidFill>
                  <a:srgbClr val="123039"/>
                </a:solidFill>
                <a:latin typeface="Yu Gothic UI"/>
              </a:rPr>
              <a:t>成果</a:t>
            </a:r>
            <a:r>
              <a:rPr sz="1600">
                <a:solidFill>
                  <a:srgbClr val="123039"/>
                </a:solidFill>
                <a:latin typeface="Yu Gothic UI"/>
              </a:rPr>
              <a:t> KPI </a:t>
            </a:r>
            <a:r>
              <a:rPr lang="ja-JP" sz="1600">
                <a:solidFill>
                  <a:srgbClr val="123039"/>
                </a:solidFill>
                <a:latin typeface="Yu Gothic UI"/>
              </a:rPr>
              <a:t>・価格・契約条件を設計</a:t>
            </a:r>
          </a:p>
        </p:txBody>
      </p:sp>
      <p:cxnSp>
        <p:nvCxnSpPr>
          <p:cNvPr id="15" name="SDPM::narrative.recommendation_actions::divider_1" title="SDPM::narrative.recommendation_actions::divider_1" descr="SDPM::narrative.recommendation_actions::divider_1"/>
          <p:cNvCxnSpPr/>
          <p:nvPr/>
        </p:nvCxnSpPr>
        <p:spPr>
          <a:xfrm>
            <a:off x="7831582" y="4377245"/>
            <a:ext cx="3725418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DPM::narrative.recommendation_actions::index_2" title="SDPM::narrative.recommendation_actions::index_2" descr="SDPM::narrative.recommendation_actions::index_2"/>
          <p:cNvSpPr/>
          <p:nvPr/>
        </p:nvSpPr>
        <p:spPr>
          <a:xfrm>
            <a:off x="7488682" y="5027104"/>
            <a:ext cx="241300" cy="241300"/>
          </a:xfrm>
          <a:prstGeom prst="ellipse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SDPM::narrative.recommendation_actions::action_2" title="SDPM::narrative.recommendation_actions::action_2" descr="SDPM::narrative.recommendation_actions::action_2"/>
          <p:cNvSpPr txBox="1"/>
          <p:nvPr/>
        </p:nvSpPr>
        <p:spPr>
          <a:xfrm>
            <a:off x="7831582" y="4453445"/>
            <a:ext cx="3700017" cy="13885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600">
                <a:solidFill>
                  <a:srgbClr val="123039"/>
                </a:solidFill>
                <a:latin typeface="Yu Gothic UI"/>
              </a:rPr>
              <a:t>90 </a:t>
            </a:r>
            <a:r>
              <a:rPr lang="ja-JP" sz="1600">
                <a:solidFill>
                  <a:srgbClr val="123039"/>
                </a:solidFill>
                <a:latin typeface="Yu Gothic UI"/>
              </a:rPr>
              <a:t>日後に継続・拡大を判断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Consulting Classic — composition, typography and reading path are theme-specific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263E4C"/>
                </a:solidFill>
                <a:latin typeface="Yu Gothic U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narrative.executive_summary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narrative.executive_summary::wash" title="SDPM::narrative.executive_summary::wash" descr="SDPM::narrative.executive_summary::wash"/>
          <p:cNvSpPr/>
          <p:nvPr/>
        </p:nvSpPr>
        <p:spPr>
          <a:xfrm>
            <a:off x="635000" y="1524000"/>
            <a:ext cx="3830320" cy="4318000"/>
          </a:xfrm>
          <a:prstGeom prst="roundRect">
            <a:avLst/>
          </a:prstGeom>
          <a:solidFill>
            <a:srgbClr val="F1ECE5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DPM::narrative.executive_summary::kicker" title="SDPM::narrative.executive_summary::kicker" descr="SDPM::narrative.executive_summary::kicker"/>
          <p:cNvSpPr txBox="1"/>
          <p:nvPr/>
        </p:nvSpPr>
        <p:spPr>
          <a:xfrm>
            <a:off x="635000" y="1524000"/>
            <a:ext cx="4453890" cy="1905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EXECUTIVE SUMMARY</a:t>
            </a:r>
          </a:p>
        </p:txBody>
      </p:sp>
      <p:cxnSp>
        <p:nvCxnSpPr>
          <p:cNvPr id="8" name="SDPM::narrative.executive_summary::kicker_rule" title="SDPM::narrative.executive_summary::kicker_rule" descr="SDPM::narrative.executive_summary::kicker_rule"/>
          <p:cNvCxnSpPr/>
          <p:nvPr/>
        </p:nvCxnSpPr>
        <p:spPr>
          <a:xfrm>
            <a:off x="635000" y="1701800"/>
            <a:ext cx="698500" cy="0"/>
          </a:xfrm>
          <a:prstGeom prst="line">
            <a:avLst/>
          </a:prstGeom>
          <a:ln w="31750">
            <a:solidFill>
              <a:srgbClr val="A4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DPM::narrative.executive_summary::hero" title="SDPM::narrative.executive_summary::hero" descr="SDPM::narrative.executive_summary::hero"/>
          <p:cNvSpPr txBox="1"/>
          <p:nvPr/>
        </p:nvSpPr>
        <p:spPr>
          <a:xfrm>
            <a:off x="635000" y="1892300"/>
            <a:ext cx="4301490" cy="394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2800">
                <a:solidFill>
                  <a:srgbClr val="263E4C"/>
                </a:solidFill>
                <a:latin typeface="Yu Gothic UI"/>
              </a:rPr>
              <a:t>市場選択・価値提案・実行基盤の</a:t>
            </a:r>
            <a:r>
              <a:rPr sz="2800">
                <a:solidFill>
                  <a:srgbClr val="263E4C"/>
                </a:solidFill>
                <a:latin typeface="Yu Gothic UI"/>
              </a:rPr>
              <a:t> 3 </a:t>
            </a:r>
            <a:r>
              <a:rPr lang="ja-JP" sz="2800">
                <a:solidFill>
                  <a:srgbClr val="263E4C"/>
                </a:solidFill>
                <a:latin typeface="Yu Gothic UI"/>
              </a:rPr>
              <a:t>点を同時に変える</a:t>
            </a:r>
          </a:p>
        </p:txBody>
      </p:sp>
      <p:sp>
        <p:nvSpPr>
          <p:cNvPr id="10" name="SDPM::narrative.executive_summary::index_0" title="SDPM::narrative.executive_summary::index_0" descr="SDPM::narrative.executive_summary::index_0"/>
          <p:cNvSpPr txBox="1"/>
          <p:nvPr/>
        </p:nvSpPr>
        <p:spPr>
          <a:xfrm>
            <a:off x="5406390" y="1524000"/>
            <a:ext cx="368300" cy="102235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200">
                <a:solidFill>
                  <a:srgbClr val="A45A3A"/>
                </a:solidFill>
                <a:latin typeface="Yu Gothic UI"/>
              </a:rPr>
              <a:t>01</a:t>
            </a:r>
          </a:p>
        </p:txBody>
      </p:sp>
      <p:sp>
        <p:nvSpPr>
          <p:cNvPr id="11" name="SDPM::narrative.executive_summary::title_0" title="SDPM::narrative.executive_summary::title_0" descr="SDPM::narrative.executive_summary::title_0"/>
          <p:cNvSpPr txBox="1"/>
          <p:nvPr/>
        </p:nvSpPr>
        <p:spPr>
          <a:xfrm>
            <a:off x="5888990" y="1574800"/>
            <a:ext cx="5668010" cy="215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700">
                <a:solidFill>
                  <a:srgbClr val="29231F"/>
                </a:solidFill>
                <a:latin typeface="Yu Gothic UI"/>
              </a:rPr>
              <a:t>市場を選ぶ</a:t>
            </a:r>
          </a:p>
        </p:txBody>
      </p:sp>
      <p:sp>
        <p:nvSpPr>
          <p:cNvPr id="12" name="SDPM::narrative.executive_summary::body_0" title="SDPM::narrative.executive_summary::body_0" descr="SDPM::narrative.executive_summary::body_0"/>
          <p:cNvSpPr txBox="1"/>
          <p:nvPr/>
        </p:nvSpPr>
        <p:spPr>
          <a:xfrm>
            <a:off x="5888990" y="1854200"/>
            <a:ext cx="5668010" cy="64135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高成長・高収益の法人顧客に集中</a:t>
            </a:r>
          </a:p>
        </p:txBody>
      </p:sp>
      <p:cxnSp>
        <p:nvCxnSpPr>
          <p:cNvPr id="13" name="SDPM::narrative.executive_summary::divider_0" title="SDPM::narrative.executive_summary::divider_0" descr="SDPM::narrative.executive_summary::divider_0"/>
          <p:cNvCxnSpPr/>
          <p:nvPr/>
        </p:nvCxnSpPr>
        <p:spPr>
          <a:xfrm>
            <a:off x="5888990" y="2578100"/>
            <a:ext cx="5668010" cy="0"/>
          </a:xfrm>
          <a:prstGeom prst="line">
            <a:avLst/>
          </a:prstGeom>
          <a:ln w="1143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DPM::narrative.executive_summary::index_1" title="SDPM::narrative.executive_summary::index_1" descr="SDPM::narrative.executive_summary::index_1"/>
          <p:cNvSpPr txBox="1"/>
          <p:nvPr/>
        </p:nvSpPr>
        <p:spPr>
          <a:xfrm>
            <a:off x="5406390" y="2622550"/>
            <a:ext cx="368300" cy="102235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200">
                <a:solidFill>
                  <a:srgbClr val="A45A3A"/>
                </a:solidFill>
                <a:latin typeface="Yu Gothic UI"/>
              </a:rPr>
              <a:t>02</a:t>
            </a:r>
          </a:p>
        </p:txBody>
      </p:sp>
      <p:sp>
        <p:nvSpPr>
          <p:cNvPr id="15" name="SDPM::narrative.executive_summary::title_1" title="SDPM::narrative.executive_summary::title_1" descr="SDPM::narrative.executive_summary::title_1"/>
          <p:cNvSpPr txBox="1"/>
          <p:nvPr/>
        </p:nvSpPr>
        <p:spPr>
          <a:xfrm>
            <a:off x="5888990" y="2673350"/>
            <a:ext cx="5668010" cy="215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700">
                <a:solidFill>
                  <a:srgbClr val="29231F"/>
                </a:solidFill>
                <a:latin typeface="Yu Gothic UI"/>
              </a:rPr>
              <a:t>価値提案を変える</a:t>
            </a:r>
          </a:p>
        </p:txBody>
      </p:sp>
      <p:sp>
        <p:nvSpPr>
          <p:cNvPr id="16" name="SDPM::narrative.executive_summary::body_1" title="SDPM::narrative.executive_summary::body_1" descr="SDPM::narrative.executive_summary::body_1"/>
          <p:cNvSpPr txBox="1"/>
          <p:nvPr/>
        </p:nvSpPr>
        <p:spPr>
          <a:xfrm>
            <a:off x="5888990" y="2952750"/>
            <a:ext cx="5668010" cy="64135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製品販売から業務成果の提供へ</a:t>
            </a:r>
          </a:p>
        </p:txBody>
      </p:sp>
      <p:cxnSp>
        <p:nvCxnSpPr>
          <p:cNvPr id="17" name="SDPM::narrative.executive_summary::divider_1" title="SDPM::narrative.executive_summary::divider_1" descr="SDPM::narrative.executive_summary::divider_1"/>
          <p:cNvCxnSpPr/>
          <p:nvPr/>
        </p:nvCxnSpPr>
        <p:spPr>
          <a:xfrm>
            <a:off x="5888990" y="3676650"/>
            <a:ext cx="5668010" cy="0"/>
          </a:xfrm>
          <a:prstGeom prst="line">
            <a:avLst/>
          </a:prstGeom>
          <a:ln w="1143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DPM::narrative.executive_summary::index_2" title="SDPM::narrative.executive_summary::index_2" descr="SDPM::narrative.executive_summary::index_2"/>
          <p:cNvSpPr txBox="1"/>
          <p:nvPr/>
        </p:nvSpPr>
        <p:spPr>
          <a:xfrm>
            <a:off x="5406390" y="3721100"/>
            <a:ext cx="368300" cy="102235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200">
                <a:solidFill>
                  <a:srgbClr val="A45A3A"/>
                </a:solidFill>
                <a:latin typeface="Yu Gothic UI"/>
              </a:rPr>
              <a:t>03</a:t>
            </a:r>
          </a:p>
        </p:txBody>
      </p:sp>
      <p:sp>
        <p:nvSpPr>
          <p:cNvPr id="19" name="SDPM::narrative.executive_summary::title_2" title="SDPM::narrative.executive_summary::title_2" descr="SDPM::narrative.executive_summary::title_2"/>
          <p:cNvSpPr txBox="1"/>
          <p:nvPr/>
        </p:nvSpPr>
        <p:spPr>
          <a:xfrm>
            <a:off x="5888990" y="3771900"/>
            <a:ext cx="5668010" cy="215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700">
                <a:solidFill>
                  <a:srgbClr val="29231F"/>
                </a:solidFill>
                <a:latin typeface="Yu Gothic UI"/>
              </a:rPr>
              <a:t>実行基盤を整える</a:t>
            </a:r>
          </a:p>
        </p:txBody>
      </p:sp>
      <p:sp>
        <p:nvSpPr>
          <p:cNvPr id="20" name="SDPM::narrative.executive_summary::body_2" title="SDPM::narrative.executive_summary::body_2" descr="SDPM::narrative.executive_summary::body_2"/>
          <p:cNvSpPr txBox="1"/>
          <p:nvPr/>
        </p:nvSpPr>
        <p:spPr>
          <a:xfrm>
            <a:off x="5888990" y="4051300"/>
            <a:ext cx="5668010" cy="64135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営業・</a:t>
            </a:r>
            <a:r>
              <a:rPr sz="1300">
                <a:solidFill>
                  <a:srgbClr val="746D66"/>
                </a:solidFill>
                <a:latin typeface="Yu Gothic UI"/>
              </a:rPr>
              <a:t> CS </a:t>
            </a:r>
            <a:r>
              <a:rPr lang="ja-JP" sz="1300">
                <a:solidFill>
                  <a:srgbClr val="746D66"/>
                </a:solidFill>
                <a:latin typeface="Yu Gothic UI"/>
              </a:rPr>
              <a:t>・データを横断運用</a:t>
            </a:r>
          </a:p>
        </p:txBody>
      </p:sp>
      <p:cxnSp>
        <p:nvCxnSpPr>
          <p:cNvPr id="21" name="SDPM::narrative.executive_summary::divider_2" title="SDPM::narrative.executive_summary::divider_2" descr="SDPM::narrative.executive_summary::divider_2"/>
          <p:cNvCxnSpPr/>
          <p:nvPr/>
        </p:nvCxnSpPr>
        <p:spPr>
          <a:xfrm>
            <a:off x="5888990" y="4775200"/>
            <a:ext cx="5668010" cy="0"/>
          </a:xfrm>
          <a:prstGeom prst="line">
            <a:avLst/>
          </a:prstGeom>
          <a:ln w="1143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DPM::narrative.executive_summary::index_3" title="SDPM::narrative.executive_summary::index_3" descr="SDPM::narrative.executive_summary::index_3"/>
          <p:cNvSpPr txBox="1"/>
          <p:nvPr/>
        </p:nvSpPr>
        <p:spPr>
          <a:xfrm>
            <a:off x="5406390" y="4819650"/>
            <a:ext cx="368300" cy="102235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200">
                <a:solidFill>
                  <a:srgbClr val="A45A3A"/>
                </a:solidFill>
                <a:latin typeface="Yu Gothic UI"/>
              </a:rPr>
              <a:t>04</a:t>
            </a:r>
          </a:p>
        </p:txBody>
      </p:sp>
      <p:sp>
        <p:nvSpPr>
          <p:cNvPr id="23" name="SDPM::narrative.executive_summary::title_3" title="SDPM::narrative.executive_summary::title_3" descr="SDPM::narrative.executive_summary::title_3"/>
          <p:cNvSpPr txBox="1"/>
          <p:nvPr/>
        </p:nvSpPr>
        <p:spPr>
          <a:xfrm>
            <a:off x="5888990" y="4870450"/>
            <a:ext cx="5668010" cy="215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700">
                <a:solidFill>
                  <a:srgbClr val="29231F"/>
                </a:solidFill>
                <a:latin typeface="Yu Gothic UI"/>
              </a:rPr>
              <a:t>90 </a:t>
            </a:r>
            <a:r>
              <a:rPr lang="ja-JP" sz="1700">
                <a:solidFill>
                  <a:srgbClr val="29231F"/>
                </a:solidFill>
                <a:latin typeface="Yu Gothic UI"/>
              </a:rPr>
              <a:t>日で検証する</a:t>
            </a:r>
          </a:p>
        </p:txBody>
      </p:sp>
      <p:sp>
        <p:nvSpPr>
          <p:cNvPr id="24" name="SDPM::narrative.executive_summary::body_3" title="SDPM::narrative.executive_summary::body_3" descr="SDPM::narrative.executive_summary::body_3"/>
          <p:cNvSpPr txBox="1"/>
          <p:nvPr/>
        </p:nvSpPr>
        <p:spPr>
          <a:xfrm>
            <a:off x="5888990" y="5149850"/>
            <a:ext cx="5668010" cy="64135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離反率、利用定着、粗利で継続判断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Editorial Premium — composition, typography and reading path are theme-specific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263E4C"/>
                </a:solidFill>
                <a:latin typeface="Yu Gothic UI"/>
              </a:rPr>
              <a:t>Key Message +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narrative.key_message_evidence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narrative.key_message_evidence::kicker" title="SDPM::narrative.key_message_evidence::kicker" descr="SDPM::narrative.key_message_evidence::kicker"/>
          <p:cNvSpPr txBox="1"/>
          <p:nvPr/>
        </p:nvSpPr>
        <p:spPr>
          <a:xfrm>
            <a:off x="635000" y="1524000"/>
            <a:ext cx="6157976" cy="1905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KEY MESSAGE</a:t>
            </a:r>
          </a:p>
        </p:txBody>
      </p:sp>
      <p:cxnSp>
        <p:nvCxnSpPr>
          <p:cNvPr id="7" name="SDPM::narrative.key_message_evidence::kicker_rule" title="SDPM::narrative.key_message_evidence::kicker_rule" descr="SDPM::narrative.key_message_evidence::kicker_rule"/>
          <p:cNvCxnSpPr/>
          <p:nvPr/>
        </p:nvCxnSpPr>
        <p:spPr>
          <a:xfrm>
            <a:off x="635000" y="1701800"/>
            <a:ext cx="698500" cy="0"/>
          </a:xfrm>
          <a:prstGeom prst="line">
            <a:avLst/>
          </a:prstGeom>
          <a:ln w="31750">
            <a:solidFill>
              <a:srgbClr val="A4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narrative.key_message_evidence::message" title="SDPM::narrative.key_message_evidence::message" descr="SDPM::narrative.key_message_evidence::message"/>
          <p:cNvSpPr txBox="1"/>
          <p:nvPr/>
        </p:nvSpPr>
        <p:spPr>
          <a:xfrm>
            <a:off x="635000" y="1854200"/>
            <a:ext cx="5980176" cy="3416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4200">
                <a:solidFill>
                  <a:srgbClr val="263E4C"/>
                </a:solidFill>
                <a:latin typeface="Yu Gothic UI"/>
              </a:rPr>
              <a:t>市場成長は続くが、シェア回復には重点顧客への集中が必要</a:t>
            </a:r>
          </a:p>
        </p:txBody>
      </p:sp>
      <p:sp>
        <p:nvSpPr>
          <p:cNvPr id="9" name="SDPM::narrative.key_message_evidence::implication" title="SDPM::narrative.key_message_evidence::implication" descr="SDPM::narrative.key_message_evidence::implication"/>
          <p:cNvSpPr txBox="1"/>
          <p:nvPr/>
        </p:nvSpPr>
        <p:spPr>
          <a:xfrm>
            <a:off x="635000" y="5321300"/>
            <a:ext cx="5542153" cy="457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A45A3A"/>
                </a:solidFill>
                <a:latin typeface="Yu Gothic UI"/>
              </a:rPr>
              <a:t>市場</a:t>
            </a:r>
            <a:r>
              <a:rPr sz="1500">
                <a:solidFill>
                  <a:srgbClr val="A45A3A"/>
                </a:solidFill>
                <a:latin typeface="Yu Gothic UI"/>
              </a:rPr>
              <a:t> A </a:t>
            </a:r>
            <a:r>
              <a:rPr lang="ja-JP" sz="1500">
                <a:solidFill>
                  <a:srgbClr val="A45A3A"/>
                </a:solidFill>
                <a:latin typeface="Yu Gothic UI"/>
              </a:rPr>
              <a:t>へ営業・開発・</a:t>
            </a:r>
            <a:r>
              <a:rPr sz="1500">
                <a:solidFill>
                  <a:srgbClr val="A45A3A"/>
                </a:solidFill>
                <a:latin typeface="Yu Gothic UI"/>
              </a:rPr>
              <a:t> CS </a:t>
            </a:r>
            <a:r>
              <a:rPr lang="ja-JP" sz="1500">
                <a:solidFill>
                  <a:srgbClr val="A45A3A"/>
                </a:solidFill>
                <a:latin typeface="Yu Gothic UI"/>
              </a:rPr>
              <a:t>資源を集中する</a:t>
            </a:r>
          </a:p>
        </p:txBody>
      </p:sp>
      <p:cxnSp>
        <p:nvCxnSpPr>
          <p:cNvPr id="10" name="SDPM::narrative.key_message_evidence::rule_0" title="SDPM::narrative.key_message_evidence::rule_0" descr="SDPM::narrative.key_message_evidence::rule_0"/>
          <p:cNvCxnSpPr/>
          <p:nvPr/>
        </p:nvCxnSpPr>
        <p:spPr>
          <a:xfrm>
            <a:off x="7097776" y="1524000"/>
            <a:ext cx="4459224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narrative.key_message_evidence::value_0" title="SDPM::narrative.key_message_evidence::value_0" descr="SDPM::narrative.key_message_evidence::value_0"/>
          <p:cNvSpPr txBox="1"/>
          <p:nvPr/>
        </p:nvSpPr>
        <p:spPr>
          <a:xfrm>
            <a:off x="7097776" y="1524000"/>
            <a:ext cx="1660715" cy="1371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200">
                <a:solidFill>
                  <a:srgbClr val="A45A3A"/>
                </a:solidFill>
                <a:latin typeface="Yu Gothic UI"/>
              </a:rPr>
              <a:t>+8%</a:t>
            </a:r>
          </a:p>
        </p:txBody>
      </p:sp>
      <p:sp>
        <p:nvSpPr>
          <p:cNvPr id="12" name="SDPM::narrative.key_message_evidence::evidence_0" title="SDPM::narrative.key_message_evidence::evidence_0" descr="SDPM::narrative.key_message_evidence::evidence_0"/>
          <p:cNvSpPr txBox="1"/>
          <p:nvPr/>
        </p:nvSpPr>
        <p:spPr>
          <a:xfrm>
            <a:off x="8847391" y="1524000"/>
            <a:ext cx="2709608" cy="1371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 b="1">
                <a:solidFill>
                  <a:srgbClr val="746D66"/>
                </a:solidFill>
                <a:latin typeface="Yu Gothic UI"/>
              </a:rPr>
              <a:t>市場成長</a:t>
            </a:r>
          </a:p>
          <a:p>
            <a:pPr algn="l"/>
            <a:r>
              <a:rPr lang="ja-JP" sz="1400">
                <a:solidFill>
                  <a:srgbClr val="746D66"/>
                </a:solidFill>
                <a:latin typeface="Yu Gothic UI"/>
              </a:rPr>
              <a:t>年平均成長率</a:t>
            </a:r>
          </a:p>
        </p:txBody>
      </p:sp>
      <p:cxnSp>
        <p:nvCxnSpPr>
          <p:cNvPr id="13" name="SDPM::narrative.key_message_evidence::rule_1" title="SDPM::narrative.key_message_evidence::rule_1" descr="SDPM::narrative.key_message_evidence::rule_1"/>
          <p:cNvCxnSpPr/>
          <p:nvPr/>
        </p:nvCxnSpPr>
        <p:spPr>
          <a:xfrm>
            <a:off x="7097776" y="2997200"/>
            <a:ext cx="4459224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DPM::narrative.key_message_evidence::value_1" title="SDPM::narrative.key_message_evidence::value_1" descr="SDPM::narrative.key_message_evidence::value_1"/>
          <p:cNvSpPr txBox="1"/>
          <p:nvPr/>
        </p:nvSpPr>
        <p:spPr>
          <a:xfrm>
            <a:off x="7097776" y="2997200"/>
            <a:ext cx="1660715" cy="1371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200">
                <a:solidFill>
                  <a:srgbClr val="263E4C"/>
                </a:solidFill>
                <a:latin typeface="Yu Gothic UI"/>
              </a:rPr>
              <a:t>-3.6pt</a:t>
            </a:r>
          </a:p>
        </p:txBody>
      </p:sp>
      <p:sp>
        <p:nvSpPr>
          <p:cNvPr id="15" name="SDPM::narrative.key_message_evidence::evidence_1" title="SDPM::narrative.key_message_evidence::evidence_1" descr="SDPM::narrative.key_message_evidence::evidence_1"/>
          <p:cNvSpPr txBox="1"/>
          <p:nvPr/>
        </p:nvSpPr>
        <p:spPr>
          <a:xfrm>
            <a:off x="8847391" y="2997200"/>
            <a:ext cx="2709608" cy="1371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 b="1">
                <a:solidFill>
                  <a:srgbClr val="746D66"/>
                </a:solidFill>
                <a:latin typeface="Yu Gothic UI"/>
              </a:rPr>
              <a:t>自社シェア</a:t>
            </a:r>
          </a:p>
          <a:p>
            <a:pPr algn="l"/>
            <a:r>
              <a:rPr sz="1400">
                <a:solidFill>
                  <a:srgbClr val="746D66"/>
                </a:solidFill>
                <a:latin typeface="Yu Gothic UI"/>
              </a:rPr>
              <a:t>3 </a:t>
            </a:r>
            <a:r>
              <a:rPr lang="ja-JP" sz="1400">
                <a:solidFill>
                  <a:srgbClr val="746D66"/>
                </a:solidFill>
                <a:latin typeface="Yu Gothic UI"/>
              </a:rPr>
              <a:t>年間の低下幅</a:t>
            </a:r>
          </a:p>
        </p:txBody>
      </p:sp>
      <p:cxnSp>
        <p:nvCxnSpPr>
          <p:cNvPr id="16" name="SDPM::narrative.key_message_evidence::rule_2" title="SDPM::narrative.key_message_evidence::rule_2" descr="SDPM::narrative.key_message_evidence::rule_2"/>
          <p:cNvCxnSpPr/>
          <p:nvPr/>
        </p:nvCxnSpPr>
        <p:spPr>
          <a:xfrm>
            <a:off x="7097776" y="4470400"/>
            <a:ext cx="4459224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DPM::narrative.key_message_evidence::value_2" title="SDPM::narrative.key_message_evidence::value_2" descr="SDPM::narrative.key_message_evidence::value_2"/>
          <p:cNvSpPr txBox="1"/>
          <p:nvPr/>
        </p:nvSpPr>
        <p:spPr>
          <a:xfrm>
            <a:off x="7097776" y="4470400"/>
            <a:ext cx="1660715" cy="1371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200">
                <a:solidFill>
                  <a:srgbClr val="263E4C"/>
                </a:solidFill>
                <a:latin typeface="Yu Gothic UI"/>
              </a:rPr>
              <a:t>34%</a:t>
            </a:r>
          </a:p>
        </p:txBody>
      </p:sp>
      <p:sp>
        <p:nvSpPr>
          <p:cNvPr id="18" name="SDPM::narrative.key_message_evidence::evidence_2" title="SDPM::narrative.key_message_evidence::evidence_2" descr="SDPM::narrative.key_message_evidence::evidence_2"/>
          <p:cNvSpPr txBox="1"/>
          <p:nvPr/>
        </p:nvSpPr>
        <p:spPr>
          <a:xfrm>
            <a:off x="8847391" y="4470400"/>
            <a:ext cx="2709608" cy="1371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 b="1">
                <a:solidFill>
                  <a:srgbClr val="746D66"/>
                </a:solidFill>
                <a:latin typeface="Yu Gothic UI"/>
              </a:rPr>
              <a:t>市場</a:t>
            </a:r>
            <a:r>
              <a:rPr sz="1400" b="1">
                <a:solidFill>
                  <a:srgbClr val="746D66"/>
                </a:solidFill>
                <a:latin typeface="Yu Gothic UI"/>
              </a:rPr>
              <a:t> A </a:t>
            </a:r>
            <a:r>
              <a:rPr lang="ja-JP" sz="1400" b="1">
                <a:solidFill>
                  <a:srgbClr val="746D66"/>
                </a:solidFill>
                <a:latin typeface="Yu Gothic UI"/>
              </a:rPr>
              <a:t>粗利率</a:t>
            </a:r>
          </a:p>
          <a:p>
            <a:pPr algn="l"/>
            <a:r>
              <a:rPr lang="ja-JP" sz="1400">
                <a:solidFill>
                  <a:srgbClr val="746D66"/>
                </a:solidFill>
                <a:latin typeface="Yu Gothic UI"/>
              </a:rPr>
              <a:t>全市場で最高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Editorial Premium — composition, typography and reading path are theme-specific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263E4C"/>
                </a:solidFill>
                <a:latin typeface="Yu Gothic UI"/>
              </a:rPr>
              <a:t>Chart +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chart.insight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chart.insight::kicker" title="SDPM::chart.insight::kicker" descr="SDPM::chart.insight::kicker"/>
          <p:cNvSpPr txBox="1"/>
          <p:nvPr/>
        </p:nvSpPr>
        <p:spPr>
          <a:xfrm>
            <a:off x="635000" y="15240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CHART INSIGHT</a:t>
            </a:r>
          </a:p>
        </p:txBody>
      </p:sp>
      <p:cxnSp>
        <p:nvCxnSpPr>
          <p:cNvPr id="7" name="SDPM::chart.insight::kicker_rule" title="SDPM::chart.insight::kicker_rule" descr="SDPM::chart.insight::kicker_rule"/>
          <p:cNvCxnSpPr/>
          <p:nvPr/>
        </p:nvCxnSpPr>
        <p:spPr>
          <a:xfrm>
            <a:off x="635000" y="1689100"/>
            <a:ext cx="698500" cy="0"/>
          </a:xfrm>
          <a:prstGeom prst="line">
            <a:avLst/>
          </a:prstGeom>
          <a:ln w="31750">
            <a:solidFill>
              <a:srgbClr val="A4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chart.insight::insight" title="SDPM::chart.insight::insight" descr="SDPM::chart.insight::insight"/>
          <p:cNvSpPr txBox="1"/>
          <p:nvPr/>
        </p:nvSpPr>
        <p:spPr>
          <a:xfrm>
            <a:off x="635000" y="1816100"/>
            <a:ext cx="8519160" cy="128600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600">
                <a:solidFill>
                  <a:srgbClr val="263E4C"/>
                </a:solidFill>
                <a:latin typeface="Yu Gothic UI"/>
              </a:rPr>
              <a:t>市場</a:t>
            </a:r>
            <a:r>
              <a:rPr sz="3600">
                <a:solidFill>
                  <a:srgbClr val="263E4C"/>
                </a:solidFill>
                <a:latin typeface="Yu Gothic UI"/>
              </a:rPr>
              <a:t> A </a:t>
            </a:r>
            <a:r>
              <a:rPr lang="ja-JP" sz="3600">
                <a:solidFill>
                  <a:srgbClr val="263E4C"/>
                </a:solidFill>
                <a:latin typeface="Yu Gothic UI"/>
              </a:rPr>
              <a:t>は魅力度と収益性の両面で最優先</a:t>
            </a:r>
          </a:p>
        </p:txBody>
      </p:sp>
      <p:sp>
        <p:nvSpPr>
          <p:cNvPr id="9" name="SDPM::chart.insight::support" title="SDPM::chart.insight::support" descr="SDPM::chart.insight::support"/>
          <p:cNvSpPr txBox="1"/>
          <p:nvPr/>
        </p:nvSpPr>
        <p:spPr>
          <a:xfrm>
            <a:off x="9154160" y="1841500"/>
            <a:ext cx="2402840" cy="126060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b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資源配分を市場</a:t>
            </a:r>
            <a:r>
              <a:rPr sz="1300">
                <a:solidFill>
                  <a:srgbClr val="746D66"/>
                </a:solidFill>
                <a:latin typeface="Yu Gothic UI"/>
              </a:rPr>
              <a:t> A </a:t>
            </a:r>
            <a:r>
              <a:rPr lang="ja-JP" sz="1300">
                <a:solidFill>
                  <a:srgbClr val="746D66"/>
                </a:solidFill>
                <a:latin typeface="Yu Gothic UI"/>
              </a:rPr>
              <a:t>へ寄せる</a:t>
            </a:r>
          </a:p>
        </p:txBody>
      </p:sp>
      <p:sp>
        <p:nvSpPr>
          <p:cNvPr id="10" name="SDPM::chart.insight::label_0" title="SDPM::chart.insight::label_0" descr="SDPM::chart.insight::label_0"/>
          <p:cNvSpPr txBox="1"/>
          <p:nvPr/>
        </p:nvSpPr>
        <p:spPr>
          <a:xfrm>
            <a:off x="635000" y="3267202"/>
            <a:ext cx="3029712" cy="59607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市場</a:t>
            </a:r>
            <a:r>
              <a:rPr sz="1400">
                <a:solidFill>
                  <a:srgbClr val="29231F"/>
                </a:solidFill>
                <a:latin typeface="Yu Gothic UI"/>
              </a:rPr>
              <a:t> A</a:t>
            </a:r>
          </a:p>
        </p:txBody>
      </p:sp>
      <p:cxnSp>
        <p:nvCxnSpPr>
          <p:cNvPr id="11" name="SDPM::chart.insight::base_0" title="SDPM::chart.insight::base_0" descr="SDPM::chart.insight::base_0"/>
          <p:cNvCxnSpPr/>
          <p:nvPr/>
        </p:nvCxnSpPr>
        <p:spPr>
          <a:xfrm>
            <a:off x="3715512" y="3565207"/>
            <a:ext cx="6167628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DPM::chart.insight::bar_0" title="SDPM::chart.insight::bar_0" descr="SDPM::chart.insight::bar_0"/>
          <p:cNvSpPr/>
          <p:nvPr/>
        </p:nvSpPr>
        <p:spPr>
          <a:xfrm>
            <a:off x="3715512" y="3463925"/>
            <a:ext cx="6167628" cy="202692"/>
          </a:xfrm>
          <a:prstGeom prst="rect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DPM::chart.insight::direct_0" title="SDPM::chart.insight::direct_0" descr="SDPM::chart.insight::direct_0"/>
          <p:cNvSpPr txBox="1"/>
          <p:nvPr/>
        </p:nvSpPr>
        <p:spPr>
          <a:xfrm>
            <a:off x="9921240" y="3267202"/>
            <a:ext cx="0" cy="59607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82</a:t>
            </a:r>
          </a:p>
        </p:txBody>
      </p:sp>
      <p:sp>
        <p:nvSpPr>
          <p:cNvPr id="14" name="SDPM::chart.insight::label_1" title="SDPM::chart.insight::label_1" descr="SDPM::chart.insight::label_1"/>
          <p:cNvSpPr txBox="1"/>
          <p:nvPr/>
        </p:nvSpPr>
        <p:spPr>
          <a:xfrm>
            <a:off x="635000" y="3926776"/>
            <a:ext cx="3029712" cy="59607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市場</a:t>
            </a:r>
            <a:r>
              <a:rPr sz="1400">
                <a:solidFill>
                  <a:srgbClr val="29231F"/>
                </a:solidFill>
                <a:latin typeface="Yu Gothic UI"/>
              </a:rPr>
              <a:t> B</a:t>
            </a:r>
          </a:p>
        </p:txBody>
      </p:sp>
      <p:cxnSp>
        <p:nvCxnSpPr>
          <p:cNvPr id="15" name="SDPM::chart.insight::base_1" title="SDPM::chart.insight::base_1" descr="SDPM::chart.insight::base_1"/>
          <p:cNvCxnSpPr/>
          <p:nvPr/>
        </p:nvCxnSpPr>
        <p:spPr>
          <a:xfrm>
            <a:off x="3715512" y="4224782"/>
            <a:ext cx="6167628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DPM::chart.insight::bar_1" title="SDPM::chart.insight::bar_1" descr="SDPM::chart.insight::bar_1"/>
          <p:cNvSpPr/>
          <p:nvPr/>
        </p:nvSpPr>
        <p:spPr>
          <a:xfrm>
            <a:off x="3715512" y="4123499"/>
            <a:ext cx="4738560" cy="202692"/>
          </a:xfrm>
          <a:prstGeom prst="rect">
            <a:avLst/>
          </a:prstGeom>
          <a:solidFill>
            <a:srgbClr val="65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DPM::chart.insight::direct_1" title="SDPM::chart.insight::direct_1" descr="SDPM::chart.insight::direct_1"/>
          <p:cNvSpPr txBox="1"/>
          <p:nvPr/>
        </p:nvSpPr>
        <p:spPr>
          <a:xfrm>
            <a:off x="8492172" y="3926776"/>
            <a:ext cx="571500" cy="59607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57C8A"/>
                </a:solidFill>
                <a:latin typeface="Yu Gothic UI"/>
              </a:rPr>
              <a:t>63</a:t>
            </a:r>
          </a:p>
        </p:txBody>
      </p:sp>
      <p:sp>
        <p:nvSpPr>
          <p:cNvPr id="18" name="SDPM::chart.insight::label_2" title="SDPM::chart.insight::label_2" descr="SDPM::chart.insight::label_2"/>
          <p:cNvSpPr txBox="1"/>
          <p:nvPr/>
        </p:nvSpPr>
        <p:spPr>
          <a:xfrm>
            <a:off x="635000" y="4586351"/>
            <a:ext cx="3029712" cy="59607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市場</a:t>
            </a:r>
            <a:r>
              <a:rPr sz="1400">
                <a:solidFill>
                  <a:srgbClr val="29231F"/>
                </a:solidFill>
                <a:latin typeface="Yu Gothic UI"/>
              </a:rPr>
              <a:t> C</a:t>
            </a:r>
          </a:p>
        </p:txBody>
      </p:sp>
      <p:cxnSp>
        <p:nvCxnSpPr>
          <p:cNvPr id="19" name="SDPM::chart.insight::base_2" title="SDPM::chart.insight::base_2" descr="SDPM::chart.insight::base_2"/>
          <p:cNvCxnSpPr/>
          <p:nvPr/>
        </p:nvCxnSpPr>
        <p:spPr>
          <a:xfrm>
            <a:off x="3715512" y="4884356"/>
            <a:ext cx="6167628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DPM::chart.insight::bar_2" title="SDPM::chart.insight::bar_2" descr="SDPM::chart.insight::bar_2"/>
          <p:cNvSpPr/>
          <p:nvPr/>
        </p:nvSpPr>
        <p:spPr>
          <a:xfrm>
            <a:off x="3715512" y="4783074"/>
            <a:ext cx="3083814" cy="202692"/>
          </a:xfrm>
          <a:prstGeom prst="rect">
            <a:avLst/>
          </a:prstGeom>
          <a:solidFill>
            <a:srgbClr val="65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DPM::chart.insight::direct_2" title="SDPM::chart.insight::direct_2" descr="SDPM::chart.insight::direct_2"/>
          <p:cNvSpPr txBox="1"/>
          <p:nvPr/>
        </p:nvSpPr>
        <p:spPr>
          <a:xfrm>
            <a:off x="6837426" y="4586351"/>
            <a:ext cx="571500" cy="59607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57C8A"/>
                </a:solidFill>
                <a:latin typeface="Yu Gothic UI"/>
              </a:rPr>
              <a:t>41</a:t>
            </a:r>
          </a:p>
        </p:txBody>
      </p:sp>
      <p:sp>
        <p:nvSpPr>
          <p:cNvPr id="22" name="SDPM::chart.insight::label_3" title="SDPM::chart.insight::label_3" descr="SDPM::chart.insight::label_3"/>
          <p:cNvSpPr txBox="1"/>
          <p:nvPr/>
        </p:nvSpPr>
        <p:spPr>
          <a:xfrm>
            <a:off x="635000" y="5245925"/>
            <a:ext cx="3029712" cy="59607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市場</a:t>
            </a:r>
            <a:r>
              <a:rPr sz="1400">
                <a:solidFill>
                  <a:srgbClr val="29231F"/>
                </a:solidFill>
                <a:latin typeface="Yu Gothic UI"/>
              </a:rPr>
              <a:t> D</a:t>
            </a:r>
          </a:p>
        </p:txBody>
      </p:sp>
      <p:cxnSp>
        <p:nvCxnSpPr>
          <p:cNvPr id="23" name="SDPM::chart.insight::base_3" title="SDPM::chart.insight::base_3" descr="SDPM::chart.insight::base_3"/>
          <p:cNvCxnSpPr/>
          <p:nvPr/>
        </p:nvCxnSpPr>
        <p:spPr>
          <a:xfrm>
            <a:off x="3715512" y="5543931"/>
            <a:ext cx="6167628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DPM::chart.insight::bar_3" title="SDPM::chart.insight::bar_3" descr="SDPM::chart.insight::bar_3"/>
          <p:cNvSpPr/>
          <p:nvPr/>
        </p:nvSpPr>
        <p:spPr>
          <a:xfrm>
            <a:off x="3715512" y="5442648"/>
            <a:ext cx="2030793" cy="202692"/>
          </a:xfrm>
          <a:prstGeom prst="rect">
            <a:avLst/>
          </a:prstGeom>
          <a:solidFill>
            <a:srgbClr val="65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DPM::chart.insight::direct_3" title="SDPM::chart.insight::direct_3" descr="SDPM::chart.insight::direct_3"/>
          <p:cNvSpPr txBox="1"/>
          <p:nvPr/>
        </p:nvSpPr>
        <p:spPr>
          <a:xfrm>
            <a:off x="5784405" y="5245925"/>
            <a:ext cx="571500" cy="59607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57C8A"/>
                </a:solidFill>
                <a:latin typeface="Yu Gothic UI"/>
              </a:rPr>
              <a:t>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Editorial Premium — composition, typography and reading path are theme-specific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263E4C"/>
                </a:solidFill>
                <a:latin typeface="Yu Gothic UI"/>
              </a:rPr>
              <a:t>Findings +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narrative.findings_implications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narrative.findings_implications::index_0" title="SDPM::narrative.findings_implications::index_0" descr="SDPM::narrative.findings_implications::index_0"/>
          <p:cNvSpPr txBox="1"/>
          <p:nvPr/>
        </p:nvSpPr>
        <p:spPr>
          <a:xfrm>
            <a:off x="635000" y="1524000"/>
            <a:ext cx="3522154" cy="254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400">
                <a:solidFill>
                  <a:srgbClr val="A45A3A"/>
                </a:solidFill>
                <a:latin typeface="Yu Gothic UI"/>
              </a:rPr>
              <a:t>01</a:t>
            </a:r>
          </a:p>
        </p:txBody>
      </p:sp>
      <p:cxnSp>
        <p:nvCxnSpPr>
          <p:cNvPr id="7" name="SDPM::narrative.findings_implications::rule_0" title="SDPM::narrative.findings_implications::rule_0" descr="SDPM::narrative.findings_implications::rule_0"/>
          <p:cNvCxnSpPr/>
          <p:nvPr/>
        </p:nvCxnSpPr>
        <p:spPr>
          <a:xfrm>
            <a:off x="635000" y="1854200"/>
            <a:ext cx="3522154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narrative.findings_implications::finding_0" title="SDPM::narrative.findings_implications::finding_0" descr="SDPM::narrative.findings_implications::finding_0"/>
          <p:cNvSpPr txBox="1"/>
          <p:nvPr/>
        </p:nvSpPr>
        <p:spPr>
          <a:xfrm>
            <a:off x="635000" y="1968500"/>
            <a:ext cx="3522154" cy="176682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800">
                <a:solidFill>
                  <a:srgbClr val="29231F"/>
                </a:solidFill>
                <a:latin typeface="Yu Gothic UI"/>
              </a:rPr>
              <a:t>離反の</a:t>
            </a:r>
            <a:r>
              <a:rPr sz="1800">
                <a:solidFill>
                  <a:srgbClr val="29231F"/>
                </a:solidFill>
                <a:latin typeface="Yu Gothic UI"/>
              </a:rPr>
              <a:t> 62% </a:t>
            </a:r>
            <a:r>
              <a:rPr lang="ja-JP" sz="1800">
                <a:solidFill>
                  <a:srgbClr val="29231F"/>
                </a:solidFill>
                <a:latin typeface="Yu Gothic UI"/>
              </a:rPr>
              <a:t>が導入</a:t>
            </a:r>
            <a:r>
              <a:rPr sz="1800">
                <a:solidFill>
                  <a:srgbClr val="29231F"/>
                </a:solidFill>
                <a:latin typeface="Yu Gothic UI"/>
              </a:rPr>
              <a:t> 90 </a:t>
            </a:r>
            <a:r>
              <a:rPr lang="ja-JP" sz="1800">
                <a:solidFill>
                  <a:srgbClr val="29231F"/>
                </a:solidFill>
                <a:latin typeface="Yu Gothic UI"/>
              </a:rPr>
              <a:t>日以内に発生</a:t>
            </a:r>
          </a:p>
        </p:txBody>
      </p:sp>
      <p:sp>
        <p:nvSpPr>
          <p:cNvPr id="9" name="SDPM::narrative.findings_implications::implication_0" title="SDPM::narrative.findings_implications::implication_0" descr="SDPM::narrative.findings_implications::implication_0"/>
          <p:cNvSpPr txBox="1"/>
          <p:nvPr/>
        </p:nvSpPr>
        <p:spPr>
          <a:xfrm>
            <a:off x="635000" y="3849624"/>
            <a:ext cx="3522154" cy="199237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600">
                <a:solidFill>
                  <a:srgbClr val="A45A3A"/>
                </a:solidFill>
                <a:latin typeface="Yu Gothic UI"/>
              </a:rPr>
              <a:t>オンボーディングを最優先で改善</a:t>
            </a:r>
          </a:p>
        </p:txBody>
      </p:sp>
      <p:sp>
        <p:nvSpPr>
          <p:cNvPr id="10" name="SDPM::narrative.findings_implications::index_1" title="SDPM::narrative.findings_implications::index_1" descr="SDPM::narrative.findings_implications::index_1"/>
          <p:cNvSpPr txBox="1"/>
          <p:nvPr/>
        </p:nvSpPr>
        <p:spPr>
          <a:xfrm>
            <a:off x="4334954" y="1524000"/>
            <a:ext cx="3522154" cy="254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400">
                <a:solidFill>
                  <a:srgbClr val="A45A3A"/>
                </a:solidFill>
                <a:latin typeface="Yu Gothic UI"/>
              </a:rPr>
              <a:t>02</a:t>
            </a:r>
          </a:p>
        </p:txBody>
      </p:sp>
      <p:cxnSp>
        <p:nvCxnSpPr>
          <p:cNvPr id="11" name="SDPM::narrative.findings_implications::rule_1" title="SDPM::narrative.findings_implications::rule_1" descr="SDPM::narrative.findings_implications::rule_1"/>
          <p:cNvCxnSpPr/>
          <p:nvPr/>
        </p:nvCxnSpPr>
        <p:spPr>
          <a:xfrm>
            <a:off x="4334954" y="1854200"/>
            <a:ext cx="3522091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DPM::narrative.findings_implications::finding_1" title="SDPM::narrative.findings_implications::finding_1" descr="SDPM::narrative.findings_implications::finding_1"/>
          <p:cNvSpPr txBox="1"/>
          <p:nvPr/>
        </p:nvSpPr>
        <p:spPr>
          <a:xfrm>
            <a:off x="4334954" y="1968500"/>
            <a:ext cx="3522154" cy="176682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800">
                <a:solidFill>
                  <a:srgbClr val="29231F"/>
                </a:solidFill>
                <a:latin typeface="Yu Gothic UI"/>
              </a:rPr>
              <a:t>高収益顧客ほど利用部門が限定</a:t>
            </a:r>
          </a:p>
        </p:txBody>
      </p:sp>
      <p:sp>
        <p:nvSpPr>
          <p:cNvPr id="13" name="SDPM::narrative.findings_implications::implication_1" title="SDPM::narrative.findings_implications::implication_1" descr="SDPM::narrative.findings_implications::implication_1"/>
          <p:cNvSpPr txBox="1"/>
          <p:nvPr/>
        </p:nvSpPr>
        <p:spPr>
          <a:xfrm>
            <a:off x="4334954" y="3849624"/>
            <a:ext cx="3522154" cy="199237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600">
                <a:solidFill>
                  <a:srgbClr val="A45A3A"/>
                </a:solidFill>
                <a:latin typeface="Yu Gothic UI"/>
              </a:rPr>
              <a:t>部門展開を契約・支援に組み込む</a:t>
            </a:r>
          </a:p>
        </p:txBody>
      </p:sp>
      <p:sp>
        <p:nvSpPr>
          <p:cNvPr id="14" name="SDPM::narrative.findings_implications::index_2" title="SDPM::narrative.findings_implications::index_2" descr="SDPM::narrative.findings_implications::index_2"/>
          <p:cNvSpPr txBox="1"/>
          <p:nvPr/>
        </p:nvSpPr>
        <p:spPr>
          <a:xfrm>
            <a:off x="8034845" y="1524000"/>
            <a:ext cx="3522154" cy="254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400">
                <a:solidFill>
                  <a:srgbClr val="A45A3A"/>
                </a:solidFill>
                <a:latin typeface="Yu Gothic UI"/>
              </a:rPr>
              <a:t>03</a:t>
            </a:r>
          </a:p>
        </p:txBody>
      </p:sp>
      <p:cxnSp>
        <p:nvCxnSpPr>
          <p:cNvPr id="15" name="SDPM::narrative.findings_implications::rule_2" title="SDPM::narrative.findings_implications::rule_2" descr="SDPM::narrative.findings_implications::rule_2"/>
          <p:cNvCxnSpPr/>
          <p:nvPr/>
        </p:nvCxnSpPr>
        <p:spPr>
          <a:xfrm>
            <a:off x="8034845" y="1854200"/>
            <a:ext cx="3522155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DPM::narrative.findings_implications::finding_2" title="SDPM::narrative.findings_implications::finding_2" descr="SDPM::narrative.findings_implications::finding_2"/>
          <p:cNvSpPr txBox="1"/>
          <p:nvPr/>
        </p:nvSpPr>
        <p:spPr>
          <a:xfrm>
            <a:off x="8034845" y="1968500"/>
            <a:ext cx="3522154" cy="176682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800">
                <a:solidFill>
                  <a:srgbClr val="29231F"/>
                </a:solidFill>
                <a:latin typeface="Yu Gothic UI"/>
              </a:rPr>
              <a:t>価格不満より効果不明が多い</a:t>
            </a:r>
          </a:p>
        </p:txBody>
      </p:sp>
      <p:sp>
        <p:nvSpPr>
          <p:cNvPr id="17" name="SDPM::narrative.findings_implications::implication_2" title="SDPM::narrative.findings_implications::implication_2" descr="SDPM::narrative.findings_implications::implication_2"/>
          <p:cNvSpPr txBox="1"/>
          <p:nvPr/>
        </p:nvSpPr>
        <p:spPr>
          <a:xfrm>
            <a:off x="8034845" y="3849624"/>
            <a:ext cx="3522154" cy="199237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600">
                <a:solidFill>
                  <a:srgbClr val="A45A3A"/>
                </a:solidFill>
                <a:latin typeface="Yu Gothic UI"/>
              </a:rPr>
              <a:t>成果</a:t>
            </a:r>
            <a:r>
              <a:rPr sz="1600">
                <a:solidFill>
                  <a:srgbClr val="A45A3A"/>
                </a:solidFill>
                <a:latin typeface="Yu Gothic UI"/>
              </a:rPr>
              <a:t> KPI </a:t>
            </a:r>
            <a:r>
              <a:rPr lang="ja-JP" sz="1600">
                <a:solidFill>
                  <a:srgbClr val="A45A3A"/>
                </a:solidFill>
                <a:latin typeface="Yu Gothic UI"/>
              </a:rPr>
              <a:t>を顧客と共同定義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Editorial Premium — composition, typography and reading path are theme-specific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263E4C"/>
                </a:solidFill>
                <a:latin typeface="Yu Gothic UI"/>
              </a:rPr>
              <a:t>Strategy 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strategy.house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strategy.house::kicker" title="SDPM::strategy.house::kicker" descr="SDPM::strategy.house::kicker"/>
          <p:cNvSpPr txBox="1"/>
          <p:nvPr/>
        </p:nvSpPr>
        <p:spPr>
          <a:xfrm>
            <a:off x="635000" y="1524000"/>
            <a:ext cx="1460500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STRATEGY ARCHITECTURE</a:t>
            </a:r>
          </a:p>
        </p:txBody>
      </p:sp>
      <p:cxnSp>
        <p:nvCxnSpPr>
          <p:cNvPr id="7" name="SDPM::strategy.house::kicker_rule" title="SDPM::strategy.house::kicker_rule" descr="SDPM::strategy.house::kicker_rule"/>
          <p:cNvCxnSpPr/>
          <p:nvPr/>
        </p:nvCxnSpPr>
        <p:spPr>
          <a:xfrm>
            <a:off x="635000" y="1689100"/>
            <a:ext cx="698500" cy="0"/>
          </a:xfrm>
          <a:prstGeom prst="line">
            <a:avLst/>
          </a:prstGeom>
          <a:ln w="31750">
            <a:solidFill>
              <a:srgbClr val="A4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strategy.house::aspiration" title="SDPM::strategy.house::aspiration" descr="SDPM::strategy.house::aspiration"/>
          <p:cNvSpPr txBox="1"/>
          <p:nvPr/>
        </p:nvSpPr>
        <p:spPr>
          <a:xfrm>
            <a:off x="635000" y="1790700"/>
            <a:ext cx="8956040" cy="762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2200">
                <a:solidFill>
                  <a:srgbClr val="263E4C"/>
                </a:solidFill>
                <a:latin typeface="Yu Gothic UI"/>
              </a:rPr>
              <a:t>市場</a:t>
            </a:r>
            <a:r>
              <a:rPr sz="2200">
                <a:solidFill>
                  <a:srgbClr val="263E4C"/>
                </a:solidFill>
                <a:latin typeface="Yu Gothic UI"/>
              </a:rPr>
              <a:t> A </a:t>
            </a:r>
            <a:r>
              <a:rPr lang="ja-JP" sz="2200">
                <a:solidFill>
                  <a:srgbClr val="263E4C"/>
                </a:solidFill>
                <a:latin typeface="Yu Gothic UI"/>
              </a:rPr>
              <a:t>で顧客成果を最も再現できるパートナーへ</a:t>
            </a:r>
          </a:p>
        </p:txBody>
      </p:sp>
      <p:sp>
        <p:nvSpPr>
          <p:cNvPr id="9" name="SDPM::strategy.house::index_0" title="SDPM::strategy.house::index_0" descr="SDPM::strategy.house::index_0"/>
          <p:cNvSpPr txBox="1"/>
          <p:nvPr/>
        </p:nvSpPr>
        <p:spPr>
          <a:xfrm>
            <a:off x="635000" y="2654300"/>
            <a:ext cx="3522154" cy="1905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700">
                <a:solidFill>
                  <a:srgbClr val="A45A3A"/>
                </a:solidFill>
                <a:latin typeface="Yu Gothic UI"/>
              </a:rPr>
              <a:t>01</a:t>
            </a:r>
          </a:p>
        </p:txBody>
      </p:sp>
      <p:cxnSp>
        <p:nvCxnSpPr>
          <p:cNvPr id="10" name="SDPM::strategy.house::rule_0" title="SDPM::strategy.house::rule_0" descr="SDPM::strategy.house::rule_0"/>
          <p:cNvCxnSpPr/>
          <p:nvPr/>
        </p:nvCxnSpPr>
        <p:spPr>
          <a:xfrm>
            <a:off x="635000" y="2908300"/>
            <a:ext cx="3522154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strategy.house::choice_title_0" title="SDPM::strategy.house::choice_title_0" descr="SDPM::strategy.house::choice_title_0"/>
          <p:cNvSpPr txBox="1"/>
          <p:nvPr/>
        </p:nvSpPr>
        <p:spPr>
          <a:xfrm>
            <a:off x="635000" y="3009900"/>
            <a:ext cx="3522154" cy="659257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900">
                <a:solidFill>
                  <a:srgbClr val="29231F"/>
                </a:solidFill>
                <a:latin typeface="Yu Gothic UI"/>
              </a:rPr>
              <a:t>Where to play</a:t>
            </a:r>
          </a:p>
        </p:txBody>
      </p:sp>
      <p:sp>
        <p:nvSpPr>
          <p:cNvPr id="12" name="SDPM::strategy.house::choice_body_0" title="SDPM::strategy.house::choice_body_0" descr="SDPM::strategy.house::choice_body_0"/>
          <p:cNvSpPr txBox="1"/>
          <p:nvPr/>
        </p:nvSpPr>
        <p:spPr>
          <a:xfrm>
            <a:off x="635000" y="3719957"/>
            <a:ext cx="3522154" cy="1279779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400">
                <a:solidFill>
                  <a:srgbClr val="746D66"/>
                </a:solidFill>
                <a:latin typeface="Yu Gothic UI"/>
              </a:rPr>
              <a:t>市場</a:t>
            </a:r>
            <a:r>
              <a:rPr sz="1400">
                <a:solidFill>
                  <a:srgbClr val="746D66"/>
                </a:solidFill>
                <a:latin typeface="Yu Gothic UI"/>
              </a:rPr>
              <a:t> A </a:t>
            </a:r>
            <a:r>
              <a:rPr lang="ja-JP" sz="1400">
                <a:solidFill>
                  <a:srgbClr val="746D66"/>
                </a:solidFill>
                <a:latin typeface="Yu Gothic UI"/>
              </a:rPr>
              <a:t>の中堅・大企業</a:t>
            </a:r>
          </a:p>
        </p:txBody>
      </p:sp>
      <p:sp>
        <p:nvSpPr>
          <p:cNvPr id="13" name="SDPM::strategy.house::index_1" title="SDPM::strategy.house::index_1" descr="SDPM::strategy.house::index_1"/>
          <p:cNvSpPr txBox="1"/>
          <p:nvPr/>
        </p:nvSpPr>
        <p:spPr>
          <a:xfrm>
            <a:off x="4334954" y="2654300"/>
            <a:ext cx="3522154" cy="1905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700">
                <a:solidFill>
                  <a:srgbClr val="A45A3A"/>
                </a:solidFill>
                <a:latin typeface="Yu Gothic UI"/>
              </a:rPr>
              <a:t>02</a:t>
            </a:r>
          </a:p>
        </p:txBody>
      </p:sp>
      <p:cxnSp>
        <p:nvCxnSpPr>
          <p:cNvPr id="14" name="SDPM::strategy.house::rule_1" title="SDPM::strategy.house::rule_1" descr="SDPM::strategy.house::rule_1"/>
          <p:cNvCxnSpPr/>
          <p:nvPr/>
        </p:nvCxnSpPr>
        <p:spPr>
          <a:xfrm>
            <a:off x="4334954" y="2908300"/>
            <a:ext cx="3522091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DPM::strategy.house::choice_title_1" title="SDPM::strategy.house::choice_title_1" descr="SDPM::strategy.house::choice_title_1"/>
          <p:cNvSpPr txBox="1"/>
          <p:nvPr/>
        </p:nvSpPr>
        <p:spPr>
          <a:xfrm>
            <a:off x="4334954" y="3009900"/>
            <a:ext cx="3522154" cy="659257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900">
                <a:solidFill>
                  <a:srgbClr val="29231F"/>
                </a:solidFill>
                <a:latin typeface="Yu Gothic UI"/>
              </a:rPr>
              <a:t>How to win</a:t>
            </a:r>
          </a:p>
        </p:txBody>
      </p:sp>
      <p:sp>
        <p:nvSpPr>
          <p:cNvPr id="16" name="SDPM::strategy.house::choice_body_1" title="SDPM::strategy.house::choice_body_1" descr="SDPM::strategy.house::choice_body_1"/>
          <p:cNvSpPr txBox="1"/>
          <p:nvPr/>
        </p:nvSpPr>
        <p:spPr>
          <a:xfrm>
            <a:off x="4334954" y="3719957"/>
            <a:ext cx="3522154" cy="1279779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400">
                <a:solidFill>
                  <a:srgbClr val="746D66"/>
                </a:solidFill>
                <a:latin typeface="Yu Gothic UI"/>
              </a:rPr>
              <a:t>成果連動型の価値提案</a:t>
            </a:r>
          </a:p>
        </p:txBody>
      </p:sp>
      <p:sp>
        <p:nvSpPr>
          <p:cNvPr id="17" name="SDPM::strategy.house::index_2" title="SDPM::strategy.house::index_2" descr="SDPM::strategy.house::index_2"/>
          <p:cNvSpPr txBox="1"/>
          <p:nvPr/>
        </p:nvSpPr>
        <p:spPr>
          <a:xfrm>
            <a:off x="8034845" y="2654300"/>
            <a:ext cx="3522154" cy="1905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700">
                <a:solidFill>
                  <a:srgbClr val="A45A3A"/>
                </a:solidFill>
                <a:latin typeface="Yu Gothic UI"/>
              </a:rPr>
              <a:t>03</a:t>
            </a:r>
          </a:p>
        </p:txBody>
      </p:sp>
      <p:cxnSp>
        <p:nvCxnSpPr>
          <p:cNvPr id="18" name="SDPM::strategy.house::rule_2" title="SDPM::strategy.house::rule_2" descr="SDPM::strategy.house::rule_2"/>
          <p:cNvCxnSpPr/>
          <p:nvPr/>
        </p:nvCxnSpPr>
        <p:spPr>
          <a:xfrm>
            <a:off x="8034845" y="2908300"/>
            <a:ext cx="3522155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DPM::strategy.house::choice_title_2" title="SDPM::strategy.house::choice_title_2" descr="SDPM::strategy.house::choice_title_2"/>
          <p:cNvSpPr txBox="1"/>
          <p:nvPr/>
        </p:nvSpPr>
        <p:spPr>
          <a:xfrm>
            <a:off x="8034845" y="3009900"/>
            <a:ext cx="3522154" cy="659257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900">
                <a:solidFill>
                  <a:srgbClr val="29231F"/>
                </a:solidFill>
                <a:latin typeface="Yu Gothic UI"/>
              </a:rPr>
              <a:t>Right to win</a:t>
            </a:r>
          </a:p>
        </p:txBody>
      </p:sp>
      <p:sp>
        <p:nvSpPr>
          <p:cNvPr id="20" name="SDPM::strategy.house::choice_body_2" title="SDPM::strategy.house::choice_body_2" descr="SDPM::strategy.house::choice_body_2"/>
          <p:cNvSpPr txBox="1"/>
          <p:nvPr/>
        </p:nvSpPr>
        <p:spPr>
          <a:xfrm>
            <a:off x="8034845" y="3719957"/>
            <a:ext cx="3522154" cy="1279779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400">
                <a:solidFill>
                  <a:srgbClr val="746D66"/>
                </a:solidFill>
                <a:latin typeface="Yu Gothic UI"/>
              </a:rPr>
              <a:t>現場知見</a:t>
            </a:r>
            <a:r>
              <a:rPr sz="1400">
                <a:solidFill>
                  <a:srgbClr val="746D66"/>
                </a:solidFill>
                <a:latin typeface="Yu Gothic UI"/>
              </a:rPr>
              <a:t>×</a:t>
            </a:r>
            <a:r>
              <a:rPr lang="ja-JP" sz="1400">
                <a:solidFill>
                  <a:srgbClr val="746D66"/>
                </a:solidFill>
                <a:latin typeface="Yu Gothic UI"/>
              </a:rPr>
              <a:t>利用データ</a:t>
            </a:r>
          </a:p>
        </p:txBody>
      </p:sp>
      <p:sp>
        <p:nvSpPr>
          <p:cNvPr id="21" name="SDPM::strategy.house::initiative_0" title="SDPM::strategy.house::initiative_0" descr="SDPM::strategy.house::initiative_0"/>
          <p:cNvSpPr/>
          <p:nvPr/>
        </p:nvSpPr>
        <p:spPr>
          <a:xfrm>
            <a:off x="635000" y="5101336"/>
            <a:ext cx="3606800" cy="365315"/>
          </a:xfrm>
          <a:prstGeom prst="roundRect">
            <a:avLst/>
          </a:prstGeom>
          <a:solidFill>
            <a:srgbClr val="F1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29231F"/>
                </a:solidFill>
                <a:latin typeface="Yu Gothic UI"/>
              </a:rPr>
              <a:t>オンボーディング再設計</a:t>
            </a:r>
          </a:p>
        </p:txBody>
      </p:sp>
      <p:sp>
        <p:nvSpPr>
          <p:cNvPr id="22" name="SDPM::strategy.house::initiative_1" title="SDPM::strategy.house::initiative_1" descr="SDPM::strategy.house::initiative_1"/>
          <p:cNvSpPr/>
          <p:nvPr/>
        </p:nvSpPr>
        <p:spPr>
          <a:xfrm>
            <a:off x="4292600" y="5101336"/>
            <a:ext cx="3606800" cy="365315"/>
          </a:xfrm>
          <a:prstGeom prst="roundRect">
            <a:avLst/>
          </a:prstGeom>
          <a:solidFill>
            <a:srgbClr val="F1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29231F"/>
                </a:solidFill>
                <a:latin typeface="Yu Gothic UI"/>
              </a:rPr>
              <a:t>価格・契約変更</a:t>
            </a:r>
          </a:p>
        </p:txBody>
      </p:sp>
      <p:sp>
        <p:nvSpPr>
          <p:cNvPr id="23" name="SDPM::strategy.house::initiative_2" title="SDPM::strategy.house::initiative_2" descr="SDPM::strategy.house::initiative_2"/>
          <p:cNvSpPr/>
          <p:nvPr/>
        </p:nvSpPr>
        <p:spPr>
          <a:xfrm>
            <a:off x="7950200" y="5101336"/>
            <a:ext cx="3606800" cy="365315"/>
          </a:xfrm>
          <a:prstGeom prst="roundRect">
            <a:avLst/>
          </a:prstGeom>
          <a:solidFill>
            <a:srgbClr val="F1E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29231F"/>
                </a:solidFill>
                <a:latin typeface="Yu Gothic UI"/>
              </a:rPr>
              <a:t>部門展開モデル</a:t>
            </a:r>
          </a:p>
        </p:txBody>
      </p:sp>
      <p:sp>
        <p:nvSpPr>
          <p:cNvPr id="24" name="SDPM::strategy.house::foundation" title="SDPM::strategy.house::foundation" descr="SDPM::strategy.house::foundation"/>
          <p:cNvSpPr txBox="1"/>
          <p:nvPr/>
        </p:nvSpPr>
        <p:spPr>
          <a:xfrm>
            <a:off x="635000" y="5504751"/>
            <a:ext cx="10922000" cy="33724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263E4C"/>
                </a:solidFill>
                <a:latin typeface="Yu Gothic UI"/>
              </a:rPr>
              <a:t>CX </a:t>
            </a:r>
            <a:r>
              <a:rPr lang="ja-JP" sz="1200">
                <a:solidFill>
                  <a:srgbClr val="263E4C"/>
                </a:solidFill>
                <a:latin typeface="Yu Gothic UI"/>
              </a:rPr>
              <a:t>人材</a:t>
            </a:r>
            <a:r>
              <a:rPr sz="1200">
                <a:solidFill>
                  <a:srgbClr val="263E4C"/>
                </a:solidFill>
                <a:latin typeface="Yu Gothic UI"/>
              </a:rPr>
              <a:t>  •  </a:t>
            </a:r>
            <a:r>
              <a:rPr lang="ja-JP" sz="1200">
                <a:solidFill>
                  <a:srgbClr val="263E4C"/>
                </a:solidFill>
                <a:latin typeface="Yu Gothic UI"/>
              </a:rPr>
              <a:t>顧客データ</a:t>
            </a:r>
            <a:r>
              <a:rPr sz="1200">
                <a:solidFill>
                  <a:srgbClr val="263E4C"/>
                </a:solidFill>
                <a:latin typeface="Yu Gothic UI"/>
              </a:rPr>
              <a:t>  •  </a:t>
            </a:r>
            <a:r>
              <a:rPr lang="ja-JP" sz="1200">
                <a:solidFill>
                  <a:srgbClr val="263E4C"/>
                </a:solidFill>
                <a:latin typeface="Yu Gothic UI"/>
              </a:rPr>
              <a:t>ガバナンス</a:t>
            </a:r>
            <a:r>
              <a:rPr sz="1200">
                <a:solidFill>
                  <a:srgbClr val="263E4C"/>
                </a:solidFill>
                <a:latin typeface="Yu Gothic UI"/>
              </a:rPr>
              <a:t>  •  </a:t>
            </a:r>
            <a:r>
              <a:rPr lang="ja-JP" sz="1200">
                <a:solidFill>
                  <a:srgbClr val="263E4C"/>
                </a:solidFill>
                <a:latin typeface="Yu Gothic UI"/>
              </a:rPr>
              <a:t>顧客中心文化・収益管理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Editorial Premium — composition, typography and reading path are theme-specific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263E4C"/>
                </a:solidFill>
                <a:latin typeface="Yu Gothic UI"/>
              </a:rPr>
              <a:t>Issue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strategy.issue_tree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strategy.issue_tree::kicker" title="SDPM::strategy.issue_tree::kicker" descr="SDPM::strategy.issue_tree::kicker"/>
          <p:cNvSpPr txBox="1"/>
          <p:nvPr/>
        </p:nvSpPr>
        <p:spPr>
          <a:xfrm>
            <a:off x="635000" y="1524000"/>
            <a:ext cx="3822191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ISSUE TREE</a:t>
            </a:r>
          </a:p>
        </p:txBody>
      </p:sp>
      <p:cxnSp>
        <p:nvCxnSpPr>
          <p:cNvPr id="7" name="SDPM::strategy.issue_tree::kicker_rule" title="SDPM::strategy.issue_tree::kicker_rule" descr="SDPM::strategy.issue_tree::kicker_rule"/>
          <p:cNvCxnSpPr/>
          <p:nvPr/>
        </p:nvCxnSpPr>
        <p:spPr>
          <a:xfrm>
            <a:off x="635000" y="1689100"/>
            <a:ext cx="698500" cy="0"/>
          </a:xfrm>
          <a:prstGeom prst="line">
            <a:avLst/>
          </a:prstGeom>
          <a:ln w="31750">
            <a:solidFill>
              <a:srgbClr val="A4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strategy.issue_tree::root" title="SDPM::strategy.issue_tree::root" descr="SDPM::strategy.issue_tree::root"/>
          <p:cNvSpPr txBox="1"/>
          <p:nvPr/>
        </p:nvSpPr>
        <p:spPr>
          <a:xfrm>
            <a:off x="635000" y="1854200"/>
            <a:ext cx="3695191" cy="398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400">
                <a:solidFill>
                  <a:srgbClr val="263E4C"/>
                </a:solidFill>
                <a:latin typeface="Yu Gothic UI"/>
              </a:rPr>
              <a:t>利益成長をどう実現するか</a:t>
            </a:r>
          </a:p>
        </p:txBody>
      </p:sp>
      <p:sp>
        <p:nvSpPr>
          <p:cNvPr id="9" name="SDPM::strategy.issue_tree::index_0" title="SDPM::strategy.issue_tree::index_0" descr="SDPM::strategy.issue_tree::index_0"/>
          <p:cNvSpPr txBox="1"/>
          <p:nvPr/>
        </p:nvSpPr>
        <p:spPr>
          <a:xfrm>
            <a:off x="4761992" y="1524000"/>
            <a:ext cx="2146490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800">
                <a:solidFill>
                  <a:srgbClr val="A45A3A"/>
                </a:solidFill>
                <a:latin typeface="Yu Gothic UI"/>
              </a:rPr>
              <a:t>01</a:t>
            </a:r>
          </a:p>
        </p:txBody>
      </p:sp>
      <p:cxnSp>
        <p:nvCxnSpPr>
          <p:cNvPr id="10" name="SDPM::strategy.issue_tree::rule_0" title="SDPM::strategy.issue_tree::rule_0" descr="SDPM::strategy.issue_tree::rule_0"/>
          <p:cNvCxnSpPr/>
          <p:nvPr/>
        </p:nvCxnSpPr>
        <p:spPr>
          <a:xfrm>
            <a:off x="4761992" y="1790700"/>
            <a:ext cx="214649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strategy.issue_tree::branch_0" title="SDPM::strategy.issue_tree::branch_0" descr="SDPM::strategy.issue_tree::branch_0"/>
          <p:cNvSpPr txBox="1"/>
          <p:nvPr/>
        </p:nvSpPr>
        <p:spPr>
          <a:xfrm>
            <a:off x="4761992" y="1892300"/>
            <a:ext cx="2146490" cy="469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800">
                <a:solidFill>
                  <a:srgbClr val="29231F"/>
                </a:solidFill>
                <a:latin typeface="Yu Gothic UI"/>
              </a:rPr>
              <a:t>売上</a:t>
            </a:r>
          </a:p>
        </p:txBody>
      </p:sp>
      <p:sp>
        <p:nvSpPr>
          <p:cNvPr id="12" name="SDPM::strategy.issue_tree::child_0_0" title="SDPM::strategy.issue_tree::child_0_0" descr="SDPM::strategy.issue_tree::child_0_0"/>
          <p:cNvSpPr txBox="1"/>
          <p:nvPr/>
        </p:nvSpPr>
        <p:spPr>
          <a:xfrm>
            <a:off x="4761992" y="2476500"/>
            <a:ext cx="2146490" cy="304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400">
                <a:solidFill>
                  <a:srgbClr val="746D66"/>
                </a:solidFill>
                <a:latin typeface="Yu Gothic UI"/>
              </a:rPr>
              <a:t>— </a:t>
            </a:r>
            <a:r>
              <a:rPr lang="ja-JP" sz="1400">
                <a:solidFill>
                  <a:srgbClr val="746D66"/>
                </a:solidFill>
                <a:latin typeface="Yu Gothic UI"/>
              </a:rPr>
              <a:t>顧客数</a:t>
            </a:r>
          </a:p>
        </p:txBody>
      </p:sp>
      <p:sp>
        <p:nvSpPr>
          <p:cNvPr id="13" name="SDPM::strategy.issue_tree::child_0_1" title="SDPM::strategy.issue_tree::child_0_1" descr="SDPM::strategy.issue_tree::child_0_1"/>
          <p:cNvSpPr txBox="1"/>
          <p:nvPr/>
        </p:nvSpPr>
        <p:spPr>
          <a:xfrm>
            <a:off x="4761992" y="2832100"/>
            <a:ext cx="2146490" cy="304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400">
                <a:solidFill>
                  <a:srgbClr val="746D66"/>
                </a:solidFill>
                <a:latin typeface="Yu Gothic UI"/>
              </a:rPr>
              <a:t>— </a:t>
            </a:r>
            <a:r>
              <a:rPr lang="ja-JP" sz="1400">
                <a:solidFill>
                  <a:srgbClr val="746D66"/>
                </a:solidFill>
                <a:latin typeface="Yu Gothic UI"/>
              </a:rPr>
              <a:t>単価</a:t>
            </a:r>
          </a:p>
        </p:txBody>
      </p:sp>
      <p:sp>
        <p:nvSpPr>
          <p:cNvPr id="14" name="SDPM::strategy.issue_tree::index_1" title="SDPM::strategy.issue_tree::index_1" descr="SDPM::strategy.issue_tree::index_1"/>
          <p:cNvSpPr txBox="1"/>
          <p:nvPr/>
        </p:nvSpPr>
        <p:spPr>
          <a:xfrm>
            <a:off x="7086282" y="1524000"/>
            <a:ext cx="2146490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800">
                <a:solidFill>
                  <a:srgbClr val="A45A3A"/>
                </a:solidFill>
                <a:latin typeface="Yu Gothic UI"/>
              </a:rPr>
              <a:t>02</a:t>
            </a:r>
          </a:p>
        </p:txBody>
      </p:sp>
      <p:cxnSp>
        <p:nvCxnSpPr>
          <p:cNvPr id="15" name="SDPM::strategy.issue_tree::rule_1" title="SDPM::strategy.issue_tree::rule_1" descr="SDPM::strategy.issue_tree::rule_1"/>
          <p:cNvCxnSpPr/>
          <p:nvPr/>
        </p:nvCxnSpPr>
        <p:spPr>
          <a:xfrm>
            <a:off x="7086282" y="1790700"/>
            <a:ext cx="2146427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DPM::strategy.issue_tree::branch_1" title="SDPM::strategy.issue_tree::branch_1" descr="SDPM::strategy.issue_tree::branch_1"/>
          <p:cNvSpPr txBox="1"/>
          <p:nvPr/>
        </p:nvSpPr>
        <p:spPr>
          <a:xfrm>
            <a:off x="7086282" y="1892300"/>
            <a:ext cx="2146490" cy="469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800">
                <a:solidFill>
                  <a:srgbClr val="29231F"/>
                </a:solidFill>
                <a:latin typeface="Yu Gothic UI"/>
              </a:rPr>
              <a:t>粗利</a:t>
            </a:r>
          </a:p>
        </p:txBody>
      </p:sp>
      <p:sp>
        <p:nvSpPr>
          <p:cNvPr id="17" name="SDPM::strategy.issue_tree::child_1_0" title="SDPM::strategy.issue_tree::child_1_0" descr="SDPM::strategy.issue_tree::child_1_0"/>
          <p:cNvSpPr txBox="1"/>
          <p:nvPr/>
        </p:nvSpPr>
        <p:spPr>
          <a:xfrm>
            <a:off x="7086282" y="2476500"/>
            <a:ext cx="2146490" cy="304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400">
                <a:solidFill>
                  <a:srgbClr val="746D66"/>
                </a:solidFill>
                <a:latin typeface="Yu Gothic UI"/>
              </a:rPr>
              <a:t>— </a:t>
            </a:r>
            <a:r>
              <a:rPr lang="ja-JP" sz="1400">
                <a:solidFill>
                  <a:srgbClr val="746D66"/>
                </a:solidFill>
                <a:latin typeface="Yu Gothic UI"/>
              </a:rPr>
              <a:t>商品構成</a:t>
            </a:r>
          </a:p>
        </p:txBody>
      </p:sp>
      <p:sp>
        <p:nvSpPr>
          <p:cNvPr id="18" name="SDPM::strategy.issue_tree::child_1_1" title="SDPM::strategy.issue_tree::child_1_1" descr="SDPM::strategy.issue_tree::child_1_1"/>
          <p:cNvSpPr txBox="1"/>
          <p:nvPr/>
        </p:nvSpPr>
        <p:spPr>
          <a:xfrm>
            <a:off x="7086282" y="2832100"/>
            <a:ext cx="2146490" cy="304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400">
                <a:solidFill>
                  <a:srgbClr val="746D66"/>
                </a:solidFill>
                <a:latin typeface="Yu Gothic UI"/>
              </a:rPr>
              <a:t>— </a:t>
            </a:r>
            <a:r>
              <a:rPr lang="ja-JP" sz="1400">
                <a:solidFill>
                  <a:srgbClr val="746D66"/>
                </a:solidFill>
                <a:latin typeface="Yu Gothic UI"/>
              </a:rPr>
              <a:t>原価</a:t>
            </a:r>
          </a:p>
        </p:txBody>
      </p:sp>
      <p:sp>
        <p:nvSpPr>
          <p:cNvPr id="19" name="SDPM::strategy.issue_tree::index_2" title="SDPM::strategy.issue_tree::index_2" descr="SDPM::strategy.issue_tree::index_2"/>
          <p:cNvSpPr txBox="1"/>
          <p:nvPr/>
        </p:nvSpPr>
        <p:spPr>
          <a:xfrm>
            <a:off x="9410509" y="1524000"/>
            <a:ext cx="2146490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800">
                <a:solidFill>
                  <a:srgbClr val="A45A3A"/>
                </a:solidFill>
                <a:latin typeface="Yu Gothic UI"/>
              </a:rPr>
              <a:t>03</a:t>
            </a:r>
          </a:p>
        </p:txBody>
      </p:sp>
      <p:cxnSp>
        <p:nvCxnSpPr>
          <p:cNvPr id="20" name="SDPM::strategy.issue_tree::rule_2" title="SDPM::strategy.issue_tree::rule_2" descr="SDPM::strategy.issue_tree::rule_2"/>
          <p:cNvCxnSpPr/>
          <p:nvPr/>
        </p:nvCxnSpPr>
        <p:spPr>
          <a:xfrm>
            <a:off x="9410509" y="1790700"/>
            <a:ext cx="2146491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DPM::strategy.issue_tree::branch_2" title="SDPM::strategy.issue_tree::branch_2" descr="SDPM::strategy.issue_tree::branch_2"/>
          <p:cNvSpPr txBox="1"/>
          <p:nvPr/>
        </p:nvSpPr>
        <p:spPr>
          <a:xfrm>
            <a:off x="9410509" y="1892300"/>
            <a:ext cx="2146490" cy="469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800">
                <a:solidFill>
                  <a:srgbClr val="29231F"/>
                </a:solidFill>
                <a:latin typeface="Yu Gothic UI"/>
              </a:rPr>
              <a:t>販管費</a:t>
            </a:r>
          </a:p>
        </p:txBody>
      </p:sp>
      <p:sp>
        <p:nvSpPr>
          <p:cNvPr id="22" name="SDPM::strategy.issue_tree::child_2_0" title="SDPM::strategy.issue_tree::child_2_0" descr="SDPM::strategy.issue_tree::child_2_0"/>
          <p:cNvSpPr txBox="1"/>
          <p:nvPr/>
        </p:nvSpPr>
        <p:spPr>
          <a:xfrm>
            <a:off x="9410509" y="2476500"/>
            <a:ext cx="2146490" cy="304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400">
                <a:solidFill>
                  <a:srgbClr val="746D66"/>
                </a:solidFill>
                <a:latin typeface="Yu Gothic UI"/>
              </a:rPr>
              <a:t>— </a:t>
            </a:r>
            <a:r>
              <a:rPr lang="ja-JP" sz="1400">
                <a:solidFill>
                  <a:srgbClr val="746D66"/>
                </a:solidFill>
                <a:latin typeface="Yu Gothic UI"/>
              </a:rPr>
              <a:t>生産性</a:t>
            </a:r>
          </a:p>
        </p:txBody>
      </p:sp>
      <p:sp>
        <p:nvSpPr>
          <p:cNvPr id="23" name="SDPM::strategy.issue_tree::child_2_1" title="SDPM::strategy.issue_tree::child_2_1" descr="SDPM::strategy.issue_tree::child_2_1"/>
          <p:cNvSpPr txBox="1"/>
          <p:nvPr/>
        </p:nvSpPr>
        <p:spPr>
          <a:xfrm>
            <a:off x="9410509" y="2832100"/>
            <a:ext cx="2146490" cy="304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400">
                <a:solidFill>
                  <a:srgbClr val="746D66"/>
                </a:solidFill>
                <a:latin typeface="Yu Gothic UI"/>
              </a:rPr>
              <a:t>— </a:t>
            </a:r>
            <a:r>
              <a:rPr lang="ja-JP" sz="1400">
                <a:solidFill>
                  <a:srgbClr val="746D66"/>
                </a:solidFill>
                <a:latin typeface="Yu Gothic UI"/>
              </a:rPr>
              <a:t>固定費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Editorial Premium — composition, typography and reading path are theme-specific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263E4C"/>
                </a:solidFill>
                <a:latin typeface="Yu Gothic UI"/>
              </a:rPr>
              <a:t>Portfolio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strategy.portfolio_matrix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strategy.portfolio_matrix::highlight_zone" title="SDPM::strategy.portfolio_matrix::highlight_zone" descr="SDPM::strategy.portfolio_matrix::highlight_zone"/>
          <p:cNvSpPr/>
          <p:nvPr/>
        </p:nvSpPr>
        <p:spPr>
          <a:xfrm>
            <a:off x="6254750" y="1651000"/>
            <a:ext cx="5175250" cy="1905000"/>
          </a:xfrm>
          <a:prstGeom prst="rect">
            <a:avLst/>
          </a:prstGeom>
          <a:solidFill>
            <a:srgbClr val="F1ECE5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SDPM::strategy.portfolio_matrix::x_axis" title="SDPM::strategy.portfolio_matrix::x_axis" descr="SDPM::strategy.portfolio_matrix::x_axis"/>
          <p:cNvCxnSpPr/>
          <p:nvPr/>
        </p:nvCxnSpPr>
        <p:spPr>
          <a:xfrm>
            <a:off x="1079500" y="5461000"/>
            <a:ext cx="10350500" cy="0"/>
          </a:xfrm>
          <a:prstGeom prst="line">
            <a:avLst/>
          </a:prstGeom>
          <a:ln w="19050">
            <a:solidFill>
              <a:srgbClr val="29231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DPM::strategy.portfolio_matrix::y_axis" title="SDPM::strategy.portfolio_matrix::y_axis" descr="SDPM::strategy.portfolio_matrix::y_axis"/>
          <p:cNvCxnSpPr/>
          <p:nvPr/>
        </p:nvCxnSpPr>
        <p:spPr>
          <a:xfrm flipV="1">
            <a:off x="1079500" y="1651000"/>
            <a:ext cx="0" cy="3810000"/>
          </a:xfrm>
          <a:prstGeom prst="line">
            <a:avLst/>
          </a:prstGeom>
          <a:ln w="19050">
            <a:solidFill>
              <a:srgbClr val="29231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DPM::strategy.portfolio_matrix::v_mid" title="SDPM::strategy.portfolio_matrix::v_mid" descr="SDPM::strategy.portfolio_matrix::v_mid"/>
          <p:cNvCxnSpPr/>
          <p:nvPr/>
        </p:nvCxnSpPr>
        <p:spPr>
          <a:xfrm>
            <a:off x="6254750" y="1651000"/>
            <a:ext cx="0" cy="381000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DPM::strategy.portfolio_matrix::h_mid" title="SDPM::strategy.portfolio_matrix::h_mid" descr="SDPM::strategy.portfolio_matrix::h_mid"/>
          <p:cNvCxnSpPr/>
          <p:nvPr/>
        </p:nvCxnSpPr>
        <p:spPr>
          <a:xfrm>
            <a:off x="1079500" y="3556000"/>
            <a:ext cx="103505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strategy.portfolio_matrix::quad_0" title="SDPM::strategy.portfolio_matrix::quad_0" descr="SDPM::strategy.portfolio_matrix::quad_0"/>
          <p:cNvSpPr txBox="1"/>
          <p:nvPr/>
        </p:nvSpPr>
        <p:spPr>
          <a:xfrm>
            <a:off x="1493520" y="3708400"/>
            <a:ext cx="4140200" cy="241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500">
                <a:solidFill>
                  <a:srgbClr val="746D66"/>
                </a:solidFill>
                <a:latin typeface="Yu Gothic UI"/>
              </a:rPr>
              <a:t>低優先</a:t>
            </a:r>
          </a:p>
        </p:txBody>
      </p:sp>
      <p:sp>
        <p:nvSpPr>
          <p:cNvPr id="12" name="SDPM::strategy.portfolio_matrix::quad_1" title="SDPM::strategy.portfolio_matrix::quad_1" descr="SDPM::strategy.portfolio_matrix::quad_1"/>
          <p:cNvSpPr txBox="1"/>
          <p:nvPr/>
        </p:nvSpPr>
        <p:spPr>
          <a:xfrm>
            <a:off x="6772275" y="3708400"/>
            <a:ext cx="4140200" cy="241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500">
                <a:solidFill>
                  <a:srgbClr val="746D66"/>
                </a:solidFill>
                <a:latin typeface="Yu Gothic UI"/>
              </a:rPr>
              <a:t>Quick wins</a:t>
            </a:r>
          </a:p>
        </p:txBody>
      </p:sp>
      <p:sp>
        <p:nvSpPr>
          <p:cNvPr id="13" name="SDPM::strategy.portfolio_matrix::quad_2" title="SDPM::strategy.portfolio_matrix::quad_2" descr="SDPM::strategy.portfolio_matrix::quad_2"/>
          <p:cNvSpPr txBox="1"/>
          <p:nvPr/>
        </p:nvSpPr>
        <p:spPr>
          <a:xfrm>
            <a:off x="1493520" y="1765300"/>
            <a:ext cx="4140200" cy="241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500">
                <a:solidFill>
                  <a:srgbClr val="746D66"/>
                </a:solidFill>
                <a:latin typeface="Yu Gothic UI"/>
              </a:rPr>
              <a:t>再設計</a:t>
            </a:r>
          </a:p>
        </p:txBody>
      </p:sp>
      <p:sp>
        <p:nvSpPr>
          <p:cNvPr id="14" name="SDPM::strategy.portfolio_matrix::quad_3" title="SDPM::strategy.portfolio_matrix::quad_3" descr="SDPM::strategy.portfolio_matrix::quad_3"/>
          <p:cNvSpPr txBox="1"/>
          <p:nvPr/>
        </p:nvSpPr>
        <p:spPr>
          <a:xfrm>
            <a:off x="6772275" y="1765300"/>
            <a:ext cx="4140200" cy="241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500">
                <a:solidFill>
                  <a:srgbClr val="746D66"/>
                </a:solidFill>
                <a:latin typeface="Yu Gothic UI"/>
              </a:rPr>
              <a:t>Strategic bets</a:t>
            </a:r>
          </a:p>
        </p:txBody>
      </p:sp>
      <p:sp>
        <p:nvSpPr>
          <p:cNvPr id="15" name="SDPM::strategy.portfolio_matrix::item_0" title="SDPM::strategy.portfolio_matrix::item_0" descr="SDPM::strategy.portfolio_matrix::item_0"/>
          <p:cNvSpPr/>
          <p:nvPr/>
        </p:nvSpPr>
        <p:spPr>
          <a:xfrm>
            <a:off x="8930640" y="2114550"/>
            <a:ext cx="444500" cy="444500"/>
          </a:xfrm>
          <a:prstGeom prst="ellipse">
            <a:avLst/>
          </a:prstGeom>
          <a:solidFill>
            <a:srgbClr val="A45A3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オンボーディング</a:t>
            </a:r>
          </a:p>
        </p:txBody>
      </p:sp>
      <p:sp>
        <p:nvSpPr>
          <p:cNvPr id="16" name="SDPM::strategy.portfolio_matrix::item_1" title="SDPM::strategy.portfolio_matrix::item_1" descr="SDPM::strategy.portfolio_matrix::item_1"/>
          <p:cNvSpPr/>
          <p:nvPr/>
        </p:nvSpPr>
        <p:spPr>
          <a:xfrm>
            <a:off x="6600825" y="2393950"/>
            <a:ext cx="342900" cy="342900"/>
          </a:xfrm>
          <a:prstGeom prst="ellipse">
            <a:avLst/>
          </a:prstGeom>
          <a:solidFill>
            <a:srgbClr val="657C8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価格・契約</a:t>
            </a:r>
          </a:p>
        </p:txBody>
      </p:sp>
      <p:sp>
        <p:nvSpPr>
          <p:cNvPr id="17" name="SDPM::strategy.portfolio_matrix::item_2" title="SDPM::strategy.portfolio_matrix::item_2" descr="SDPM::strategy.portfolio_matrix::item_2"/>
          <p:cNvSpPr/>
          <p:nvPr/>
        </p:nvSpPr>
        <p:spPr>
          <a:xfrm>
            <a:off x="5267960" y="2711450"/>
            <a:ext cx="317500" cy="317500"/>
          </a:xfrm>
          <a:prstGeom prst="ellipse">
            <a:avLst/>
          </a:prstGeom>
          <a:solidFill>
            <a:srgbClr val="657C8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顧客データ</a:t>
            </a:r>
          </a:p>
        </p:txBody>
      </p:sp>
      <p:sp>
        <p:nvSpPr>
          <p:cNvPr id="18" name="SDPM::strategy.portfolio_matrix::item_3" title="SDPM::strategy.portfolio_matrix::item_3" descr="SDPM::strategy.portfolio_matrix::item_3"/>
          <p:cNvSpPr/>
          <p:nvPr/>
        </p:nvSpPr>
        <p:spPr>
          <a:xfrm>
            <a:off x="3856990" y="4006850"/>
            <a:ext cx="241300" cy="241300"/>
          </a:xfrm>
          <a:prstGeom prst="ellipse">
            <a:avLst/>
          </a:prstGeom>
          <a:solidFill>
            <a:srgbClr val="657C8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新規市場</a:t>
            </a:r>
          </a:p>
        </p:txBody>
      </p:sp>
      <p:sp>
        <p:nvSpPr>
          <p:cNvPr id="19" name="SDPM::strategy.portfolio_matrix::x_label" title="SDPM::strategy.portfolio_matrix::x_label" descr="SDPM::strategy.portfolio_matrix::x_label"/>
          <p:cNvSpPr txBox="1"/>
          <p:nvPr/>
        </p:nvSpPr>
        <p:spPr>
          <a:xfrm>
            <a:off x="1079500" y="5600700"/>
            <a:ext cx="10350500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lang="ja-JP" sz="1200">
                <a:solidFill>
                  <a:srgbClr val="746D66"/>
                </a:solidFill>
                <a:latin typeface="Yu Gothic UI"/>
              </a:rPr>
              <a:t>実行容易性</a:t>
            </a:r>
          </a:p>
        </p:txBody>
      </p:sp>
      <p:sp>
        <p:nvSpPr>
          <p:cNvPr id="20" name="SDPM::strategy.portfolio_matrix::y_label" title="SDPM::strategy.portfolio_matrix::y_label" descr="SDPM::strategy.portfolio_matrix::y_label"/>
          <p:cNvSpPr txBox="1"/>
          <p:nvPr/>
        </p:nvSpPr>
        <p:spPr>
          <a:xfrm rot="16200000">
            <a:off x="635000" y="1651000"/>
            <a:ext cx="190500" cy="3810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746D66"/>
                </a:solidFill>
                <a:latin typeface="Yu Gothic UI"/>
              </a:rPr>
              <a:t>利益インパクト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Editorial Premium — composition, typography and reading path are theme-specific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263E4C"/>
                </a:solidFill>
                <a:latin typeface="Yu Gothic UI"/>
              </a:rPr>
              <a:t>Capability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strategy.capability_map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strategy.capability_map::group_0" title="SDPM::strategy.capability_map::group_0" descr="SDPM::strategy.capability_map::group_0"/>
          <p:cNvSpPr txBox="1"/>
          <p:nvPr/>
        </p:nvSpPr>
        <p:spPr>
          <a:xfrm>
            <a:off x="635000" y="1524000"/>
            <a:ext cx="1940814" cy="1371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800">
                <a:solidFill>
                  <a:srgbClr val="263E4C"/>
                </a:solidFill>
                <a:latin typeface="Yu Gothic UI"/>
              </a:rPr>
              <a:t>顧客</a:t>
            </a:r>
          </a:p>
        </p:txBody>
      </p:sp>
      <p:cxnSp>
        <p:nvCxnSpPr>
          <p:cNvPr id="7" name="SDPM::strategy.capability_map::rule_0" title="SDPM::strategy.capability_map::rule_0" descr="SDPM::strategy.capability_map::rule_0"/>
          <p:cNvCxnSpPr/>
          <p:nvPr/>
        </p:nvCxnSpPr>
        <p:spPr>
          <a:xfrm>
            <a:off x="2715514" y="1524000"/>
            <a:ext cx="8841486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strategy.capability_map::label_0_0" title="SDPM::strategy.capability_map::label_0_0" descr="SDPM::strategy.capability_map::label_0_0"/>
          <p:cNvSpPr txBox="1"/>
          <p:nvPr/>
        </p:nvSpPr>
        <p:spPr>
          <a:xfrm>
            <a:off x="2715514" y="1600200"/>
            <a:ext cx="2854007" cy="279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顧客洞察</a:t>
            </a:r>
          </a:p>
        </p:txBody>
      </p:sp>
      <p:sp>
        <p:nvSpPr>
          <p:cNvPr id="9" name="SDPM::strategy.capability_map::dot_0_0_0" title="SDPM::strategy.capability_map::dot_0_0_0" descr="SDPM::strategy.capability_map::dot_0_0_0"/>
          <p:cNvSpPr/>
          <p:nvPr/>
        </p:nvSpPr>
        <p:spPr>
          <a:xfrm>
            <a:off x="2734564" y="1962150"/>
            <a:ext cx="507301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DPM::strategy.capability_map::dot_0_0_1" title="SDPM::strategy.capability_map::dot_0_0_1" descr="SDPM::strategy.capability_map::dot_0_0_1"/>
          <p:cNvSpPr/>
          <p:nvPr/>
        </p:nvSpPr>
        <p:spPr>
          <a:xfrm>
            <a:off x="3311715" y="1962150"/>
            <a:ext cx="507301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DPM::strategy.capability_map::dot_0_0_2" title="SDPM::strategy.capability_map::dot_0_0_2" descr="SDPM::strategy.capability_map::dot_0_0_2"/>
          <p:cNvSpPr/>
          <p:nvPr/>
        </p:nvSpPr>
        <p:spPr>
          <a:xfrm>
            <a:off x="3888866" y="19621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DPM::strategy.capability_map::dot_0_0_3" title="SDPM::strategy.capability_map::dot_0_0_3" descr="SDPM::strategy.capability_map::dot_0_0_3"/>
          <p:cNvSpPr/>
          <p:nvPr/>
        </p:nvSpPr>
        <p:spPr>
          <a:xfrm>
            <a:off x="4466018" y="19621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DPM::strategy.capability_map::dot_0_0_4" title="SDPM::strategy.capability_map::dot_0_0_4" descr="SDPM::strategy.capability_map::dot_0_0_4"/>
          <p:cNvSpPr/>
          <p:nvPr/>
        </p:nvSpPr>
        <p:spPr>
          <a:xfrm>
            <a:off x="5043170" y="19621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DPM::strategy.capability_map::label_0_1" title="SDPM::strategy.capability_map::label_0_1" descr="SDPM::strategy.capability_map::label_0_1"/>
          <p:cNvSpPr txBox="1"/>
          <p:nvPr/>
        </p:nvSpPr>
        <p:spPr>
          <a:xfrm>
            <a:off x="5709221" y="1600200"/>
            <a:ext cx="2854007" cy="279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成果設計</a:t>
            </a:r>
          </a:p>
        </p:txBody>
      </p:sp>
      <p:sp>
        <p:nvSpPr>
          <p:cNvPr id="15" name="SDPM::strategy.capability_map::dot_0_1_0" title="SDPM::strategy.capability_map::dot_0_1_0" descr="SDPM::strategy.capability_map::dot_0_1_0"/>
          <p:cNvSpPr/>
          <p:nvPr/>
        </p:nvSpPr>
        <p:spPr>
          <a:xfrm>
            <a:off x="5728271" y="1962150"/>
            <a:ext cx="507301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DPM::strategy.capability_map::dot_0_1_1" title="SDPM::strategy.capability_map::dot_0_1_1" descr="SDPM::strategy.capability_map::dot_0_1_1"/>
          <p:cNvSpPr/>
          <p:nvPr/>
        </p:nvSpPr>
        <p:spPr>
          <a:xfrm>
            <a:off x="6305423" y="19621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DPM::strategy.capability_map::dot_0_1_2" title="SDPM::strategy.capability_map::dot_0_1_2" descr="SDPM::strategy.capability_map::dot_0_1_2"/>
          <p:cNvSpPr/>
          <p:nvPr/>
        </p:nvSpPr>
        <p:spPr>
          <a:xfrm>
            <a:off x="6882574" y="19621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DPM::strategy.capability_map::dot_0_1_3" title="SDPM::strategy.capability_map::dot_0_1_3" descr="SDPM::strategy.capability_map::dot_0_1_3"/>
          <p:cNvSpPr/>
          <p:nvPr/>
        </p:nvSpPr>
        <p:spPr>
          <a:xfrm>
            <a:off x="7459789" y="19621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DPM::strategy.capability_map::dot_0_1_4" title="SDPM::strategy.capability_map::dot_0_1_4" descr="SDPM::strategy.capability_map::dot_0_1_4"/>
          <p:cNvSpPr/>
          <p:nvPr/>
        </p:nvSpPr>
        <p:spPr>
          <a:xfrm>
            <a:off x="8036941" y="19621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DPM::strategy.capability_map::label_0_2" title="SDPM::strategy.capability_map::label_0_2" descr="SDPM::strategy.capability_map::label_0_2"/>
          <p:cNvSpPr txBox="1"/>
          <p:nvPr/>
        </p:nvSpPr>
        <p:spPr>
          <a:xfrm>
            <a:off x="8702992" y="1600200"/>
            <a:ext cx="2854007" cy="279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400">
                <a:solidFill>
                  <a:srgbClr val="29231F"/>
                </a:solidFill>
                <a:latin typeface="Yu Gothic UI"/>
              </a:rPr>
              <a:t>CX </a:t>
            </a:r>
            <a:r>
              <a:rPr lang="ja-JP" sz="1400">
                <a:solidFill>
                  <a:srgbClr val="29231F"/>
                </a:solidFill>
                <a:latin typeface="Yu Gothic UI"/>
              </a:rPr>
              <a:t>運用</a:t>
            </a:r>
          </a:p>
        </p:txBody>
      </p:sp>
      <p:sp>
        <p:nvSpPr>
          <p:cNvPr id="21" name="SDPM::strategy.capability_map::dot_0_2_0" title="SDPM::strategy.capability_map::dot_0_2_0" descr="SDPM::strategy.capability_map::dot_0_2_0"/>
          <p:cNvSpPr/>
          <p:nvPr/>
        </p:nvSpPr>
        <p:spPr>
          <a:xfrm>
            <a:off x="8722042" y="1962150"/>
            <a:ext cx="507301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DPM::strategy.capability_map::dot_0_2_1" title="SDPM::strategy.capability_map::dot_0_2_1" descr="SDPM::strategy.capability_map::dot_0_2_1"/>
          <p:cNvSpPr/>
          <p:nvPr/>
        </p:nvSpPr>
        <p:spPr>
          <a:xfrm>
            <a:off x="9299194" y="1962150"/>
            <a:ext cx="507301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DPM::strategy.capability_map::dot_0_2_2" title="SDPM::strategy.capability_map::dot_0_2_2" descr="SDPM::strategy.capability_map::dot_0_2_2"/>
          <p:cNvSpPr/>
          <p:nvPr/>
        </p:nvSpPr>
        <p:spPr>
          <a:xfrm>
            <a:off x="9876345" y="19621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DPM::strategy.capability_map::dot_0_2_3" title="SDPM::strategy.capability_map::dot_0_2_3" descr="SDPM::strategy.capability_map::dot_0_2_3"/>
          <p:cNvSpPr/>
          <p:nvPr/>
        </p:nvSpPr>
        <p:spPr>
          <a:xfrm>
            <a:off x="10453497" y="19621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DPM::strategy.capability_map::dot_0_2_4" title="SDPM::strategy.capability_map::dot_0_2_4" descr="SDPM::strategy.capability_map::dot_0_2_4"/>
          <p:cNvSpPr/>
          <p:nvPr/>
        </p:nvSpPr>
        <p:spPr>
          <a:xfrm>
            <a:off x="11030648" y="19621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DPM::strategy.capability_map::group_1" title="SDPM::strategy.capability_map::group_1" descr="SDPM::strategy.capability_map::group_1"/>
          <p:cNvSpPr txBox="1"/>
          <p:nvPr/>
        </p:nvSpPr>
        <p:spPr>
          <a:xfrm>
            <a:off x="635000" y="2997200"/>
            <a:ext cx="1940814" cy="1371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800">
                <a:solidFill>
                  <a:srgbClr val="263E4C"/>
                </a:solidFill>
                <a:latin typeface="Yu Gothic UI"/>
              </a:rPr>
              <a:t>商業</a:t>
            </a:r>
          </a:p>
        </p:txBody>
      </p:sp>
      <p:cxnSp>
        <p:nvCxnSpPr>
          <p:cNvPr id="27" name="SDPM::strategy.capability_map::rule_1" title="SDPM::strategy.capability_map::rule_1" descr="SDPM::strategy.capability_map::rule_1"/>
          <p:cNvCxnSpPr/>
          <p:nvPr/>
        </p:nvCxnSpPr>
        <p:spPr>
          <a:xfrm>
            <a:off x="2715514" y="2997200"/>
            <a:ext cx="8841486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DPM::strategy.capability_map::label_1_0" title="SDPM::strategy.capability_map::label_1_0" descr="SDPM::strategy.capability_map::label_1_0"/>
          <p:cNvSpPr txBox="1"/>
          <p:nvPr/>
        </p:nvSpPr>
        <p:spPr>
          <a:xfrm>
            <a:off x="2715514" y="3073400"/>
            <a:ext cx="2854007" cy="279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提案営業</a:t>
            </a:r>
          </a:p>
        </p:txBody>
      </p:sp>
      <p:sp>
        <p:nvSpPr>
          <p:cNvPr id="29" name="SDPM::strategy.capability_map::dot_1_0_0" title="SDPM::strategy.capability_map::dot_1_0_0" descr="SDPM::strategy.capability_map::dot_1_0_0"/>
          <p:cNvSpPr/>
          <p:nvPr/>
        </p:nvSpPr>
        <p:spPr>
          <a:xfrm>
            <a:off x="2734564" y="3435350"/>
            <a:ext cx="507301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DPM::strategy.capability_map::dot_1_0_1" title="SDPM::strategy.capability_map::dot_1_0_1" descr="SDPM::strategy.capability_map::dot_1_0_1"/>
          <p:cNvSpPr/>
          <p:nvPr/>
        </p:nvSpPr>
        <p:spPr>
          <a:xfrm>
            <a:off x="3311715" y="3435350"/>
            <a:ext cx="507301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DPM::strategy.capability_map::dot_1_0_2" title="SDPM::strategy.capability_map::dot_1_0_2" descr="SDPM::strategy.capability_map::dot_1_0_2"/>
          <p:cNvSpPr/>
          <p:nvPr/>
        </p:nvSpPr>
        <p:spPr>
          <a:xfrm>
            <a:off x="3888866" y="34353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DPM::strategy.capability_map::dot_1_0_3" title="SDPM::strategy.capability_map::dot_1_0_3" descr="SDPM::strategy.capability_map::dot_1_0_3"/>
          <p:cNvSpPr/>
          <p:nvPr/>
        </p:nvSpPr>
        <p:spPr>
          <a:xfrm>
            <a:off x="4466018" y="34353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DPM::strategy.capability_map::dot_1_0_4" title="SDPM::strategy.capability_map::dot_1_0_4" descr="SDPM::strategy.capability_map::dot_1_0_4"/>
          <p:cNvSpPr/>
          <p:nvPr/>
        </p:nvSpPr>
        <p:spPr>
          <a:xfrm>
            <a:off x="5043170" y="34353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DPM::strategy.capability_map::label_1_1" title="SDPM::strategy.capability_map::label_1_1" descr="SDPM::strategy.capability_map::label_1_1"/>
          <p:cNvSpPr txBox="1"/>
          <p:nvPr/>
        </p:nvSpPr>
        <p:spPr>
          <a:xfrm>
            <a:off x="5709221" y="3073400"/>
            <a:ext cx="2854007" cy="279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価格設計</a:t>
            </a:r>
          </a:p>
        </p:txBody>
      </p:sp>
      <p:sp>
        <p:nvSpPr>
          <p:cNvPr id="35" name="SDPM::strategy.capability_map::dot_1_1_0" title="SDPM::strategy.capability_map::dot_1_1_0" descr="SDPM::strategy.capability_map::dot_1_1_0"/>
          <p:cNvSpPr/>
          <p:nvPr/>
        </p:nvSpPr>
        <p:spPr>
          <a:xfrm>
            <a:off x="5728271" y="3435350"/>
            <a:ext cx="507301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DPM::strategy.capability_map::dot_1_1_1" title="SDPM::strategy.capability_map::dot_1_1_1" descr="SDPM::strategy.capability_map::dot_1_1_1"/>
          <p:cNvSpPr/>
          <p:nvPr/>
        </p:nvSpPr>
        <p:spPr>
          <a:xfrm>
            <a:off x="6305423" y="34353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DPM::strategy.capability_map::dot_1_1_2" title="SDPM::strategy.capability_map::dot_1_1_2" descr="SDPM::strategy.capability_map::dot_1_1_2"/>
          <p:cNvSpPr/>
          <p:nvPr/>
        </p:nvSpPr>
        <p:spPr>
          <a:xfrm>
            <a:off x="6882574" y="34353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DPM::strategy.capability_map::dot_1_1_3" title="SDPM::strategy.capability_map::dot_1_1_3" descr="SDPM::strategy.capability_map::dot_1_1_3"/>
          <p:cNvSpPr/>
          <p:nvPr/>
        </p:nvSpPr>
        <p:spPr>
          <a:xfrm>
            <a:off x="7459789" y="34353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DPM::strategy.capability_map::dot_1_1_4" title="SDPM::strategy.capability_map::dot_1_1_4" descr="SDPM::strategy.capability_map::dot_1_1_4"/>
          <p:cNvSpPr/>
          <p:nvPr/>
        </p:nvSpPr>
        <p:spPr>
          <a:xfrm>
            <a:off x="8036941" y="34353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DPM::strategy.capability_map::label_1_2" title="SDPM::strategy.capability_map::label_1_2" descr="SDPM::strategy.capability_map::label_1_2"/>
          <p:cNvSpPr txBox="1"/>
          <p:nvPr/>
        </p:nvSpPr>
        <p:spPr>
          <a:xfrm>
            <a:off x="8702992" y="3073400"/>
            <a:ext cx="2854007" cy="279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部門展開</a:t>
            </a:r>
          </a:p>
        </p:txBody>
      </p:sp>
      <p:sp>
        <p:nvSpPr>
          <p:cNvPr id="41" name="SDPM::strategy.capability_map::dot_1_2_0" title="SDPM::strategy.capability_map::dot_1_2_0" descr="SDPM::strategy.capability_map::dot_1_2_0"/>
          <p:cNvSpPr/>
          <p:nvPr/>
        </p:nvSpPr>
        <p:spPr>
          <a:xfrm>
            <a:off x="8722042" y="3435350"/>
            <a:ext cx="507301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DPM::strategy.capability_map::dot_1_2_1" title="SDPM::strategy.capability_map::dot_1_2_1" descr="SDPM::strategy.capability_map::dot_1_2_1"/>
          <p:cNvSpPr/>
          <p:nvPr/>
        </p:nvSpPr>
        <p:spPr>
          <a:xfrm>
            <a:off x="9299194" y="3435350"/>
            <a:ext cx="507301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DPM::strategy.capability_map::dot_1_2_2" title="SDPM::strategy.capability_map::dot_1_2_2" descr="SDPM::strategy.capability_map::dot_1_2_2"/>
          <p:cNvSpPr/>
          <p:nvPr/>
        </p:nvSpPr>
        <p:spPr>
          <a:xfrm>
            <a:off x="9876345" y="34353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DPM::strategy.capability_map::dot_1_2_3" title="SDPM::strategy.capability_map::dot_1_2_3" descr="SDPM::strategy.capability_map::dot_1_2_3"/>
          <p:cNvSpPr/>
          <p:nvPr/>
        </p:nvSpPr>
        <p:spPr>
          <a:xfrm>
            <a:off x="10453497" y="34353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DPM::strategy.capability_map::dot_1_2_4" title="SDPM::strategy.capability_map::dot_1_2_4" descr="SDPM::strategy.capability_map::dot_1_2_4"/>
          <p:cNvSpPr/>
          <p:nvPr/>
        </p:nvSpPr>
        <p:spPr>
          <a:xfrm>
            <a:off x="11030648" y="34353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DPM::strategy.capability_map::group_2" title="SDPM::strategy.capability_map::group_2" descr="SDPM::strategy.capability_map::group_2"/>
          <p:cNvSpPr txBox="1"/>
          <p:nvPr/>
        </p:nvSpPr>
        <p:spPr>
          <a:xfrm>
            <a:off x="635000" y="4470400"/>
            <a:ext cx="1940814" cy="1371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800">
                <a:solidFill>
                  <a:srgbClr val="263E4C"/>
                </a:solidFill>
                <a:latin typeface="Yu Gothic UI"/>
              </a:rPr>
              <a:t>基盤</a:t>
            </a:r>
          </a:p>
        </p:txBody>
      </p:sp>
      <p:cxnSp>
        <p:nvCxnSpPr>
          <p:cNvPr id="47" name="SDPM::strategy.capability_map::rule_2" title="SDPM::strategy.capability_map::rule_2" descr="SDPM::strategy.capability_map::rule_2"/>
          <p:cNvCxnSpPr/>
          <p:nvPr/>
        </p:nvCxnSpPr>
        <p:spPr>
          <a:xfrm>
            <a:off x="2715514" y="4470400"/>
            <a:ext cx="8841486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SDPM::strategy.capability_map::label_2_0" title="SDPM::strategy.capability_map::label_2_0" descr="SDPM::strategy.capability_map::label_2_0"/>
          <p:cNvSpPr txBox="1"/>
          <p:nvPr/>
        </p:nvSpPr>
        <p:spPr>
          <a:xfrm>
            <a:off x="2715514" y="4546600"/>
            <a:ext cx="2854007" cy="279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利用データ</a:t>
            </a:r>
          </a:p>
        </p:txBody>
      </p:sp>
      <p:sp>
        <p:nvSpPr>
          <p:cNvPr id="49" name="SDPM::strategy.capability_map::dot_2_0_0" title="SDPM::strategy.capability_map::dot_2_0_0" descr="SDPM::strategy.capability_map::dot_2_0_0"/>
          <p:cNvSpPr/>
          <p:nvPr/>
        </p:nvSpPr>
        <p:spPr>
          <a:xfrm>
            <a:off x="2734564" y="4908550"/>
            <a:ext cx="507301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DPM::strategy.capability_map::dot_2_0_1" title="SDPM::strategy.capability_map::dot_2_0_1" descr="SDPM::strategy.capability_map::dot_2_0_1"/>
          <p:cNvSpPr/>
          <p:nvPr/>
        </p:nvSpPr>
        <p:spPr>
          <a:xfrm>
            <a:off x="3311715" y="49085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DPM::strategy.capability_map::dot_2_0_2" title="SDPM::strategy.capability_map::dot_2_0_2" descr="SDPM::strategy.capability_map::dot_2_0_2"/>
          <p:cNvSpPr/>
          <p:nvPr/>
        </p:nvSpPr>
        <p:spPr>
          <a:xfrm>
            <a:off x="3888866" y="49085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DPM::strategy.capability_map::dot_2_0_3" title="SDPM::strategy.capability_map::dot_2_0_3" descr="SDPM::strategy.capability_map::dot_2_0_3"/>
          <p:cNvSpPr/>
          <p:nvPr/>
        </p:nvSpPr>
        <p:spPr>
          <a:xfrm>
            <a:off x="4466018" y="49085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DPM::strategy.capability_map::dot_2_0_4" title="SDPM::strategy.capability_map::dot_2_0_4" descr="SDPM::strategy.capability_map::dot_2_0_4"/>
          <p:cNvSpPr/>
          <p:nvPr/>
        </p:nvSpPr>
        <p:spPr>
          <a:xfrm>
            <a:off x="5043170" y="49085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DPM::strategy.capability_map::label_2_1" title="SDPM::strategy.capability_map::label_2_1" descr="SDPM::strategy.capability_map::label_2_1"/>
          <p:cNvSpPr txBox="1"/>
          <p:nvPr/>
        </p:nvSpPr>
        <p:spPr>
          <a:xfrm>
            <a:off x="5709221" y="4546600"/>
            <a:ext cx="2854007" cy="279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人材</a:t>
            </a:r>
          </a:p>
        </p:txBody>
      </p:sp>
      <p:sp>
        <p:nvSpPr>
          <p:cNvPr id="55" name="SDPM::strategy.capability_map::dot_2_1_0" title="SDPM::strategy.capability_map::dot_2_1_0" descr="SDPM::strategy.capability_map::dot_2_1_0"/>
          <p:cNvSpPr/>
          <p:nvPr/>
        </p:nvSpPr>
        <p:spPr>
          <a:xfrm>
            <a:off x="5728271" y="4908550"/>
            <a:ext cx="507301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DPM::strategy.capability_map::dot_2_1_1" title="SDPM::strategy.capability_map::dot_2_1_1" descr="SDPM::strategy.capability_map::dot_2_1_1"/>
          <p:cNvSpPr/>
          <p:nvPr/>
        </p:nvSpPr>
        <p:spPr>
          <a:xfrm>
            <a:off x="6305423" y="4908550"/>
            <a:ext cx="507301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DPM::strategy.capability_map::dot_2_1_2" title="SDPM::strategy.capability_map::dot_2_1_2" descr="SDPM::strategy.capability_map::dot_2_1_2"/>
          <p:cNvSpPr/>
          <p:nvPr/>
        </p:nvSpPr>
        <p:spPr>
          <a:xfrm>
            <a:off x="6882574" y="49085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DPM::strategy.capability_map::dot_2_1_3" title="SDPM::strategy.capability_map::dot_2_1_3" descr="SDPM::strategy.capability_map::dot_2_1_3"/>
          <p:cNvSpPr/>
          <p:nvPr/>
        </p:nvSpPr>
        <p:spPr>
          <a:xfrm>
            <a:off x="7459789" y="49085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DPM::strategy.capability_map::dot_2_1_4" title="SDPM::strategy.capability_map::dot_2_1_4" descr="SDPM::strategy.capability_map::dot_2_1_4"/>
          <p:cNvSpPr/>
          <p:nvPr/>
        </p:nvSpPr>
        <p:spPr>
          <a:xfrm>
            <a:off x="8036941" y="49085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DPM::strategy.capability_map::label_2_2" title="SDPM::strategy.capability_map::label_2_2" descr="SDPM::strategy.capability_map::label_2_2"/>
          <p:cNvSpPr txBox="1"/>
          <p:nvPr/>
        </p:nvSpPr>
        <p:spPr>
          <a:xfrm>
            <a:off x="8702992" y="4546600"/>
            <a:ext cx="2854007" cy="279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29231F"/>
                </a:solidFill>
                <a:latin typeface="Yu Gothic UI"/>
              </a:rPr>
              <a:t>ガバナンス</a:t>
            </a:r>
          </a:p>
        </p:txBody>
      </p:sp>
      <p:sp>
        <p:nvSpPr>
          <p:cNvPr id="61" name="SDPM::strategy.capability_map::dot_2_2_0" title="SDPM::strategy.capability_map::dot_2_2_0" descr="SDPM::strategy.capability_map::dot_2_2_0"/>
          <p:cNvSpPr/>
          <p:nvPr/>
        </p:nvSpPr>
        <p:spPr>
          <a:xfrm>
            <a:off x="8722042" y="4908550"/>
            <a:ext cx="507301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DPM::strategy.capability_map::dot_2_2_1" title="SDPM::strategy.capability_map::dot_2_2_1" descr="SDPM::strategy.capability_map::dot_2_2_1"/>
          <p:cNvSpPr/>
          <p:nvPr/>
        </p:nvSpPr>
        <p:spPr>
          <a:xfrm>
            <a:off x="9299194" y="4908550"/>
            <a:ext cx="507301" cy="88900"/>
          </a:xfrm>
          <a:prstGeom prst="ellipse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DPM::strategy.capability_map::dot_2_2_2" title="SDPM::strategy.capability_map::dot_2_2_2" descr="SDPM::strategy.capability_map::dot_2_2_2"/>
          <p:cNvSpPr/>
          <p:nvPr/>
        </p:nvSpPr>
        <p:spPr>
          <a:xfrm>
            <a:off x="9876345" y="49085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DPM::strategy.capability_map::dot_2_2_3" title="SDPM::strategy.capability_map::dot_2_2_3" descr="SDPM::strategy.capability_map::dot_2_2_3"/>
          <p:cNvSpPr/>
          <p:nvPr/>
        </p:nvSpPr>
        <p:spPr>
          <a:xfrm>
            <a:off x="10453497" y="49085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DPM::strategy.capability_map::dot_2_2_4" title="SDPM::strategy.capability_map::dot_2_2_4" descr="SDPM::strategy.capability_map::dot_2_2_4"/>
          <p:cNvSpPr/>
          <p:nvPr/>
        </p:nvSpPr>
        <p:spPr>
          <a:xfrm>
            <a:off x="11030648" y="4908550"/>
            <a:ext cx="507301" cy="88900"/>
          </a:xfrm>
          <a:prstGeom prst="ellipse">
            <a:avLst/>
          </a:prstGeom>
          <a:solidFill>
            <a:srgbClr val="D7C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Editorial Premium — composition, typography and reading path are theme-specific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263E4C"/>
                </a:solidFill>
                <a:latin typeface="Yu Gothic UI"/>
              </a:rPr>
              <a:t>Value Driver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strategy.value_driver_tree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strategy.value_driver_tree::kicker" title="SDPM::strategy.value_driver_tree::kicker" descr="SDPM::strategy.value_driver_tree::kicker"/>
          <p:cNvSpPr txBox="1"/>
          <p:nvPr/>
        </p:nvSpPr>
        <p:spPr>
          <a:xfrm>
            <a:off x="635000" y="1524000"/>
            <a:ext cx="3405632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VALUE CREATION</a:t>
            </a:r>
          </a:p>
        </p:txBody>
      </p:sp>
      <p:cxnSp>
        <p:nvCxnSpPr>
          <p:cNvPr id="7" name="SDPM::strategy.value_driver_tree::kicker_rule" title="SDPM::strategy.value_driver_tree::kicker_rule" descr="SDPM::strategy.value_driver_tree::kicker_rule"/>
          <p:cNvCxnSpPr/>
          <p:nvPr/>
        </p:nvCxnSpPr>
        <p:spPr>
          <a:xfrm>
            <a:off x="635000" y="1689100"/>
            <a:ext cx="698500" cy="0"/>
          </a:xfrm>
          <a:prstGeom prst="line">
            <a:avLst/>
          </a:prstGeom>
          <a:ln w="31750">
            <a:solidFill>
              <a:srgbClr val="A4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strategy.value_driver_tree::root" title="SDPM::strategy.value_driver_tree::root" descr="SDPM::strategy.value_driver_tree::root"/>
          <p:cNvSpPr txBox="1"/>
          <p:nvPr/>
        </p:nvSpPr>
        <p:spPr>
          <a:xfrm>
            <a:off x="635000" y="1879600"/>
            <a:ext cx="3405632" cy="3517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600">
                <a:solidFill>
                  <a:srgbClr val="263E4C"/>
                </a:solidFill>
                <a:latin typeface="Yu Gothic UI"/>
              </a:rPr>
              <a:t>営業利益</a:t>
            </a:r>
            <a:r>
              <a:rPr sz="3600">
                <a:solidFill>
                  <a:srgbClr val="263E4C"/>
                </a:solidFill>
                <a:latin typeface="Yu Gothic UI"/>
              </a:rPr>
              <a:t> +10%</a:t>
            </a:r>
          </a:p>
        </p:txBody>
      </p:sp>
      <p:sp>
        <p:nvSpPr>
          <p:cNvPr id="9" name="SDPM::strategy.value_driver_tree::code_0" title="SDPM::strategy.value_driver_tree::code_0" descr="SDPM::strategy.value_driver_tree::code_0"/>
          <p:cNvSpPr txBox="1"/>
          <p:nvPr/>
        </p:nvSpPr>
        <p:spPr>
          <a:xfrm>
            <a:off x="4320032" y="1524000"/>
            <a:ext cx="2302256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DRIVER 1</a:t>
            </a:r>
          </a:p>
        </p:txBody>
      </p:sp>
      <p:cxnSp>
        <p:nvCxnSpPr>
          <p:cNvPr id="10" name="SDPM::strategy.value_driver_tree::rule_0" title="SDPM::strategy.value_driver_tree::rule_0" descr="SDPM::strategy.value_driver_tree::rule_0"/>
          <p:cNvCxnSpPr/>
          <p:nvPr/>
        </p:nvCxnSpPr>
        <p:spPr>
          <a:xfrm>
            <a:off x="4320032" y="1778000"/>
            <a:ext cx="2302256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strategy.value_driver_tree::driver_0" title="SDPM::strategy.value_driver_tree::driver_0" descr="SDPM::strategy.value_driver_tree::driver_0"/>
          <p:cNvSpPr txBox="1"/>
          <p:nvPr/>
        </p:nvSpPr>
        <p:spPr>
          <a:xfrm>
            <a:off x="4320032" y="1879600"/>
            <a:ext cx="2302256" cy="5715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2000">
                <a:solidFill>
                  <a:srgbClr val="29231F"/>
                </a:solidFill>
                <a:latin typeface="Yu Gothic UI"/>
              </a:rPr>
              <a:t>売上</a:t>
            </a:r>
            <a:r>
              <a:rPr sz="2000">
                <a:solidFill>
                  <a:srgbClr val="29231F"/>
                </a:solidFill>
                <a:latin typeface="Yu Gothic UI"/>
              </a:rPr>
              <a:t> +8%</a:t>
            </a:r>
          </a:p>
        </p:txBody>
      </p:sp>
      <p:sp>
        <p:nvSpPr>
          <p:cNvPr id="12" name="SDPM::strategy.value_driver_tree::sub_0_0" title="SDPM::strategy.value_driver_tree::sub_0_0" descr="SDPM::strategy.value_driver_tree::sub_0_0"/>
          <p:cNvSpPr txBox="1"/>
          <p:nvPr/>
        </p:nvSpPr>
        <p:spPr>
          <a:xfrm>
            <a:off x="4320032" y="2603500"/>
            <a:ext cx="2302256" cy="330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400">
                <a:solidFill>
                  <a:srgbClr val="746D66"/>
                </a:solidFill>
                <a:latin typeface="Yu Gothic UI"/>
              </a:rPr>
              <a:t>+  </a:t>
            </a:r>
            <a:r>
              <a:rPr lang="ja-JP" sz="1400">
                <a:solidFill>
                  <a:srgbClr val="746D66"/>
                </a:solidFill>
                <a:latin typeface="Yu Gothic UI"/>
              </a:rPr>
              <a:t>顧客数</a:t>
            </a:r>
            <a:r>
              <a:rPr sz="1400">
                <a:solidFill>
                  <a:srgbClr val="746D66"/>
                </a:solidFill>
                <a:latin typeface="Yu Gothic UI"/>
              </a:rPr>
              <a:t> +5%</a:t>
            </a:r>
          </a:p>
        </p:txBody>
      </p:sp>
      <p:sp>
        <p:nvSpPr>
          <p:cNvPr id="13" name="SDPM::strategy.value_driver_tree::sub_0_1" title="SDPM::strategy.value_driver_tree::sub_0_1" descr="SDPM::strategy.value_driver_tree::sub_0_1"/>
          <p:cNvSpPr txBox="1"/>
          <p:nvPr/>
        </p:nvSpPr>
        <p:spPr>
          <a:xfrm>
            <a:off x="4320032" y="2971800"/>
            <a:ext cx="2302256" cy="330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400">
                <a:solidFill>
                  <a:srgbClr val="746D66"/>
                </a:solidFill>
                <a:latin typeface="Yu Gothic UI"/>
              </a:rPr>
              <a:t>+  </a:t>
            </a:r>
            <a:r>
              <a:rPr lang="ja-JP" sz="1400">
                <a:solidFill>
                  <a:srgbClr val="746D66"/>
                </a:solidFill>
                <a:latin typeface="Yu Gothic UI"/>
              </a:rPr>
              <a:t>単価</a:t>
            </a:r>
            <a:r>
              <a:rPr sz="1400">
                <a:solidFill>
                  <a:srgbClr val="746D66"/>
                </a:solidFill>
                <a:latin typeface="Yu Gothic UI"/>
              </a:rPr>
              <a:t> +3%</a:t>
            </a:r>
          </a:p>
        </p:txBody>
      </p:sp>
      <p:sp>
        <p:nvSpPr>
          <p:cNvPr id="14" name="SDPM::strategy.value_driver_tree::code_1" title="SDPM::strategy.value_driver_tree::code_1" descr="SDPM::strategy.value_driver_tree::code_1"/>
          <p:cNvSpPr txBox="1"/>
          <p:nvPr/>
        </p:nvSpPr>
        <p:spPr>
          <a:xfrm>
            <a:off x="6787388" y="1524000"/>
            <a:ext cx="2302256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DRIVER 2</a:t>
            </a:r>
          </a:p>
        </p:txBody>
      </p:sp>
      <p:cxnSp>
        <p:nvCxnSpPr>
          <p:cNvPr id="15" name="SDPM::strategy.value_driver_tree::rule_1" title="SDPM::strategy.value_driver_tree::rule_1" descr="SDPM::strategy.value_driver_tree::rule_1"/>
          <p:cNvCxnSpPr/>
          <p:nvPr/>
        </p:nvCxnSpPr>
        <p:spPr>
          <a:xfrm>
            <a:off x="6787388" y="1778000"/>
            <a:ext cx="2302256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DPM::strategy.value_driver_tree::driver_1" title="SDPM::strategy.value_driver_tree::driver_1" descr="SDPM::strategy.value_driver_tree::driver_1"/>
          <p:cNvSpPr txBox="1"/>
          <p:nvPr/>
        </p:nvSpPr>
        <p:spPr>
          <a:xfrm>
            <a:off x="6787388" y="1879600"/>
            <a:ext cx="2302256" cy="5715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2000">
                <a:solidFill>
                  <a:srgbClr val="29231F"/>
                </a:solidFill>
                <a:latin typeface="Yu Gothic UI"/>
              </a:rPr>
              <a:t>粗利率</a:t>
            </a:r>
            <a:r>
              <a:rPr sz="2000">
                <a:solidFill>
                  <a:srgbClr val="29231F"/>
                </a:solidFill>
                <a:latin typeface="Yu Gothic UI"/>
              </a:rPr>
              <a:t> +2pt</a:t>
            </a:r>
          </a:p>
        </p:txBody>
      </p:sp>
      <p:sp>
        <p:nvSpPr>
          <p:cNvPr id="17" name="SDPM::strategy.value_driver_tree::sub_1_0" title="SDPM::strategy.value_driver_tree::sub_1_0" descr="SDPM::strategy.value_driver_tree::sub_1_0"/>
          <p:cNvSpPr txBox="1"/>
          <p:nvPr/>
        </p:nvSpPr>
        <p:spPr>
          <a:xfrm>
            <a:off x="6787388" y="2603500"/>
            <a:ext cx="2302256" cy="330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400">
                <a:solidFill>
                  <a:srgbClr val="746D66"/>
                </a:solidFill>
                <a:latin typeface="Yu Gothic UI"/>
              </a:rPr>
              <a:t>+  </a:t>
            </a:r>
            <a:r>
              <a:rPr lang="ja-JP" sz="1400">
                <a:solidFill>
                  <a:srgbClr val="746D66"/>
                </a:solidFill>
                <a:latin typeface="Yu Gothic UI"/>
              </a:rPr>
              <a:t>価格</a:t>
            </a:r>
            <a:r>
              <a:rPr sz="1400">
                <a:solidFill>
                  <a:srgbClr val="746D66"/>
                </a:solidFill>
                <a:latin typeface="Yu Gothic UI"/>
              </a:rPr>
              <a:t> +1pt</a:t>
            </a:r>
          </a:p>
        </p:txBody>
      </p:sp>
      <p:sp>
        <p:nvSpPr>
          <p:cNvPr id="18" name="SDPM::strategy.value_driver_tree::sub_1_1" title="SDPM::strategy.value_driver_tree::sub_1_1" descr="SDPM::strategy.value_driver_tree::sub_1_1"/>
          <p:cNvSpPr txBox="1"/>
          <p:nvPr/>
        </p:nvSpPr>
        <p:spPr>
          <a:xfrm>
            <a:off x="6787388" y="2971800"/>
            <a:ext cx="2302256" cy="330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400">
                <a:solidFill>
                  <a:srgbClr val="746D66"/>
                </a:solidFill>
                <a:latin typeface="Yu Gothic UI"/>
              </a:rPr>
              <a:t>+  </a:t>
            </a:r>
            <a:r>
              <a:rPr lang="ja-JP" sz="1400">
                <a:solidFill>
                  <a:srgbClr val="746D66"/>
                </a:solidFill>
                <a:latin typeface="Yu Gothic UI"/>
              </a:rPr>
              <a:t>原価</a:t>
            </a:r>
            <a:r>
              <a:rPr sz="1400">
                <a:solidFill>
                  <a:srgbClr val="746D66"/>
                </a:solidFill>
                <a:latin typeface="Yu Gothic UI"/>
              </a:rPr>
              <a:t> -1pt</a:t>
            </a:r>
          </a:p>
        </p:txBody>
      </p:sp>
      <p:sp>
        <p:nvSpPr>
          <p:cNvPr id="19" name="SDPM::strategy.value_driver_tree::code_2" title="SDPM::strategy.value_driver_tree::code_2" descr="SDPM::strategy.value_driver_tree::code_2"/>
          <p:cNvSpPr txBox="1"/>
          <p:nvPr/>
        </p:nvSpPr>
        <p:spPr>
          <a:xfrm>
            <a:off x="9254744" y="1524000"/>
            <a:ext cx="2302256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DRIVER 3</a:t>
            </a:r>
          </a:p>
        </p:txBody>
      </p:sp>
      <p:cxnSp>
        <p:nvCxnSpPr>
          <p:cNvPr id="20" name="SDPM::strategy.value_driver_tree::rule_2" title="SDPM::strategy.value_driver_tree::rule_2" descr="SDPM::strategy.value_driver_tree::rule_2"/>
          <p:cNvCxnSpPr/>
          <p:nvPr/>
        </p:nvCxnSpPr>
        <p:spPr>
          <a:xfrm>
            <a:off x="9254744" y="1778000"/>
            <a:ext cx="2302256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DPM::strategy.value_driver_tree::driver_2" title="SDPM::strategy.value_driver_tree::driver_2" descr="SDPM::strategy.value_driver_tree::driver_2"/>
          <p:cNvSpPr txBox="1"/>
          <p:nvPr/>
        </p:nvSpPr>
        <p:spPr>
          <a:xfrm>
            <a:off x="9254744" y="1879600"/>
            <a:ext cx="2302256" cy="5715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2000">
                <a:solidFill>
                  <a:srgbClr val="29231F"/>
                </a:solidFill>
                <a:latin typeface="Yu Gothic UI"/>
              </a:rPr>
              <a:t>販管費</a:t>
            </a:r>
            <a:r>
              <a:rPr sz="2000">
                <a:solidFill>
                  <a:srgbClr val="29231F"/>
                </a:solidFill>
                <a:latin typeface="Yu Gothic UI"/>
              </a:rPr>
              <a:t> </a:t>
            </a:r>
            <a:r>
              <a:rPr lang="ja-JP" sz="2000">
                <a:solidFill>
                  <a:srgbClr val="29231F"/>
                </a:solidFill>
                <a:latin typeface="Yu Gothic UI"/>
              </a:rPr>
              <a:t>横ばい</a:t>
            </a:r>
          </a:p>
        </p:txBody>
      </p:sp>
      <p:sp>
        <p:nvSpPr>
          <p:cNvPr id="22" name="SDPM::strategy.value_driver_tree::sub_2_0" title="SDPM::strategy.value_driver_tree::sub_2_0" descr="SDPM::strategy.value_driver_tree::sub_2_0"/>
          <p:cNvSpPr txBox="1"/>
          <p:nvPr/>
        </p:nvSpPr>
        <p:spPr>
          <a:xfrm>
            <a:off x="9254744" y="2603500"/>
            <a:ext cx="2302256" cy="330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400">
                <a:solidFill>
                  <a:srgbClr val="746D66"/>
                </a:solidFill>
                <a:latin typeface="Yu Gothic UI"/>
              </a:rPr>
              <a:t>+  </a:t>
            </a:r>
            <a:r>
              <a:rPr lang="ja-JP" sz="1400">
                <a:solidFill>
                  <a:srgbClr val="746D66"/>
                </a:solidFill>
                <a:latin typeface="Yu Gothic UI"/>
              </a:rPr>
              <a:t>営業生産性</a:t>
            </a:r>
          </a:p>
        </p:txBody>
      </p:sp>
      <p:sp>
        <p:nvSpPr>
          <p:cNvPr id="23" name="SDPM::strategy.value_driver_tree::sub_2_1" title="SDPM::strategy.value_driver_tree::sub_2_1" descr="SDPM::strategy.value_driver_tree::sub_2_1"/>
          <p:cNvSpPr txBox="1"/>
          <p:nvPr/>
        </p:nvSpPr>
        <p:spPr>
          <a:xfrm>
            <a:off x="9254744" y="2971800"/>
            <a:ext cx="2302256" cy="330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400">
                <a:solidFill>
                  <a:srgbClr val="746D66"/>
                </a:solidFill>
                <a:latin typeface="Yu Gothic UI"/>
              </a:rPr>
              <a:t>+  CS </a:t>
            </a:r>
            <a:r>
              <a:rPr lang="ja-JP" sz="1400">
                <a:solidFill>
                  <a:srgbClr val="746D66"/>
                </a:solidFill>
                <a:latin typeface="Yu Gothic UI"/>
              </a:rPr>
              <a:t>自動化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Editorial Premium — composition, typography and reading path are theme-specific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263E4C"/>
                </a:solidFill>
                <a:latin typeface="Yu Gothic UI"/>
              </a:rPr>
              <a:t>Initiative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strategy.initiative_portfolio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strategy.initiative_portfolio::kicker" title="SDPM::strategy.initiative_portfolio::kicker" descr="SDPM::strategy.initiative_portfolio::kicker"/>
          <p:cNvSpPr txBox="1"/>
          <p:nvPr/>
        </p:nvSpPr>
        <p:spPr>
          <a:xfrm>
            <a:off x="635000" y="1524000"/>
            <a:ext cx="5114544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PRIORITY INITIATIVE</a:t>
            </a:r>
          </a:p>
        </p:txBody>
      </p:sp>
      <p:cxnSp>
        <p:nvCxnSpPr>
          <p:cNvPr id="7" name="SDPM::strategy.initiative_portfolio::kicker_rule" title="SDPM::strategy.initiative_portfolio::kicker_rule" descr="SDPM::strategy.initiative_portfolio::kicker_rule"/>
          <p:cNvCxnSpPr/>
          <p:nvPr/>
        </p:nvCxnSpPr>
        <p:spPr>
          <a:xfrm>
            <a:off x="635000" y="1689100"/>
            <a:ext cx="698500" cy="0"/>
          </a:xfrm>
          <a:prstGeom prst="line">
            <a:avLst/>
          </a:prstGeom>
          <a:ln w="31750">
            <a:solidFill>
              <a:srgbClr val="A4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strategy.initiative_portfolio::hero_title" title="SDPM::strategy.initiative_portfolio::hero_title" descr="SDPM::strategy.initiative_portfolio::hero_title"/>
          <p:cNvSpPr txBox="1"/>
          <p:nvPr/>
        </p:nvSpPr>
        <p:spPr>
          <a:xfrm>
            <a:off x="635000" y="1854200"/>
            <a:ext cx="5114544" cy="2971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3200">
                <a:solidFill>
                  <a:srgbClr val="263E4C"/>
                </a:solidFill>
                <a:latin typeface="Yu Gothic UI"/>
              </a:rPr>
              <a:t>オンボーディング再設計</a:t>
            </a:r>
          </a:p>
        </p:txBody>
      </p:sp>
      <p:sp>
        <p:nvSpPr>
          <p:cNvPr id="9" name="SDPM::strategy.initiative_portfolio::hero_body" title="SDPM::strategy.initiative_portfolio::hero_body" descr="SDPM::strategy.initiative_portfolio::hero_body"/>
          <p:cNvSpPr txBox="1"/>
          <p:nvPr/>
        </p:nvSpPr>
        <p:spPr>
          <a:xfrm>
            <a:off x="635000" y="4921250"/>
            <a:ext cx="5114544" cy="457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400">
                <a:solidFill>
                  <a:srgbClr val="746D66"/>
                </a:solidFill>
                <a:latin typeface="Yu Gothic UI"/>
              </a:rPr>
              <a:t>導入</a:t>
            </a:r>
            <a:r>
              <a:rPr sz="1400">
                <a:solidFill>
                  <a:srgbClr val="746D66"/>
                </a:solidFill>
                <a:latin typeface="Yu Gothic UI"/>
              </a:rPr>
              <a:t> 90 </a:t>
            </a:r>
            <a:r>
              <a:rPr lang="ja-JP" sz="1400">
                <a:solidFill>
                  <a:srgbClr val="746D66"/>
                </a:solidFill>
                <a:latin typeface="Yu Gothic UI"/>
              </a:rPr>
              <a:t>日以内の定着を改善</a:t>
            </a:r>
          </a:p>
        </p:txBody>
      </p:sp>
      <p:sp>
        <p:nvSpPr>
          <p:cNvPr id="10" name="SDPM::strategy.initiative_portfolio::hero_owner" title="SDPM::strategy.initiative_portfolio::hero_owner" descr="SDPM::strategy.initiative_portfolio::hero_owner"/>
          <p:cNvSpPr txBox="1"/>
          <p:nvPr/>
        </p:nvSpPr>
        <p:spPr>
          <a:xfrm>
            <a:off x="635000" y="5461000"/>
            <a:ext cx="5114544" cy="254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OWNER  CX </a:t>
            </a:r>
            <a:r>
              <a:rPr lang="ja-JP" sz="1200">
                <a:solidFill>
                  <a:srgbClr val="A45A3A"/>
                </a:solidFill>
                <a:latin typeface="Yu Gothic UI"/>
              </a:rPr>
              <a:t>責任者</a:t>
            </a:r>
          </a:p>
        </p:txBody>
      </p:sp>
      <p:cxnSp>
        <p:nvCxnSpPr>
          <p:cNvPr id="11" name="SDPM::strategy.initiative_portfolio::rule_1" title="SDPM::strategy.initiative_portfolio::rule_1" descr="SDPM::strategy.initiative_portfolio::rule_1"/>
          <p:cNvCxnSpPr/>
          <p:nvPr/>
        </p:nvCxnSpPr>
        <p:spPr>
          <a:xfrm>
            <a:off x="6016244" y="1524000"/>
            <a:ext cx="5540756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DPM::strategy.initiative_portfolio::index_1" title="SDPM::strategy.initiative_portfolio::index_1" descr="SDPM::strategy.initiative_portfolio::index_1"/>
          <p:cNvSpPr txBox="1"/>
          <p:nvPr/>
        </p:nvSpPr>
        <p:spPr>
          <a:xfrm>
            <a:off x="6016244" y="1574800"/>
            <a:ext cx="538861" cy="13377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700">
                <a:solidFill>
                  <a:srgbClr val="A45A3A"/>
                </a:solidFill>
                <a:latin typeface="Yu Gothic UI"/>
              </a:rPr>
              <a:t>02</a:t>
            </a:r>
          </a:p>
        </p:txBody>
      </p:sp>
      <p:sp>
        <p:nvSpPr>
          <p:cNvPr id="13" name="SDPM::strategy.initiative_portfolio::title_1" title="SDPM::strategy.initiative_portfolio::title_1" descr="SDPM::strategy.initiative_portfolio::title_1"/>
          <p:cNvSpPr txBox="1"/>
          <p:nvPr/>
        </p:nvSpPr>
        <p:spPr>
          <a:xfrm>
            <a:off x="6631305" y="1574800"/>
            <a:ext cx="3340798" cy="13377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600">
                <a:solidFill>
                  <a:srgbClr val="29231F"/>
                </a:solidFill>
                <a:latin typeface="Yu Gothic UI"/>
              </a:rPr>
              <a:t>価格・契約モデル変更</a:t>
            </a:r>
          </a:p>
        </p:txBody>
      </p:sp>
      <p:sp>
        <p:nvSpPr>
          <p:cNvPr id="14" name="SDPM::strategy.initiative_portfolio::meta_1" title="SDPM::strategy.initiative_portfolio::meta_1" descr="SDPM::strategy.initiative_portfolio::meta_1"/>
          <p:cNvSpPr txBox="1"/>
          <p:nvPr/>
        </p:nvSpPr>
        <p:spPr>
          <a:xfrm>
            <a:off x="10048240" y="1574800"/>
            <a:ext cx="1508760" cy="13377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200">
                <a:solidFill>
                  <a:srgbClr val="746D66"/>
                </a:solidFill>
                <a:latin typeface="Yu Gothic UI"/>
              </a:rPr>
              <a:t>事業責任者</a:t>
            </a:r>
          </a:p>
        </p:txBody>
      </p:sp>
      <p:cxnSp>
        <p:nvCxnSpPr>
          <p:cNvPr id="15" name="SDPM::strategy.initiative_portfolio::rule_2" title="SDPM::strategy.initiative_portfolio::rule_2" descr="SDPM::strategy.initiative_portfolio::rule_2"/>
          <p:cNvCxnSpPr/>
          <p:nvPr/>
        </p:nvCxnSpPr>
        <p:spPr>
          <a:xfrm>
            <a:off x="6016244" y="2988754"/>
            <a:ext cx="5540756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DPM::strategy.initiative_portfolio::index_2" title="SDPM::strategy.initiative_portfolio::index_2" descr="SDPM::strategy.initiative_portfolio::index_2"/>
          <p:cNvSpPr txBox="1"/>
          <p:nvPr/>
        </p:nvSpPr>
        <p:spPr>
          <a:xfrm>
            <a:off x="6016244" y="3039554"/>
            <a:ext cx="538861" cy="13377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700">
                <a:solidFill>
                  <a:srgbClr val="A45A3A"/>
                </a:solidFill>
                <a:latin typeface="Yu Gothic UI"/>
              </a:rPr>
              <a:t>03</a:t>
            </a:r>
          </a:p>
        </p:txBody>
      </p:sp>
      <p:sp>
        <p:nvSpPr>
          <p:cNvPr id="17" name="SDPM::strategy.initiative_portfolio::title_2" title="SDPM::strategy.initiative_portfolio::title_2" descr="SDPM::strategy.initiative_portfolio::title_2"/>
          <p:cNvSpPr txBox="1"/>
          <p:nvPr/>
        </p:nvSpPr>
        <p:spPr>
          <a:xfrm>
            <a:off x="6631305" y="3039554"/>
            <a:ext cx="3340798" cy="13377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600">
                <a:solidFill>
                  <a:srgbClr val="29231F"/>
                </a:solidFill>
                <a:latin typeface="Yu Gothic UI"/>
              </a:rPr>
              <a:t>顧客データ基盤</a:t>
            </a:r>
          </a:p>
        </p:txBody>
      </p:sp>
      <p:sp>
        <p:nvSpPr>
          <p:cNvPr id="18" name="SDPM::strategy.initiative_portfolio::meta_2" title="SDPM::strategy.initiative_portfolio::meta_2" descr="SDPM::strategy.initiative_portfolio::meta_2"/>
          <p:cNvSpPr txBox="1"/>
          <p:nvPr/>
        </p:nvSpPr>
        <p:spPr>
          <a:xfrm>
            <a:off x="10048240" y="3039554"/>
            <a:ext cx="1508760" cy="13377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IT </a:t>
            </a:r>
            <a:r>
              <a:rPr lang="ja-JP" sz="1200">
                <a:solidFill>
                  <a:srgbClr val="746D66"/>
                </a:solidFill>
                <a:latin typeface="Yu Gothic UI"/>
              </a:rPr>
              <a:t>責任者</a:t>
            </a:r>
          </a:p>
        </p:txBody>
      </p:sp>
      <p:cxnSp>
        <p:nvCxnSpPr>
          <p:cNvPr id="19" name="SDPM::strategy.initiative_portfolio::rule_3" title="SDPM::strategy.initiative_portfolio::rule_3" descr="SDPM::strategy.initiative_portfolio::rule_3"/>
          <p:cNvCxnSpPr/>
          <p:nvPr/>
        </p:nvCxnSpPr>
        <p:spPr>
          <a:xfrm>
            <a:off x="6016244" y="4453445"/>
            <a:ext cx="5540756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DPM::strategy.initiative_portfolio::index_3" title="SDPM::strategy.initiative_portfolio::index_3" descr="SDPM::strategy.initiative_portfolio::index_3"/>
          <p:cNvSpPr txBox="1"/>
          <p:nvPr/>
        </p:nvSpPr>
        <p:spPr>
          <a:xfrm>
            <a:off x="6016244" y="4504245"/>
            <a:ext cx="538861" cy="13377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700">
                <a:solidFill>
                  <a:srgbClr val="A45A3A"/>
                </a:solidFill>
                <a:latin typeface="Yu Gothic UI"/>
              </a:rPr>
              <a:t>04</a:t>
            </a:r>
          </a:p>
        </p:txBody>
      </p:sp>
      <p:sp>
        <p:nvSpPr>
          <p:cNvPr id="21" name="SDPM::strategy.initiative_portfolio::title_3" title="SDPM::strategy.initiative_portfolio::title_3" descr="SDPM::strategy.initiative_portfolio::title_3"/>
          <p:cNvSpPr txBox="1"/>
          <p:nvPr/>
        </p:nvSpPr>
        <p:spPr>
          <a:xfrm>
            <a:off x="6631305" y="4504245"/>
            <a:ext cx="3340798" cy="13377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600">
                <a:solidFill>
                  <a:srgbClr val="29231F"/>
                </a:solidFill>
                <a:latin typeface="Yu Gothic UI"/>
              </a:rPr>
              <a:t>部門展開プレイブック</a:t>
            </a:r>
          </a:p>
        </p:txBody>
      </p:sp>
      <p:sp>
        <p:nvSpPr>
          <p:cNvPr id="22" name="SDPM::strategy.initiative_portfolio::meta_3" title="SDPM::strategy.initiative_portfolio::meta_3" descr="SDPM::strategy.initiative_portfolio::meta_3"/>
          <p:cNvSpPr txBox="1"/>
          <p:nvPr/>
        </p:nvSpPr>
        <p:spPr>
          <a:xfrm>
            <a:off x="10048240" y="4504245"/>
            <a:ext cx="1508760" cy="13377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200">
                <a:solidFill>
                  <a:srgbClr val="746D66"/>
                </a:solidFill>
                <a:latin typeface="Yu Gothic UI"/>
              </a:rPr>
              <a:t>営業責任者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Editorial Premium — composition, typography and reading path are theme-specific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263E4C"/>
                </a:solidFill>
                <a:latin typeface="Yu Gothic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execution.roadmap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DPM::execution.roadmap::spine" title="SDPM::execution.roadmap::spine" descr="SDPM::execution.roadmap::spine"/>
          <p:cNvCxnSpPr/>
          <p:nvPr/>
        </p:nvCxnSpPr>
        <p:spPr>
          <a:xfrm>
            <a:off x="2600960" y="1524000"/>
            <a:ext cx="0" cy="4318000"/>
          </a:xfrm>
          <a:prstGeom prst="line">
            <a:avLst/>
          </a:prstGeom>
          <a:ln w="38100">
            <a:solidFill>
              <a:srgbClr val="A4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DPM::execution.roadmap::period_0" title="SDPM::execution.roadmap::period_0" descr="SDPM::execution.roadmap::period_0"/>
          <p:cNvSpPr txBox="1"/>
          <p:nvPr/>
        </p:nvSpPr>
        <p:spPr>
          <a:xfrm>
            <a:off x="635000" y="1524000"/>
            <a:ext cx="152908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r"/>
            <a:r>
              <a:rPr sz="1600">
                <a:solidFill>
                  <a:srgbClr val="A45A3A"/>
                </a:solidFill>
                <a:latin typeface="Yu Gothic UI"/>
              </a:rPr>
              <a:t>0-30 </a:t>
            </a:r>
            <a:r>
              <a:rPr lang="ja-JP" sz="1600">
                <a:solidFill>
                  <a:srgbClr val="A45A3A"/>
                </a:solidFill>
                <a:latin typeface="Yu Gothic UI"/>
              </a:rPr>
              <a:t>日</a:t>
            </a:r>
          </a:p>
        </p:txBody>
      </p:sp>
      <p:sp>
        <p:nvSpPr>
          <p:cNvPr id="8" name="SDPM::execution.roadmap::node_0" title="SDPM::execution.roadmap::node_0" descr="SDPM::execution.roadmap::node_0"/>
          <p:cNvSpPr/>
          <p:nvPr/>
        </p:nvSpPr>
        <p:spPr>
          <a:xfrm>
            <a:off x="2518410" y="1600200"/>
            <a:ext cx="165100" cy="165100"/>
          </a:xfrm>
          <a:prstGeom prst="ellipse">
            <a:avLst/>
          </a:prstGeom>
          <a:solidFill>
            <a:srgbClr val="26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SDPM::execution.roadmap::title_0" title="SDPM::execution.roadmap::title_0" descr="SDPM::execution.roadmap::title_0"/>
          <p:cNvSpPr txBox="1"/>
          <p:nvPr/>
        </p:nvSpPr>
        <p:spPr>
          <a:xfrm>
            <a:off x="2816860" y="1524000"/>
            <a:ext cx="8740140" cy="215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900">
                <a:solidFill>
                  <a:srgbClr val="29231F"/>
                </a:solidFill>
                <a:latin typeface="Yu Gothic UI"/>
              </a:rPr>
              <a:t>設計</a:t>
            </a:r>
          </a:p>
        </p:txBody>
      </p:sp>
      <p:sp>
        <p:nvSpPr>
          <p:cNvPr id="10" name="SDPM::execution.roadmap::items_0" title="SDPM::execution.roadmap::items_0" descr="SDPM::execution.roadmap::items_0"/>
          <p:cNvSpPr txBox="1"/>
          <p:nvPr/>
        </p:nvSpPr>
        <p:spPr>
          <a:xfrm>
            <a:off x="2816860" y="1778000"/>
            <a:ext cx="8740140" cy="777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顧客課題定義</a:t>
            </a:r>
            <a:r>
              <a:rPr sz="1300">
                <a:solidFill>
                  <a:srgbClr val="746D66"/>
                </a:solidFill>
                <a:latin typeface="Yu Gothic UI"/>
              </a:rPr>
              <a:t>  •  </a:t>
            </a:r>
            <a:r>
              <a:rPr lang="ja-JP" sz="1300">
                <a:solidFill>
                  <a:srgbClr val="746D66"/>
                </a:solidFill>
                <a:latin typeface="Yu Gothic UI"/>
              </a:rPr>
              <a:t>成果</a:t>
            </a:r>
            <a:r>
              <a:rPr sz="1300">
                <a:solidFill>
                  <a:srgbClr val="746D66"/>
                </a:solidFill>
                <a:latin typeface="Yu Gothic UI"/>
              </a:rPr>
              <a:t> KPI </a:t>
            </a:r>
            <a:r>
              <a:rPr lang="ja-JP" sz="1300">
                <a:solidFill>
                  <a:srgbClr val="746D66"/>
                </a:solidFill>
                <a:latin typeface="Yu Gothic UI"/>
              </a:rPr>
              <a:t>設定</a:t>
            </a:r>
          </a:p>
        </p:txBody>
      </p:sp>
      <p:sp>
        <p:nvSpPr>
          <p:cNvPr id="11" name="SDPM::execution.roadmap::period_1" title="SDPM::execution.roadmap::period_1" descr="SDPM::execution.roadmap::period_1"/>
          <p:cNvSpPr txBox="1"/>
          <p:nvPr/>
        </p:nvSpPr>
        <p:spPr>
          <a:xfrm>
            <a:off x="635000" y="2619375"/>
            <a:ext cx="152908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r"/>
            <a:r>
              <a:rPr sz="1600">
                <a:solidFill>
                  <a:srgbClr val="A45A3A"/>
                </a:solidFill>
                <a:latin typeface="Yu Gothic UI"/>
              </a:rPr>
              <a:t>31-90 </a:t>
            </a:r>
            <a:r>
              <a:rPr lang="ja-JP" sz="1600">
                <a:solidFill>
                  <a:srgbClr val="A45A3A"/>
                </a:solidFill>
                <a:latin typeface="Yu Gothic UI"/>
              </a:rPr>
              <a:t>日</a:t>
            </a:r>
          </a:p>
        </p:txBody>
      </p:sp>
      <p:sp>
        <p:nvSpPr>
          <p:cNvPr id="12" name="SDPM::execution.roadmap::node_1" title="SDPM::execution.roadmap::node_1" descr="SDPM::execution.roadmap::node_1"/>
          <p:cNvSpPr/>
          <p:nvPr/>
        </p:nvSpPr>
        <p:spPr>
          <a:xfrm>
            <a:off x="2518410" y="2695575"/>
            <a:ext cx="165100" cy="165100"/>
          </a:xfrm>
          <a:prstGeom prst="ellipse">
            <a:avLst/>
          </a:prstGeom>
          <a:solidFill>
            <a:srgbClr val="26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SDPM::execution.roadmap::title_1" title="SDPM::execution.roadmap::title_1" descr="SDPM::execution.roadmap::title_1"/>
          <p:cNvSpPr txBox="1"/>
          <p:nvPr/>
        </p:nvSpPr>
        <p:spPr>
          <a:xfrm>
            <a:off x="2816860" y="2619375"/>
            <a:ext cx="8740140" cy="215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900">
                <a:solidFill>
                  <a:srgbClr val="29231F"/>
                </a:solidFill>
                <a:latin typeface="Yu Gothic UI"/>
              </a:rPr>
              <a:t>パイロット</a:t>
            </a:r>
          </a:p>
        </p:txBody>
      </p:sp>
      <p:sp>
        <p:nvSpPr>
          <p:cNvPr id="14" name="SDPM::execution.roadmap::items_1" title="SDPM::execution.roadmap::items_1" descr="SDPM::execution.roadmap::items_1"/>
          <p:cNvSpPr txBox="1"/>
          <p:nvPr/>
        </p:nvSpPr>
        <p:spPr>
          <a:xfrm>
            <a:off x="2816860" y="2873375"/>
            <a:ext cx="8740140" cy="777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重点顧客で実装</a:t>
            </a:r>
            <a:r>
              <a:rPr sz="1300">
                <a:solidFill>
                  <a:srgbClr val="746D66"/>
                </a:solidFill>
                <a:latin typeface="Yu Gothic UI"/>
              </a:rPr>
              <a:t>  •  </a:t>
            </a:r>
            <a:r>
              <a:rPr lang="ja-JP" sz="1300">
                <a:solidFill>
                  <a:srgbClr val="746D66"/>
                </a:solidFill>
                <a:latin typeface="Yu Gothic UI"/>
              </a:rPr>
              <a:t>効果測定</a:t>
            </a:r>
          </a:p>
        </p:txBody>
      </p:sp>
      <p:sp>
        <p:nvSpPr>
          <p:cNvPr id="15" name="SDPM::execution.roadmap::period_2" title="SDPM::execution.roadmap::period_2" descr="SDPM::execution.roadmap::period_2"/>
          <p:cNvSpPr txBox="1"/>
          <p:nvPr/>
        </p:nvSpPr>
        <p:spPr>
          <a:xfrm>
            <a:off x="635000" y="3714750"/>
            <a:ext cx="152908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r"/>
            <a:r>
              <a:rPr sz="1600">
                <a:solidFill>
                  <a:srgbClr val="A45A3A"/>
                </a:solidFill>
                <a:latin typeface="Yu Gothic UI"/>
              </a:rPr>
              <a:t>4-6 </a:t>
            </a:r>
            <a:r>
              <a:rPr lang="ja-JP" sz="1600">
                <a:solidFill>
                  <a:srgbClr val="A45A3A"/>
                </a:solidFill>
                <a:latin typeface="Yu Gothic UI"/>
              </a:rPr>
              <a:t>か月</a:t>
            </a:r>
          </a:p>
        </p:txBody>
      </p:sp>
      <p:sp>
        <p:nvSpPr>
          <p:cNvPr id="16" name="SDPM::execution.roadmap::node_2" title="SDPM::execution.roadmap::node_2" descr="SDPM::execution.roadmap::node_2"/>
          <p:cNvSpPr/>
          <p:nvPr/>
        </p:nvSpPr>
        <p:spPr>
          <a:xfrm>
            <a:off x="2518410" y="3790950"/>
            <a:ext cx="165100" cy="165100"/>
          </a:xfrm>
          <a:prstGeom prst="ellipse">
            <a:avLst/>
          </a:prstGeom>
          <a:solidFill>
            <a:srgbClr val="26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SDPM::execution.roadmap::title_2" title="SDPM::execution.roadmap::title_2" descr="SDPM::execution.roadmap::title_2"/>
          <p:cNvSpPr txBox="1"/>
          <p:nvPr/>
        </p:nvSpPr>
        <p:spPr>
          <a:xfrm>
            <a:off x="2816860" y="3714750"/>
            <a:ext cx="8740140" cy="215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900">
                <a:solidFill>
                  <a:srgbClr val="29231F"/>
                </a:solidFill>
                <a:latin typeface="Yu Gothic UI"/>
              </a:rPr>
              <a:t>標準化</a:t>
            </a:r>
          </a:p>
        </p:txBody>
      </p:sp>
      <p:sp>
        <p:nvSpPr>
          <p:cNvPr id="18" name="SDPM::execution.roadmap::items_2" title="SDPM::execution.roadmap::items_2" descr="SDPM::execution.roadmap::items_2"/>
          <p:cNvSpPr txBox="1"/>
          <p:nvPr/>
        </p:nvSpPr>
        <p:spPr>
          <a:xfrm>
            <a:off x="2816860" y="3968750"/>
            <a:ext cx="8740140" cy="777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業務標準化</a:t>
            </a:r>
            <a:r>
              <a:rPr sz="1300">
                <a:solidFill>
                  <a:srgbClr val="746D66"/>
                </a:solidFill>
                <a:latin typeface="Yu Gothic UI"/>
              </a:rPr>
              <a:t>  •  </a:t>
            </a:r>
            <a:r>
              <a:rPr lang="ja-JP" sz="1300">
                <a:solidFill>
                  <a:srgbClr val="746D66"/>
                </a:solidFill>
                <a:latin typeface="Yu Gothic UI"/>
              </a:rPr>
              <a:t>教育・データ整備</a:t>
            </a:r>
          </a:p>
        </p:txBody>
      </p:sp>
      <p:sp>
        <p:nvSpPr>
          <p:cNvPr id="19" name="SDPM::execution.roadmap::period_3" title="SDPM::execution.roadmap::period_3" descr="SDPM::execution.roadmap::period_3"/>
          <p:cNvSpPr txBox="1"/>
          <p:nvPr/>
        </p:nvSpPr>
        <p:spPr>
          <a:xfrm>
            <a:off x="635000" y="4810125"/>
            <a:ext cx="1529080" cy="1031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r"/>
            <a:r>
              <a:rPr sz="1600">
                <a:solidFill>
                  <a:srgbClr val="A45A3A"/>
                </a:solidFill>
                <a:latin typeface="Yu Gothic UI"/>
              </a:rPr>
              <a:t>7-12 </a:t>
            </a:r>
            <a:r>
              <a:rPr lang="ja-JP" sz="1600">
                <a:solidFill>
                  <a:srgbClr val="A45A3A"/>
                </a:solidFill>
                <a:latin typeface="Yu Gothic UI"/>
              </a:rPr>
              <a:t>か月</a:t>
            </a:r>
          </a:p>
        </p:txBody>
      </p:sp>
      <p:sp>
        <p:nvSpPr>
          <p:cNvPr id="20" name="SDPM::execution.roadmap::node_3" title="SDPM::execution.roadmap::node_3" descr="SDPM::execution.roadmap::node_3"/>
          <p:cNvSpPr/>
          <p:nvPr/>
        </p:nvSpPr>
        <p:spPr>
          <a:xfrm>
            <a:off x="2518410" y="4886325"/>
            <a:ext cx="165100" cy="165100"/>
          </a:xfrm>
          <a:prstGeom prst="ellipse">
            <a:avLst/>
          </a:prstGeom>
          <a:solidFill>
            <a:srgbClr val="263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SDPM::execution.roadmap::title_3" title="SDPM::execution.roadmap::title_3" descr="SDPM::execution.roadmap::title_3"/>
          <p:cNvSpPr txBox="1"/>
          <p:nvPr/>
        </p:nvSpPr>
        <p:spPr>
          <a:xfrm>
            <a:off x="2816860" y="4810125"/>
            <a:ext cx="8740140" cy="215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900">
                <a:solidFill>
                  <a:srgbClr val="29231F"/>
                </a:solidFill>
                <a:latin typeface="Yu Gothic UI"/>
              </a:rPr>
              <a:t>展開</a:t>
            </a:r>
          </a:p>
        </p:txBody>
      </p:sp>
      <p:sp>
        <p:nvSpPr>
          <p:cNvPr id="22" name="SDPM::execution.roadmap::items_3" title="SDPM::execution.roadmap::items_3" descr="SDPM::execution.roadmap::items_3"/>
          <p:cNvSpPr txBox="1"/>
          <p:nvPr/>
        </p:nvSpPr>
        <p:spPr>
          <a:xfrm>
            <a:off x="2816860" y="5064125"/>
            <a:ext cx="8740140" cy="7778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全社展開</a:t>
            </a:r>
            <a:r>
              <a:rPr sz="1300">
                <a:solidFill>
                  <a:srgbClr val="746D66"/>
                </a:solidFill>
                <a:latin typeface="Yu Gothic UI"/>
              </a:rPr>
              <a:t>  •  </a:t>
            </a:r>
            <a:r>
              <a:rPr lang="ja-JP" sz="1300">
                <a:solidFill>
                  <a:srgbClr val="746D66"/>
                </a:solidFill>
                <a:latin typeface="Yu Gothic UI"/>
              </a:rPr>
              <a:t>収益モデル更新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Editorial Premium — composition, typography and reading path are theme-specific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263E4C"/>
                </a:solidFill>
                <a:latin typeface="Yu Gothic UI"/>
              </a:rPr>
              <a:t>Gantt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execution.gantt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execution.gantt::header_label" title="SDPM::execution.gantt::header_label" descr="SDPM::execution.gantt::header_label"/>
          <p:cNvSpPr txBox="1"/>
          <p:nvPr/>
        </p:nvSpPr>
        <p:spPr>
          <a:xfrm>
            <a:off x="635000" y="1524000"/>
            <a:ext cx="3058160" cy="518159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WORKSTREAM</a:t>
            </a:r>
          </a:p>
        </p:txBody>
      </p:sp>
      <p:sp>
        <p:nvSpPr>
          <p:cNvPr id="7" name="SDPM::execution.gantt::period_0" title="SDPM::execution.gantt::period_0" descr="SDPM::execution.gantt::period_0"/>
          <p:cNvSpPr txBox="1"/>
          <p:nvPr/>
        </p:nvSpPr>
        <p:spPr>
          <a:xfrm>
            <a:off x="3693160" y="1524000"/>
            <a:ext cx="1965960" cy="518159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A45A3A"/>
                </a:solidFill>
                <a:latin typeface="Yu Gothic UI"/>
              </a:rPr>
              <a:t>Q1</a:t>
            </a:r>
          </a:p>
        </p:txBody>
      </p:sp>
      <p:sp>
        <p:nvSpPr>
          <p:cNvPr id="8" name="SDPM::execution.gantt::period_1" title="SDPM::execution.gantt::period_1" descr="SDPM::execution.gantt::period_1"/>
          <p:cNvSpPr txBox="1"/>
          <p:nvPr/>
        </p:nvSpPr>
        <p:spPr>
          <a:xfrm>
            <a:off x="5659120" y="1524000"/>
            <a:ext cx="1965960" cy="518159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A45A3A"/>
                </a:solidFill>
                <a:latin typeface="Yu Gothic UI"/>
              </a:rPr>
              <a:t>Q2</a:t>
            </a:r>
          </a:p>
        </p:txBody>
      </p:sp>
      <p:sp>
        <p:nvSpPr>
          <p:cNvPr id="9" name="SDPM::execution.gantt::period_2" title="SDPM::execution.gantt::period_2" descr="SDPM::execution.gantt::period_2"/>
          <p:cNvSpPr txBox="1"/>
          <p:nvPr/>
        </p:nvSpPr>
        <p:spPr>
          <a:xfrm>
            <a:off x="7625080" y="1524000"/>
            <a:ext cx="1965960" cy="518159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A45A3A"/>
                </a:solidFill>
                <a:latin typeface="Yu Gothic UI"/>
              </a:rPr>
              <a:t>Q3</a:t>
            </a:r>
          </a:p>
        </p:txBody>
      </p:sp>
      <p:sp>
        <p:nvSpPr>
          <p:cNvPr id="10" name="SDPM::execution.gantt::period_3" title="SDPM::execution.gantt::period_3" descr="SDPM::execution.gantt::period_3"/>
          <p:cNvSpPr txBox="1"/>
          <p:nvPr/>
        </p:nvSpPr>
        <p:spPr>
          <a:xfrm>
            <a:off x="9591040" y="1524000"/>
            <a:ext cx="1965960" cy="518159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A45A3A"/>
                </a:solidFill>
                <a:latin typeface="Yu Gothic UI"/>
              </a:rPr>
              <a:t>Q4</a:t>
            </a:r>
          </a:p>
        </p:txBody>
      </p:sp>
      <p:sp>
        <p:nvSpPr>
          <p:cNvPr id="11" name="SDPM::execution.gantt::label_0" title="SDPM::execution.gantt::label_0" descr="SDPM::execution.gantt::label_0"/>
          <p:cNvSpPr txBox="1"/>
          <p:nvPr/>
        </p:nvSpPr>
        <p:spPr>
          <a:xfrm>
            <a:off x="635000" y="2042160"/>
            <a:ext cx="2969260" cy="926147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29231F"/>
                </a:solidFill>
                <a:latin typeface="Yu Gothic UI"/>
              </a:rPr>
              <a:t>オンボーディング</a:t>
            </a:r>
          </a:p>
        </p:txBody>
      </p:sp>
      <p:cxnSp>
        <p:nvCxnSpPr>
          <p:cNvPr id="12" name="SDPM::execution.gantt::base_0" title="SDPM::execution.gantt::base_0" descr="SDPM::execution.gantt::base_0"/>
          <p:cNvCxnSpPr/>
          <p:nvPr/>
        </p:nvCxnSpPr>
        <p:spPr>
          <a:xfrm>
            <a:off x="3693160" y="2505265"/>
            <a:ext cx="786384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DPM::execution.gantt::bar_0" title="SDPM::execution.gantt::bar_0" descr="SDPM::execution.gantt::bar_0"/>
          <p:cNvSpPr/>
          <p:nvPr/>
        </p:nvSpPr>
        <p:spPr>
          <a:xfrm>
            <a:off x="3693160" y="2357056"/>
            <a:ext cx="3931920" cy="296354"/>
          </a:xfrm>
          <a:prstGeom prst="rect">
            <a:avLst/>
          </a:prstGeom>
          <a:solidFill>
            <a:srgbClr val="A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DPM::execution.gantt::milestone_0" title="SDPM::execution.gantt::milestone_0" descr="SDPM::execution.gantt::milestone_0"/>
          <p:cNvSpPr/>
          <p:nvPr/>
        </p:nvSpPr>
        <p:spPr>
          <a:xfrm>
            <a:off x="6597650" y="2460815"/>
            <a:ext cx="88900" cy="88900"/>
          </a:xfrm>
          <a:prstGeom prst="diamond">
            <a:avLst/>
          </a:prstGeom>
          <a:solidFill>
            <a:srgbClr val="C2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DPM::execution.gantt::label_1" title="SDPM::execution.gantt::label_1" descr="SDPM::execution.gantt::label_1"/>
          <p:cNvSpPr txBox="1"/>
          <p:nvPr/>
        </p:nvSpPr>
        <p:spPr>
          <a:xfrm>
            <a:off x="635000" y="3000057"/>
            <a:ext cx="2969260" cy="926147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29231F"/>
                </a:solidFill>
                <a:latin typeface="Yu Gothic UI"/>
              </a:rPr>
              <a:t>価格・契約</a:t>
            </a:r>
          </a:p>
        </p:txBody>
      </p:sp>
      <p:cxnSp>
        <p:nvCxnSpPr>
          <p:cNvPr id="16" name="SDPM::execution.gantt::base_1" title="SDPM::execution.gantt::base_1" descr="SDPM::execution.gantt::base_1"/>
          <p:cNvCxnSpPr/>
          <p:nvPr/>
        </p:nvCxnSpPr>
        <p:spPr>
          <a:xfrm>
            <a:off x="3693160" y="3463163"/>
            <a:ext cx="786384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DPM::execution.gantt::bar_1" title="SDPM::execution.gantt::bar_1" descr="SDPM::execution.gantt::bar_1"/>
          <p:cNvSpPr/>
          <p:nvPr/>
        </p:nvSpPr>
        <p:spPr>
          <a:xfrm>
            <a:off x="3693160" y="3314954"/>
            <a:ext cx="5897880" cy="296354"/>
          </a:xfrm>
          <a:prstGeom prst="rect">
            <a:avLst/>
          </a:prstGeom>
          <a:solidFill>
            <a:srgbClr val="65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DPM::execution.gantt::label_2" title="SDPM::execution.gantt::label_2" descr="SDPM::execution.gantt::label_2"/>
          <p:cNvSpPr txBox="1"/>
          <p:nvPr/>
        </p:nvSpPr>
        <p:spPr>
          <a:xfrm>
            <a:off x="635000" y="3957954"/>
            <a:ext cx="2969260" cy="926147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29231F"/>
                </a:solidFill>
                <a:latin typeface="Yu Gothic UI"/>
              </a:rPr>
              <a:t>顧客データ</a:t>
            </a:r>
          </a:p>
        </p:txBody>
      </p:sp>
      <p:cxnSp>
        <p:nvCxnSpPr>
          <p:cNvPr id="19" name="SDPM::execution.gantt::base_2" title="SDPM::execution.gantt::base_2" descr="SDPM::execution.gantt::base_2"/>
          <p:cNvCxnSpPr/>
          <p:nvPr/>
        </p:nvCxnSpPr>
        <p:spPr>
          <a:xfrm>
            <a:off x="3693160" y="4421060"/>
            <a:ext cx="786384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DPM::execution.gantt::bar_2" title="SDPM::execution.gantt::bar_2" descr="SDPM::execution.gantt::bar_2"/>
          <p:cNvSpPr/>
          <p:nvPr/>
        </p:nvSpPr>
        <p:spPr>
          <a:xfrm>
            <a:off x="5659120" y="4272851"/>
            <a:ext cx="5897880" cy="296354"/>
          </a:xfrm>
          <a:prstGeom prst="rect">
            <a:avLst/>
          </a:prstGeom>
          <a:solidFill>
            <a:srgbClr val="65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DPM::execution.gantt::label_3" title="SDPM::execution.gantt::label_3" descr="SDPM::execution.gantt::label_3"/>
          <p:cNvSpPr txBox="1"/>
          <p:nvPr/>
        </p:nvSpPr>
        <p:spPr>
          <a:xfrm>
            <a:off x="635000" y="4915852"/>
            <a:ext cx="2969260" cy="926147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29231F"/>
                </a:solidFill>
                <a:latin typeface="Yu Gothic UI"/>
              </a:rPr>
              <a:t>全社展開</a:t>
            </a:r>
          </a:p>
        </p:txBody>
      </p:sp>
      <p:cxnSp>
        <p:nvCxnSpPr>
          <p:cNvPr id="22" name="SDPM::execution.gantt::base_3" title="SDPM::execution.gantt::base_3" descr="SDPM::execution.gantt::base_3"/>
          <p:cNvCxnSpPr/>
          <p:nvPr/>
        </p:nvCxnSpPr>
        <p:spPr>
          <a:xfrm>
            <a:off x="3693160" y="5378958"/>
            <a:ext cx="786384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DPM::execution.gantt::bar_3" title="SDPM::execution.gantt::bar_3" descr="SDPM::execution.gantt::bar_3"/>
          <p:cNvSpPr/>
          <p:nvPr/>
        </p:nvSpPr>
        <p:spPr>
          <a:xfrm>
            <a:off x="7625080" y="5230749"/>
            <a:ext cx="3931920" cy="296354"/>
          </a:xfrm>
          <a:prstGeom prst="rect">
            <a:avLst/>
          </a:prstGeom>
          <a:solidFill>
            <a:srgbClr val="657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DPM::execution.gantt::milestone_3" title="SDPM::execution.gantt::milestone_3" descr="SDPM::execution.gantt::milestone_3"/>
          <p:cNvSpPr/>
          <p:nvPr/>
        </p:nvSpPr>
        <p:spPr>
          <a:xfrm>
            <a:off x="10529570" y="5334508"/>
            <a:ext cx="88900" cy="88900"/>
          </a:xfrm>
          <a:prstGeom prst="diamond">
            <a:avLst/>
          </a:prstGeom>
          <a:solidFill>
            <a:srgbClr val="C28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Editorial Premium — composition, typography and reading path are theme-specific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263E4C"/>
                </a:solidFill>
                <a:latin typeface="Yu Gothic UI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execution.governance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execution.governance::kicker" title="SDPM::execution.governance::kicker" descr="SDPM::execution.governance::kicker"/>
          <p:cNvSpPr txBox="1"/>
          <p:nvPr/>
        </p:nvSpPr>
        <p:spPr>
          <a:xfrm>
            <a:off x="635000" y="1524000"/>
            <a:ext cx="5007991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GOVERNANCE</a:t>
            </a:r>
          </a:p>
        </p:txBody>
      </p:sp>
      <p:cxnSp>
        <p:nvCxnSpPr>
          <p:cNvPr id="7" name="SDPM::execution.governance::kicker_rule" title="SDPM::execution.governance::kicker_rule" descr="SDPM::execution.governance::kicker_rule"/>
          <p:cNvCxnSpPr/>
          <p:nvPr/>
        </p:nvCxnSpPr>
        <p:spPr>
          <a:xfrm>
            <a:off x="635000" y="1689100"/>
            <a:ext cx="698500" cy="0"/>
          </a:xfrm>
          <a:prstGeom prst="line">
            <a:avLst/>
          </a:prstGeom>
          <a:ln w="31750">
            <a:solidFill>
              <a:srgbClr val="A4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execution.governance::main_title" title="SDPM::execution.governance::main_title" descr="SDPM::execution.governance::main_title"/>
          <p:cNvSpPr txBox="1"/>
          <p:nvPr/>
        </p:nvSpPr>
        <p:spPr>
          <a:xfrm>
            <a:off x="635000" y="1866900"/>
            <a:ext cx="5007991" cy="3149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200">
                <a:solidFill>
                  <a:srgbClr val="263E4C"/>
                </a:solidFill>
                <a:latin typeface="Yu Gothic UI"/>
              </a:rPr>
              <a:t>Steering Committee</a:t>
            </a:r>
          </a:p>
        </p:txBody>
      </p:sp>
      <p:sp>
        <p:nvSpPr>
          <p:cNvPr id="9" name="SDPM::execution.governance::main_detail" title="SDPM::execution.governance::main_detail" descr="SDPM::execution.governance::main_detail"/>
          <p:cNvSpPr txBox="1"/>
          <p:nvPr/>
        </p:nvSpPr>
        <p:spPr>
          <a:xfrm>
            <a:off x="635000" y="5080000"/>
            <a:ext cx="5007991" cy="3175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400">
                <a:solidFill>
                  <a:srgbClr val="A45A3A"/>
                </a:solidFill>
                <a:latin typeface="Yu Gothic UI"/>
              </a:rPr>
              <a:t>月次・投資判断</a:t>
            </a:r>
          </a:p>
        </p:txBody>
      </p:sp>
      <p:cxnSp>
        <p:nvCxnSpPr>
          <p:cNvPr id="10" name="SDPM::execution.governance::rule_1" title="SDPM::execution.governance::rule_1" descr="SDPM::execution.governance::rule_1"/>
          <p:cNvCxnSpPr/>
          <p:nvPr/>
        </p:nvCxnSpPr>
        <p:spPr>
          <a:xfrm>
            <a:off x="5909691" y="1524000"/>
            <a:ext cx="5647309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execution.governance::title_1" title="SDPM::execution.governance::title_1" descr="SDPM::execution.governance::title_1"/>
          <p:cNvSpPr txBox="1"/>
          <p:nvPr/>
        </p:nvSpPr>
        <p:spPr>
          <a:xfrm>
            <a:off x="5909691" y="1600200"/>
            <a:ext cx="3105594" cy="2032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800">
                <a:solidFill>
                  <a:srgbClr val="29231F"/>
                </a:solidFill>
                <a:latin typeface="Yu Gothic UI"/>
              </a:rPr>
              <a:t>Program Office</a:t>
            </a:r>
          </a:p>
        </p:txBody>
      </p:sp>
      <p:sp>
        <p:nvSpPr>
          <p:cNvPr id="12" name="SDPM::execution.governance::detail_1" title="SDPM::execution.governance::detail_1" descr="SDPM::execution.governance::detail_1"/>
          <p:cNvSpPr txBox="1"/>
          <p:nvPr/>
        </p:nvSpPr>
        <p:spPr>
          <a:xfrm>
            <a:off x="9116885" y="1600200"/>
            <a:ext cx="2440114" cy="2032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300">
                <a:solidFill>
                  <a:srgbClr val="746D66"/>
                </a:solidFill>
                <a:latin typeface="Yu Gothic UI"/>
              </a:rPr>
              <a:t>週次・横断課題</a:t>
            </a:r>
          </a:p>
        </p:txBody>
      </p:sp>
      <p:cxnSp>
        <p:nvCxnSpPr>
          <p:cNvPr id="13" name="SDPM::execution.governance::rule_2" title="SDPM::execution.governance::rule_2" descr="SDPM::execution.governance::rule_2"/>
          <p:cNvCxnSpPr/>
          <p:nvPr/>
        </p:nvCxnSpPr>
        <p:spPr>
          <a:xfrm>
            <a:off x="5909691" y="3733800"/>
            <a:ext cx="5647309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DPM::execution.governance::title_2" title="SDPM::execution.governance::title_2" descr="SDPM::execution.governance::title_2"/>
          <p:cNvSpPr txBox="1"/>
          <p:nvPr/>
        </p:nvSpPr>
        <p:spPr>
          <a:xfrm>
            <a:off x="5909691" y="3810000"/>
            <a:ext cx="3105594" cy="2032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800">
                <a:solidFill>
                  <a:srgbClr val="29231F"/>
                </a:solidFill>
                <a:latin typeface="Yu Gothic UI"/>
              </a:rPr>
              <a:t>Workstreams</a:t>
            </a:r>
          </a:p>
        </p:txBody>
      </p:sp>
      <p:sp>
        <p:nvSpPr>
          <p:cNvPr id="15" name="SDPM::execution.governance::detail_2" title="SDPM::execution.governance::detail_2" descr="SDPM::execution.governance::detail_2"/>
          <p:cNvSpPr txBox="1"/>
          <p:nvPr/>
        </p:nvSpPr>
        <p:spPr>
          <a:xfrm>
            <a:off x="9116885" y="3810000"/>
            <a:ext cx="2440114" cy="2032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300">
                <a:solidFill>
                  <a:srgbClr val="746D66"/>
                </a:solidFill>
                <a:latin typeface="Yu Gothic UI"/>
              </a:rPr>
              <a:t>日次・実行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Editorial Premium — composition, typography and reading path are theme-specific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263E4C"/>
                </a:solidFill>
                <a:latin typeface="Yu Gothic UI"/>
              </a:rPr>
              <a:t>KPI Cascade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execution.kpi_cascade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execution.kpi_cascade::kicker" title="SDPM::execution.kpi_cascade::kicker" descr="SDPM::execution.kpi_cascade::kicker"/>
          <p:cNvSpPr txBox="1"/>
          <p:nvPr/>
        </p:nvSpPr>
        <p:spPr>
          <a:xfrm>
            <a:off x="635000" y="1524000"/>
            <a:ext cx="4150360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KPI CASCADE</a:t>
            </a:r>
          </a:p>
        </p:txBody>
      </p:sp>
      <p:cxnSp>
        <p:nvCxnSpPr>
          <p:cNvPr id="7" name="SDPM::execution.kpi_cascade::kicker_rule" title="SDPM::execution.kpi_cascade::kicker_rule" descr="SDPM::execution.kpi_cascade::kicker_rule"/>
          <p:cNvCxnSpPr/>
          <p:nvPr/>
        </p:nvCxnSpPr>
        <p:spPr>
          <a:xfrm>
            <a:off x="635000" y="1689100"/>
            <a:ext cx="698500" cy="0"/>
          </a:xfrm>
          <a:prstGeom prst="line">
            <a:avLst/>
          </a:prstGeom>
          <a:ln w="31750">
            <a:solidFill>
              <a:srgbClr val="A4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execution.kpi_cascade::top_value" title="SDPM::execution.kpi_cascade::top_value" descr="SDPM::execution.kpi_cascade::top_value"/>
          <p:cNvSpPr txBox="1"/>
          <p:nvPr/>
        </p:nvSpPr>
        <p:spPr>
          <a:xfrm>
            <a:off x="635000" y="1892300"/>
            <a:ext cx="4150360" cy="1016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5800">
                <a:solidFill>
                  <a:srgbClr val="A45A3A"/>
                </a:solidFill>
                <a:latin typeface="Yu Gothic UI"/>
              </a:rPr>
              <a:t>+10%</a:t>
            </a:r>
          </a:p>
        </p:txBody>
      </p:sp>
      <p:sp>
        <p:nvSpPr>
          <p:cNvPr id="9" name="SDPM::execution.kpi_cascade::top_label" title="SDPM::execution.kpi_cascade::top_label" descr="SDPM::execution.kpi_cascade::top_label"/>
          <p:cNvSpPr txBox="1"/>
          <p:nvPr/>
        </p:nvSpPr>
        <p:spPr>
          <a:xfrm>
            <a:off x="635000" y="2921000"/>
            <a:ext cx="4150360" cy="4445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800">
                <a:solidFill>
                  <a:srgbClr val="263E4C"/>
                </a:solidFill>
                <a:latin typeface="Yu Gothic UI"/>
              </a:rPr>
              <a:t>営業利益</a:t>
            </a:r>
          </a:p>
        </p:txBody>
      </p:sp>
      <p:cxnSp>
        <p:nvCxnSpPr>
          <p:cNvPr id="10" name="SDPM::execution.kpi_cascade::rule_0_0" title="SDPM::execution.kpi_cascade::rule_0_0" descr="SDPM::execution.kpi_cascade::rule_0_0"/>
          <p:cNvCxnSpPr/>
          <p:nvPr/>
        </p:nvCxnSpPr>
        <p:spPr>
          <a:xfrm>
            <a:off x="5331460" y="1524000"/>
            <a:ext cx="304292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execution.kpi_cascade::value_0_0" title="SDPM::execution.kpi_cascade::value_0_0" descr="SDPM::execution.kpi_cascade::value_0_0"/>
          <p:cNvSpPr txBox="1"/>
          <p:nvPr/>
        </p:nvSpPr>
        <p:spPr>
          <a:xfrm>
            <a:off x="5331460" y="1600200"/>
            <a:ext cx="3042920" cy="116382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2800">
                <a:solidFill>
                  <a:srgbClr val="A45A3A"/>
                </a:solidFill>
                <a:latin typeface="Yu Gothic UI"/>
              </a:rPr>
              <a:t>+8%</a:t>
            </a:r>
          </a:p>
        </p:txBody>
      </p:sp>
      <p:sp>
        <p:nvSpPr>
          <p:cNvPr id="12" name="SDPM::execution.kpi_cascade::label_0_0" title="SDPM::execution.kpi_cascade::label_0_0" descr="SDPM::execution.kpi_cascade::label_0_0"/>
          <p:cNvSpPr txBox="1"/>
          <p:nvPr/>
        </p:nvSpPr>
        <p:spPr>
          <a:xfrm>
            <a:off x="5331460" y="2776728"/>
            <a:ext cx="3042920" cy="84277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売上</a:t>
            </a:r>
          </a:p>
        </p:txBody>
      </p:sp>
      <p:cxnSp>
        <p:nvCxnSpPr>
          <p:cNvPr id="13" name="SDPM::execution.kpi_cascade::rule_0_1" title="SDPM::execution.kpi_cascade::rule_0_1" descr="SDPM::execution.kpi_cascade::rule_0_1"/>
          <p:cNvCxnSpPr/>
          <p:nvPr/>
        </p:nvCxnSpPr>
        <p:spPr>
          <a:xfrm>
            <a:off x="8514080" y="1524000"/>
            <a:ext cx="304292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DPM::execution.kpi_cascade::value_0_1" title="SDPM::execution.kpi_cascade::value_0_1" descr="SDPM::execution.kpi_cascade::value_0_1"/>
          <p:cNvSpPr txBox="1"/>
          <p:nvPr/>
        </p:nvSpPr>
        <p:spPr>
          <a:xfrm>
            <a:off x="8514080" y="1600200"/>
            <a:ext cx="3042920" cy="116382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2800">
                <a:solidFill>
                  <a:srgbClr val="A45A3A"/>
                </a:solidFill>
                <a:latin typeface="Yu Gothic UI"/>
              </a:rPr>
              <a:t>+2pt</a:t>
            </a:r>
          </a:p>
        </p:txBody>
      </p:sp>
      <p:sp>
        <p:nvSpPr>
          <p:cNvPr id="15" name="SDPM::execution.kpi_cascade::label_0_1" title="SDPM::execution.kpi_cascade::label_0_1" descr="SDPM::execution.kpi_cascade::label_0_1"/>
          <p:cNvSpPr txBox="1"/>
          <p:nvPr/>
        </p:nvSpPr>
        <p:spPr>
          <a:xfrm>
            <a:off x="8514080" y="2776728"/>
            <a:ext cx="3042920" cy="84277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粗利率</a:t>
            </a:r>
          </a:p>
        </p:txBody>
      </p:sp>
      <p:cxnSp>
        <p:nvCxnSpPr>
          <p:cNvPr id="16" name="SDPM::execution.kpi_cascade::rule_1_0" title="SDPM::execution.kpi_cascade::rule_1_0" descr="SDPM::execution.kpi_cascade::rule_1_0"/>
          <p:cNvCxnSpPr/>
          <p:nvPr/>
        </p:nvCxnSpPr>
        <p:spPr>
          <a:xfrm>
            <a:off x="5331460" y="3746500"/>
            <a:ext cx="1982025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DPM::execution.kpi_cascade::value_1_0" title="SDPM::execution.kpi_cascade::value_1_0" descr="SDPM::execution.kpi_cascade::value_1_0"/>
          <p:cNvSpPr txBox="1"/>
          <p:nvPr/>
        </p:nvSpPr>
        <p:spPr>
          <a:xfrm>
            <a:off x="5331460" y="3822700"/>
            <a:ext cx="1982025" cy="116382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2800">
                <a:solidFill>
                  <a:srgbClr val="657C8A"/>
                </a:solidFill>
                <a:latin typeface="Yu Gothic UI"/>
              </a:rPr>
              <a:t>+5%</a:t>
            </a:r>
          </a:p>
        </p:txBody>
      </p:sp>
      <p:sp>
        <p:nvSpPr>
          <p:cNvPr id="18" name="SDPM::execution.kpi_cascade::label_1_0" title="SDPM::execution.kpi_cascade::label_1_0" descr="SDPM::execution.kpi_cascade::label_1_0"/>
          <p:cNvSpPr txBox="1"/>
          <p:nvPr/>
        </p:nvSpPr>
        <p:spPr>
          <a:xfrm>
            <a:off x="5331460" y="4999228"/>
            <a:ext cx="1982025" cy="84277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顧客数</a:t>
            </a:r>
          </a:p>
        </p:txBody>
      </p:sp>
      <p:cxnSp>
        <p:nvCxnSpPr>
          <p:cNvPr id="19" name="SDPM::execution.kpi_cascade::rule_1_1" title="SDPM::execution.kpi_cascade::rule_1_1" descr="SDPM::execution.kpi_cascade::rule_1_1"/>
          <p:cNvCxnSpPr/>
          <p:nvPr/>
        </p:nvCxnSpPr>
        <p:spPr>
          <a:xfrm>
            <a:off x="7453185" y="3746500"/>
            <a:ext cx="1982089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DPM::execution.kpi_cascade::value_1_1" title="SDPM::execution.kpi_cascade::value_1_1" descr="SDPM::execution.kpi_cascade::value_1_1"/>
          <p:cNvSpPr txBox="1"/>
          <p:nvPr/>
        </p:nvSpPr>
        <p:spPr>
          <a:xfrm>
            <a:off x="7453185" y="3822700"/>
            <a:ext cx="1982025" cy="116382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2800">
                <a:solidFill>
                  <a:srgbClr val="657C8A"/>
                </a:solidFill>
                <a:latin typeface="Yu Gothic UI"/>
              </a:rPr>
              <a:t>+3%</a:t>
            </a:r>
          </a:p>
        </p:txBody>
      </p:sp>
      <p:sp>
        <p:nvSpPr>
          <p:cNvPr id="21" name="SDPM::execution.kpi_cascade::label_1_1" title="SDPM::execution.kpi_cascade::label_1_1" descr="SDPM::execution.kpi_cascade::label_1_1"/>
          <p:cNvSpPr txBox="1"/>
          <p:nvPr/>
        </p:nvSpPr>
        <p:spPr>
          <a:xfrm>
            <a:off x="7453185" y="4999228"/>
            <a:ext cx="1982025" cy="84277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単価</a:t>
            </a:r>
          </a:p>
        </p:txBody>
      </p:sp>
      <p:cxnSp>
        <p:nvCxnSpPr>
          <p:cNvPr id="22" name="SDPM::execution.kpi_cascade::rule_1_2" title="SDPM::execution.kpi_cascade::rule_1_2" descr="SDPM::execution.kpi_cascade::rule_1_2"/>
          <p:cNvCxnSpPr/>
          <p:nvPr/>
        </p:nvCxnSpPr>
        <p:spPr>
          <a:xfrm>
            <a:off x="9574974" y="3746500"/>
            <a:ext cx="1982026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DPM::execution.kpi_cascade::value_1_2" title="SDPM::execution.kpi_cascade::value_1_2" descr="SDPM::execution.kpi_cascade::value_1_2"/>
          <p:cNvSpPr txBox="1"/>
          <p:nvPr/>
        </p:nvSpPr>
        <p:spPr>
          <a:xfrm>
            <a:off x="9574974" y="3822700"/>
            <a:ext cx="1982025" cy="116382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2800">
                <a:solidFill>
                  <a:srgbClr val="657C8A"/>
                </a:solidFill>
                <a:latin typeface="Yu Gothic UI"/>
              </a:rPr>
              <a:t>-5%</a:t>
            </a:r>
          </a:p>
        </p:txBody>
      </p:sp>
      <p:sp>
        <p:nvSpPr>
          <p:cNvPr id="24" name="SDPM::execution.kpi_cascade::label_1_2" title="SDPM::execution.kpi_cascade::label_1_2" descr="SDPM::execution.kpi_cascade::label_1_2"/>
          <p:cNvSpPr txBox="1"/>
          <p:nvPr/>
        </p:nvSpPr>
        <p:spPr>
          <a:xfrm>
            <a:off x="9574974" y="4999228"/>
            <a:ext cx="1982025" cy="84277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300">
                <a:solidFill>
                  <a:srgbClr val="746D66"/>
                </a:solidFill>
                <a:latin typeface="Yu Gothic UI"/>
              </a:rPr>
              <a:t>離反率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Editorial Premium — composition, typography and reading path are theme-specific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EDITORIAL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263E4C"/>
                </a:solidFill>
                <a:latin typeface="Yu Gothic UI"/>
              </a:rPr>
              <a:t>Decision /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narrative.recommendation_actions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narrative.recommendation_actions::kicker" title="SDPM::narrative.recommendation_actions::kicker" descr="SDPM::narrative.recommendation_actions::kicker"/>
          <p:cNvSpPr txBox="1"/>
          <p:nvPr/>
        </p:nvSpPr>
        <p:spPr>
          <a:xfrm>
            <a:off x="635000" y="1524000"/>
            <a:ext cx="1587500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A45A3A"/>
                </a:solidFill>
                <a:latin typeface="Yu Gothic UI"/>
              </a:rPr>
              <a:t>RECOMMENDATION</a:t>
            </a:r>
          </a:p>
        </p:txBody>
      </p:sp>
      <p:cxnSp>
        <p:nvCxnSpPr>
          <p:cNvPr id="7" name="SDPM::narrative.recommendation_actions::kicker_rule" title="SDPM::narrative.recommendation_actions::kicker_rule" descr="SDPM::narrative.recommendation_actions::kicker_rule"/>
          <p:cNvCxnSpPr/>
          <p:nvPr/>
        </p:nvCxnSpPr>
        <p:spPr>
          <a:xfrm>
            <a:off x="635000" y="1689100"/>
            <a:ext cx="698500" cy="0"/>
          </a:xfrm>
          <a:prstGeom prst="line">
            <a:avLst/>
          </a:prstGeom>
          <a:ln w="31750">
            <a:solidFill>
              <a:srgbClr val="A45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narrative.recommendation_actions::recommendation" title="SDPM::narrative.recommendation_actions::recommendation" descr="SDPM::narrative.recommendation_actions::recommendation"/>
          <p:cNvSpPr txBox="1"/>
          <p:nvPr/>
        </p:nvSpPr>
        <p:spPr>
          <a:xfrm>
            <a:off x="635000" y="1841500"/>
            <a:ext cx="9174480" cy="220789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800">
                <a:solidFill>
                  <a:srgbClr val="263E4C"/>
                </a:solidFill>
                <a:latin typeface="Yu Gothic UI"/>
              </a:rPr>
              <a:t>市場</a:t>
            </a:r>
            <a:r>
              <a:rPr sz="3800">
                <a:solidFill>
                  <a:srgbClr val="263E4C"/>
                </a:solidFill>
                <a:latin typeface="Yu Gothic UI"/>
              </a:rPr>
              <a:t> A </a:t>
            </a:r>
            <a:r>
              <a:rPr lang="ja-JP" sz="3800">
                <a:solidFill>
                  <a:srgbClr val="263E4C"/>
                </a:solidFill>
                <a:latin typeface="Yu Gothic UI"/>
              </a:rPr>
              <a:t>の重点顧客に集中し、成果連動型の価値提案とオンボーディングを</a:t>
            </a:r>
            <a:r>
              <a:rPr sz="3800">
                <a:solidFill>
                  <a:srgbClr val="263E4C"/>
                </a:solidFill>
                <a:latin typeface="Yu Gothic UI"/>
              </a:rPr>
              <a:t> 90 </a:t>
            </a:r>
            <a:r>
              <a:rPr lang="ja-JP" sz="3800">
                <a:solidFill>
                  <a:srgbClr val="263E4C"/>
                </a:solidFill>
                <a:latin typeface="Yu Gothic UI"/>
              </a:rPr>
              <a:t>日で検証する</a:t>
            </a:r>
          </a:p>
        </p:txBody>
      </p:sp>
      <p:sp>
        <p:nvSpPr>
          <p:cNvPr id="9" name="SDPM::narrative.recommendation_actions::index_0" title="SDPM::narrative.recommendation_actions::index_0" descr="SDPM::narrative.recommendation_actions::index_0"/>
          <p:cNvSpPr txBox="1"/>
          <p:nvPr/>
        </p:nvSpPr>
        <p:spPr>
          <a:xfrm>
            <a:off x="635000" y="4176395"/>
            <a:ext cx="3539045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800">
                <a:solidFill>
                  <a:srgbClr val="A45A3A"/>
                </a:solidFill>
                <a:latin typeface="Yu Gothic UI"/>
              </a:rPr>
              <a:t>01</a:t>
            </a:r>
          </a:p>
        </p:txBody>
      </p:sp>
      <p:cxnSp>
        <p:nvCxnSpPr>
          <p:cNvPr id="10" name="SDPM::narrative.recommendation_actions::rule_0" title="SDPM::narrative.recommendation_actions::rule_0" descr="SDPM::narrative.recommendation_actions::rule_0"/>
          <p:cNvCxnSpPr/>
          <p:nvPr/>
        </p:nvCxnSpPr>
        <p:spPr>
          <a:xfrm>
            <a:off x="635000" y="4443095"/>
            <a:ext cx="3539045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narrative.recommendation_actions::action_0" title="SDPM::narrative.recommendation_actions::action_0" descr="SDPM::narrative.recommendation_actions::action_0"/>
          <p:cNvSpPr txBox="1"/>
          <p:nvPr/>
        </p:nvSpPr>
        <p:spPr>
          <a:xfrm>
            <a:off x="635000" y="4544695"/>
            <a:ext cx="3539045" cy="129730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500">
                <a:solidFill>
                  <a:srgbClr val="29231F"/>
                </a:solidFill>
                <a:latin typeface="Yu Gothic UI"/>
              </a:rPr>
              <a:t>対象顧客</a:t>
            </a:r>
            <a:r>
              <a:rPr sz="1500">
                <a:solidFill>
                  <a:srgbClr val="29231F"/>
                </a:solidFill>
                <a:latin typeface="Yu Gothic UI"/>
              </a:rPr>
              <a:t> 10 </a:t>
            </a:r>
            <a:r>
              <a:rPr lang="ja-JP" sz="1500">
                <a:solidFill>
                  <a:srgbClr val="29231F"/>
                </a:solidFill>
                <a:latin typeface="Yu Gothic UI"/>
              </a:rPr>
              <a:t>社と責任者を確定</a:t>
            </a:r>
          </a:p>
        </p:txBody>
      </p:sp>
      <p:sp>
        <p:nvSpPr>
          <p:cNvPr id="12" name="SDPM::narrative.recommendation_actions::index_1" title="SDPM::narrative.recommendation_actions::index_1" descr="SDPM::narrative.recommendation_actions::index_1"/>
          <p:cNvSpPr txBox="1"/>
          <p:nvPr/>
        </p:nvSpPr>
        <p:spPr>
          <a:xfrm>
            <a:off x="4326445" y="4176395"/>
            <a:ext cx="3539045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800">
                <a:solidFill>
                  <a:srgbClr val="A45A3A"/>
                </a:solidFill>
                <a:latin typeface="Yu Gothic UI"/>
              </a:rPr>
              <a:t>02</a:t>
            </a:r>
          </a:p>
        </p:txBody>
      </p:sp>
      <p:cxnSp>
        <p:nvCxnSpPr>
          <p:cNvPr id="13" name="SDPM::narrative.recommendation_actions::rule_1" title="SDPM::narrative.recommendation_actions::rule_1" descr="SDPM::narrative.recommendation_actions::rule_1"/>
          <p:cNvCxnSpPr/>
          <p:nvPr/>
        </p:nvCxnSpPr>
        <p:spPr>
          <a:xfrm>
            <a:off x="4326445" y="4443095"/>
            <a:ext cx="3539109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DPM::narrative.recommendation_actions::action_1" title="SDPM::narrative.recommendation_actions::action_1" descr="SDPM::narrative.recommendation_actions::action_1"/>
          <p:cNvSpPr txBox="1"/>
          <p:nvPr/>
        </p:nvSpPr>
        <p:spPr>
          <a:xfrm>
            <a:off x="4326445" y="4544695"/>
            <a:ext cx="3539045" cy="129730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500">
                <a:solidFill>
                  <a:srgbClr val="29231F"/>
                </a:solidFill>
                <a:latin typeface="Yu Gothic UI"/>
              </a:rPr>
              <a:t>成果</a:t>
            </a:r>
            <a:r>
              <a:rPr sz="1500">
                <a:solidFill>
                  <a:srgbClr val="29231F"/>
                </a:solidFill>
                <a:latin typeface="Yu Gothic UI"/>
              </a:rPr>
              <a:t> KPI </a:t>
            </a:r>
            <a:r>
              <a:rPr lang="ja-JP" sz="1500">
                <a:solidFill>
                  <a:srgbClr val="29231F"/>
                </a:solidFill>
                <a:latin typeface="Yu Gothic UI"/>
              </a:rPr>
              <a:t>・価格・契約条件を設計</a:t>
            </a:r>
          </a:p>
        </p:txBody>
      </p:sp>
      <p:sp>
        <p:nvSpPr>
          <p:cNvPr id="15" name="SDPM::narrative.recommendation_actions::index_2" title="SDPM::narrative.recommendation_actions::index_2" descr="SDPM::narrative.recommendation_actions::index_2"/>
          <p:cNvSpPr txBox="1"/>
          <p:nvPr/>
        </p:nvSpPr>
        <p:spPr>
          <a:xfrm>
            <a:off x="8017954" y="4176395"/>
            <a:ext cx="3539045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800">
                <a:solidFill>
                  <a:srgbClr val="A45A3A"/>
                </a:solidFill>
                <a:latin typeface="Yu Gothic UI"/>
              </a:rPr>
              <a:t>03</a:t>
            </a:r>
          </a:p>
        </p:txBody>
      </p:sp>
      <p:cxnSp>
        <p:nvCxnSpPr>
          <p:cNvPr id="16" name="SDPM::narrative.recommendation_actions::rule_2" title="SDPM::narrative.recommendation_actions::rule_2" descr="SDPM::narrative.recommendation_actions::rule_2"/>
          <p:cNvCxnSpPr/>
          <p:nvPr/>
        </p:nvCxnSpPr>
        <p:spPr>
          <a:xfrm>
            <a:off x="8017954" y="4443095"/>
            <a:ext cx="3539046" cy="0"/>
          </a:xfrm>
          <a:prstGeom prst="line">
            <a:avLst/>
          </a:prstGeom>
          <a:ln w="12700">
            <a:solidFill>
              <a:srgbClr val="D7C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DPM::narrative.recommendation_actions::action_2" title="SDPM::narrative.recommendation_actions::action_2" descr="SDPM::narrative.recommendation_actions::action_2"/>
          <p:cNvSpPr txBox="1"/>
          <p:nvPr/>
        </p:nvSpPr>
        <p:spPr>
          <a:xfrm>
            <a:off x="8017954" y="4544695"/>
            <a:ext cx="3539045" cy="129730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500">
                <a:solidFill>
                  <a:srgbClr val="29231F"/>
                </a:solidFill>
                <a:latin typeface="Yu Gothic UI"/>
              </a:rPr>
              <a:t>90 </a:t>
            </a:r>
            <a:r>
              <a:rPr lang="ja-JP" sz="1500">
                <a:solidFill>
                  <a:srgbClr val="29231F"/>
                </a:solidFill>
                <a:latin typeface="Yu Gothic UI"/>
              </a:rPr>
              <a:t>日後に継続・拡大を判断</a:t>
            </a:r>
          </a:p>
        </p:txBody>
      </p:sp>
      <p:sp>
        <p:nvSpPr>
          <p:cNvPr id="18" name="SDPM::narrative.recommendation_actions::decision" title="SDPM::narrative.recommendation_actions::decision" descr="SDPM::narrative.recommendation_actions::decision"/>
          <p:cNvSpPr txBox="1"/>
          <p:nvPr/>
        </p:nvSpPr>
        <p:spPr>
          <a:xfrm>
            <a:off x="8608060" y="1574800"/>
            <a:ext cx="2948940" cy="1905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r"/>
            <a:r>
              <a:rPr lang="ja-JP" sz="1200">
                <a:solidFill>
                  <a:srgbClr val="A45A3A"/>
                </a:solidFill>
                <a:latin typeface="Yu Gothic UI"/>
              </a:rPr>
              <a:t>本日の判断：</a:t>
            </a:r>
            <a:r>
              <a:rPr sz="1200">
                <a:solidFill>
                  <a:srgbClr val="A45A3A"/>
                </a:solidFill>
                <a:latin typeface="Yu Gothic UI"/>
              </a:rPr>
              <a:t> 90 </a:t>
            </a:r>
            <a:r>
              <a:rPr lang="ja-JP" sz="1200">
                <a:solidFill>
                  <a:srgbClr val="A45A3A"/>
                </a:solidFill>
                <a:latin typeface="Yu Gothic UI"/>
              </a:rPr>
              <a:t>日パイロットを承認するか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746D66"/>
                </a:solidFill>
                <a:latin typeface="Yu Gothic UI"/>
              </a:rPr>
              <a:t>Editorial Premium — composition, typography and reading path are theme-specific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746D66"/>
                </a:solidFill>
                <a:latin typeface="Yu Gothic UI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123B52"/>
                </a:solidFill>
                <a:latin typeface="Yu Gothic U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narrative.executive_summary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narrative.executive_summary::header_bg" title="SDPM::narrative.executive_summary::header_bg" descr="SDPM::narrative.executive_summary::header_bg"/>
          <p:cNvSpPr/>
          <p:nvPr/>
        </p:nvSpPr>
        <p:spPr>
          <a:xfrm>
            <a:off x="635000" y="1524000"/>
            <a:ext cx="10922000" cy="77724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DPM::narrative.executive_summary::headline" title="SDPM::narrative.executive_summary::headline" descr="SDPM::narrative.executive_summary::headline"/>
          <p:cNvSpPr txBox="1"/>
          <p:nvPr/>
        </p:nvSpPr>
        <p:spPr>
          <a:xfrm>
            <a:off x="800100" y="1600200"/>
            <a:ext cx="10591800" cy="6248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2000">
                <a:solidFill>
                  <a:srgbClr val="FFFFFF"/>
                </a:solidFill>
                <a:latin typeface="Yu Gothic UI"/>
              </a:rPr>
              <a:t>市場選択・価値提案・実行基盤の</a:t>
            </a:r>
            <a:r>
              <a:rPr sz="2000">
                <a:solidFill>
                  <a:srgbClr val="FFFFFF"/>
                </a:solidFill>
                <a:latin typeface="Yu Gothic UI"/>
              </a:rPr>
              <a:t> 3 </a:t>
            </a:r>
            <a:r>
              <a:rPr lang="ja-JP" sz="2000">
                <a:solidFill>
                  <a:srgbClr val="FFFFFF"/>
                </a:solidFill>
                <a:latin typeface="Yu Gothic UI"/>
              </a:rPr>
              <a:t>点を同時に変える</a:t>
            </a:r>
          </a:p>
        </p:txBody>
      </p:sp>
      <p:sp>
        <p:nvSpPr>
          <p:cNvPr id="8" name="SDPM::narrative.executive_summary::index_0" title="SDPM::narrative.executive_summary::index_0" descr="SDPM::narrative.executive_summary::index_0"/>
          <p:cNvSpPr txBox="1"/>
          <p:nvPr/>
        </p:nvSpPr>
        <p:spPr>
          <a:xfrm>
            <a:off x="635000" y="2415540"/>
            <a:ext cx="858519" cy="83280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60758A"/>
                </a:solidFill>
                <a:latin typeface="Yu Gothic UI"/>
              </a:rPr>
              <a:t>S01</a:t>
            </a:r>
          </a:p>
        </p:txBody>
      </p:sp>
      <p:sp>
        <p:nvSpPr>
          <p:cNvPr id="9" name="SDPM::narrative.executive_summary::signal_0" title="SDPM::narrative.executive_summary::signal_0" descr="SDPM::narrative.executive_summary::signal_0"/>
          <p:cNvSpPr/>
          <p:nvPr/>
        </p:nvSpPr>
        <p:spPr>
          <a:xfrm>
            <a:off x="1607820" y="2698686"/>
            <a:ext cx="971550" cy="266509"/>
          </a:xfrm>
          <a:prstGeom prst="roundRect">
            <a:avLst/>
          </a:prstGeom>
          <a:solidFill>
            <a:srgbClr val="0E8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DPM::narrative.executive_summary::title_0" title="SDPM::narrative.executive_summary::title_0" descr="SDPM::narrative.executive_summary::title_0"/>
          <p:cNvSpPr txBox="1"/>
          <p:nvPr/>
        </p:nvSpPr>
        <p:spPr>
          <a:xfrm>
            <a:off x="2693670" y="2415540"/>
            <a:ext cx="3648710" cy="83280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102A3A"/>
                </a:solidFill>
                <a:latin typeface="Yu Gothic UI"/>
              </a:rPr>
              <a:t>市場を選ぶ</a:t>
            </a:r>
          </a:p>
        </p:txBody>
      </p:sp>
      <p:sp>
        <p:nvSpPr>
          <p:cNvPr id="11" name="SDPM::narrative.executive_summary::body_0" title="SDPM::narrative.executive_summary::body_0" descr="SDPM::narrative.executive_summary::body_0"/>
          <p:cNvSpPr txBox="1"/>
          <p:nvPr/>
        </p:nvSpPr>
        <p:spPr>
          <a:xfrm>
            <a:off x="6405880" y="2415540"/>
            <a:ext cx="5151120" cy="83280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60758A"/>
                </a:solidFill>
                <a:latin typeface="Yu Gothic UI"/>
              </a:rPr>
              <a:t>高成長・高収益の法人顧客に集中</a:t>
            </a:r>
          </a:p>
        </p:txBody>
      </p:sp>
      <p:cxnSp>
        <p:nvCxnSpPr>
          <p:cNvPr id="12" name="SDPM::narrative.executive_summary::row_rule_0" title="SDPM::narrative.executive_summary::row_rule_0" descr="SDPM::narrative.executive_summary::row_rule_0"/>
          <p:cNvCxnSpPr/>
          <p:nvPr/>
        </p:nvCxnSpPr>
        <p:spPr>
          <a:xfrm>
            <a:off x="635000" y="3248342"/>
            <a:ext cx="10922000" cy="0"/>
          </a:xfrm>
          <a:prstGeom prst="line">
            <a:avLst/>
          </a:prstGeom>
          <a:ln w="1016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DPM::narrative.executive_summary::index_1" title="SDPM::narrative.executive_summary::index_1" descr="SDPM::narrative.executive_summary::index_1"/>
          <p:cNvSpPr txBox="1"/>
          <p:nvPr/>
        </p:nvSpPr>
        <p:spPr>
          <a:xfrm>
            <a:off x="635000" y="3280092"/>
            <a:ext cx="858519" cy="83280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60758A"/>
                </a:solidFill>
                <a:latin typeface="Yu Gothic UI"/>
              </a:rPr>
              <a:t>S02</a:t>
            </a:r>
          </a:p>
        </p:txBody>
      </p:sp>
      <p:sp>
        <p:nvSpPr>
          <p:cNvPr id="14" name="SDPM::narrative.executive_summary::signal_1" title="SDPM::narrative.executive_summary::signal_1" descr="SDPM::narrative.executive_summary::signal_1"/>
          <p:cNvSpPr/>
          <p:nvPr/>
        </p:nvSpPr>
        <p:spPr>
          <a:xfrm>
            <a:off x="1607820" y="3563239"/>
            <a:ext cx="971550" cy="266509"/>
          </a:xfrm>
          <a:prstGeom prst="round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DPM::narrative.executive_summary::title_1" title="SDPM::narrative.executive_summary::title_1" descr="SDPM::narrative.executive_summary::title_1"/>
          <p:cNvSpPr txBox="1"/>
          <p:nvPr/>
        </p:nvSpPr>
        <p:spPr>
          <a:xfrm>
            <a:off x="2693670" y="3280092"/>
            <a:ext cx="3648710" cy="83280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102A3A"/>
                </a:solidFill>
                <a:latin typeface="Yu Gothic UI"/>
              </a:rPr>
              <a:t>価値提案を変える</a:t>
            </a:r>
          </a:p>
        </p:txBody>
      </p:sp>
      <p:sp>
        <p:nvSpPr>
          <p:cNvPr id="16" name="SDPM::narrative.executive_summary::body_1" title="SDPM::narrative.executive_summary::body_1" descr="SDPM::narrative.executive_summary::body_1"/>
          <p:cNvSpPr txBox="1"/>
          <p:nvPr/>
        </p:nvSpPr>
        <p:spPr>
          <a:xfrm>
            <a:off x="6405880" y="3280092"/>
            <a:ext cx="5151120" cy="83280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60758A"/>
                </a:solidFill>
                <a:latin typeface="Yu Gothic UI"/>
              </a:rPr>
              <a:t>製品販売から業務成果の提供へ</a:t>
            </a:r>
          </a:p>
        </p:txBody>
      </p:sp>
      <p:cxnSp>
        <p:nvCxnSpPr>
          <p:cNvPr id="17" name="SDPM::narrative.executive_summary::row_rule_1" title="SDPM::narrative.executive_summary::row_rule_1" descr="SDPM::narrative.executive_summary::row_rule_1"/>
          <p:cNvCxnSpPr/>
          <p:nvPr/>
        </p:nvCxnSpPr>
        <p:spPr>
          <a:xfrm>
            <a:off x="635000" y="4112895"/>
            <a:ext cx="10922000" cy="0"/>
          </a:xfrm>
          <a:prstGeom prst="line">
            <a:avLst/>
          </a:prstGeom>
          <a:ln w="1016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DPM::narrative.executive_summary::index_2" title="SDPM::narrative.executive_summary::index_2" descr="SDPM::narrative.executive_summary::index_2"/>
          <p:cNvSpPr txBox="1"/>
          <p:nvPr/>
        </p:nvSpPr>
        <p:spPr>
          <a:xfrm>
            <a:off x="635000" y="4144645"/>
            <a:ext cx="858519" cy="83280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60758A"/>
                </a:solidFill>
                <a:latin typeface="Yu Gothic UI"/>
              </a:rPr>
              <a:t>S03</a:t>
            </a:r>
          </a:p>
        </p:txBody>
      </p:sp>
      <p:sp>
        <p:nvSpPr>
          <p:cNvPr id="19" name="SDPM::narrative.executive_summary::signal_2" title="SDPM::narrative.executive_summary::signal_2" descr="SDPM::narrative.executive_summary::signal_2"/>
          <p:cNvSpPr/>
          <p:nvPr/>
        </p:nvSpPr>
        <p:spPr>
          <a:xfrm>
            <a:off x="1607820" y="4427791"/>
            <a:ext cx="971550" cy="266509"/>
          </a:xfrm>
          <a:prstGeom prst="round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DPM::narrative.executive_summary::title_2" title="SDPM::narrative.executive_summary::title_2" descr="SDPM::narrative.executive_summary::title_2"/>
          <p:cNvSpPr txBox="1"/>
          <p:nvPr/>
        </p:nvSpPr>
        <p:spPr>
          <a:xfrm>
            <a:off x="2693670" y="4144645"/>
            <a:ext cx="3648710" cy="83280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102A3A"/>
                </a:solidFill>
                <a:latin typeface="Yu Gothic UI"/>
              </a:rPr>
              <a:t>実行基盤を整える</a:t>
            </a:r>
          </a:p>
        </p:txBody>
      </p:sp>
      <p:sp>
        <p:nvSpPr>
          <p:cNvPr id="21" name="SDPM::narrative.executive_summary::body_2" title="SDPM::narrative.executive_summary::body_2" descr="SDPM::narrative.executive_summary::body_2"/>
          <p:cNvSpPr txBox="1"/>
          <p:nvPr/>
        </p:nvSpPr>
        <p:spPr>
          <a:xfrm>
            <a:off x="6405880" y="4144645"/>
            <a:ext cx="5151120" cy="83280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60758A"/>
                </a:solidFill>
                <a:latin typeface="Yu Gothic UI"/>
              </a:rPr>
              <a:t>営業・</a:t>
            </a:r>
            <a:r>
              <a:rPr sz="1400">
                <a:solidFill>
                  <a:srgbClr val="60758A"/>
                </a:solidFill>
                <a:latin typeface="Yu Gothic UI"/>
              </a:rPr>
              <a:t> CS </a:t>
            </a:r>
            <a:r>
              <a:rPr lang="ja-JP" sz="1400">
                <a:solidFill>
                  <a:srgbClr val="60758A"/>
                </a:solidFill>
                <a:latin typeface="Yu Gothic UI"/>
              </a:rPr>
              <a:t>・データを横断運用</a:t>
            </a:r>
          </a:p>
        </p:txBody>
      </p:sp>
      <p:cxnSp>
        <p:nvCxnSpPr>
          <p:cNvPr id="22" name="SDPM::narrative.executive_summary::row_rule_2" title="SDPM::narrative.executive_summary::row_rule_2" descr="SDPM::narrative.executive_summary::row_rule_2"/>
          <p:cNvCxnSpPr/>
          <p:nvPr/>
        </p:nvCxnSpPr>
        <p:spPr>
          <a:xfrm>
            <a:off x="635000" y="4977447"/>
            <a:ext cx="10922000" cy="0"/>
          </a:xfrm>
          <a:prstGeom prst="line">
            <a:avLst/>
          </a:prstGeom>
          <a:ln w="1016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DPM::narrative.executive_summary::index_3" title="SDPM::narrative.executive_summary::index_3" descr="SDPM::narrative.executive_summary::index_3"/>
          <p:cNvSpPr txBox="1"/>
          <p:nvPr/>
        </p:nvSpPr>
        <p:spPr>
          <a:xfrm>
            <a:off x="635000" y="5009197"/>
            <a:ext cx="858519" cy="83280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60758A"/>
                </a:solidFill>
                <a:latin typeface="Yu Gothic UI"/>
              </a:rPr>
              <a:t>S04</a:t>
            </a:r>
          </a:p>
        </p:txBody>
      </p:sp>
      <p:sp>
        <p:nvSpPr>
          <p:cNvPr id="24" name="SDPM::narrative.executive_summary::signal_3" title="SDPM::narrative.executive_summary::signal_3" descr="SDPM::narrative.executive_summary::signal_3"/>
          <p:cNvSpPr/>
          <p:nvPr/>
        </p:nvSpPr>
        <p:spPr>
          <a:xfrm>
            <a:off x="1607820" y="5292344"/>
            <a:ext cx="971550" cy="266509"/>
          </a:xfrm>
          <a:prstGeom prst="round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DPM::narrative.executive_summary::title_3" title="SDPM::narrative.executive_summary::title_3" descr="SDPM::narrative.executive_summary::title_3"/>
          <p:cNvSpPr txBox="1"/>
          <p:nvPr/>
        </p:nvSpPr>
        <p:spPr>
          <a:xfrm>
            <a:off x="2693670" y="5009197"/>
            <a:ext cx="3648710" cy="83280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700">
                <a:solidFill>
                  <a:srgbClr val="102A3A"/>
                </a:solidFill>
                <a:latin typeface="Yu Gothic UI"/>
              </a:rPr>
              <a:t>90 </a:t>
            </a:r>
            <a:r>
              <a:rPr lang="ja-JP" sz="1700">
                <a:solidFill>
                  <a:srgbClr val="102A3A"/>
                </a:solidFill>
                <a:latin typeface="Yu Gothic UI"/>
              </a:rPr>
              <a:t>日で検証する</a:t>
            </a:r>
          </a:p>
        </p:txBody>
      </p:sp>
      <p:sp>
        <p:nvSpPr>
          <p:cNvPr id="26" name="SDPM::narrative.executive_summary::body_3" title="SDPM::narrative.executive_summary::body_3" descr="SDPM::narrative.executive_summary::body_3"/>
          <p:cNvSpPr txBox="1"/>
          <p:nvPr/>
        </p:nvSpPr>
        <p:spPr>
          <a:xfrm>
            <a:off x="6405880" y="5009197"/>
            <a:ext cx="5151120" cy="83280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60758A"/>
                </a:solidFill>
                <a:latin typeface="Yu Gothic UI"/>
              </a:rPr>
              <a:t>離反率、利用定着、粗利で継続判断</a:t>
            </a:r>
          </a:p>
        </p:txBody>
      </p:sp>
      <p:cxnSp>
        <p:nvCxnSpPr>
          <p:cNvPr id="27" name="SDPM::narrative.executive_summary::row_rule_3" title="SDPM::narrative.executive_summary::row_rule_3" descr="SDPM::narrative.executive_summary::row_rule_3"/>
          <p:cNvCxnSpPr/>
          <p:nvPr/>
        </p:nvCxnSpPr>
        <p:spPr>
          <a:xfrm>
            <a:off x="635000" y="5842000"/>
            <a:ext cx="10922000" cy="0"/>
          </a:xfrm>
          <a:prstGeom prst="line">
            <a:avLst/>
          </a:prstGeom>
          <a:ln w="1016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Technical / Data — composition, typography and reading path are theme-specific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123B52"/>
                </a:solidFill>
                <a:latin typeface="Yu Gothic UI"/>
              </a:rPr>
              <a:t>Key Message +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narrative.key_message_evidence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narrative.key_message_evidence::message_bg" title="SDPM::narrative.key_message_evidence::message_bg" descr="SDPM::narrative.key_message_evidence::message_bg"/>
          <p:cNvSpPr/>
          <p:nvPr/>
        </p:nvSpPr>
        <p:spPr>
          <a:xfrm>
            <a:off x="635000" y="1524000"/>
            <a:ext cx="10922000" cy="99314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DPM::narrative.key_message_evidence::message_rule" title="SDPM::narrative.key_message_evidence::message_rule" descr="SDPM::narrative.key_message_evidence::message_rule"/>
          <p:cNvSpPr/>
          <p:nvPr/>
        </p:nvSpPr>
        <p:spPr>
          <a:xfrm>
            <a:off x="635000" y="1524000"/>
            <a:ext cx="63500" cy="993140"/>
          </a:xfrm>
          <a:prstGeom prst="rect">
            <a:avLst/>
          </a:prstGeom>
          <a:solidFill>
            <a:srgbClr val="0E8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DPM::narrative.key_message_evidence::message" title="SDPM::narrative.key_message_evidence::message" descr="SDPM::narrative.key_message_evidence::message"/>
          <p:cNvSpPr txBox="1"/>
          <p:nvPr/>
        </p:nvSpPr>
        <p:spPr>
          <a:xfrm>
            <a:off x="812800" y="1600200"/>
            <a:ext cx="10617200" cy="840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2200">
                <a:solidFill>
                  <a:srgbClr val="102A3A"/>
                </a:solidFill>
                <a:latin typeface="Yu Gothic UI"/>
              </a:rPr>
              <a:t>市場成長は続くが、シェア回復には重点顧客への集中が必要</a:t>
            </a:r>
          </a:p>
        </p:txBody>
      </p:sp>
      <p:sp>
        <p:nvSpPr>
          <p:cNvPr id="9" name="SDPM::narrative.key_message_evidence::cell_0" title="SDPM::narrative.key_message_evidence::cell_0" descr="SDPM::narrative.key_message_evidence::cell_0"/>
          <p:cNvSpPr/>
          <p:nvPr/>
        </p:nvSpPr>
        <p:spPr>
          <a:xfrm>
            <a:off x="635000" y="2631440"/>
            <a:ext cx="3598354" cy="321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DPM::narrative.key_message_evidence::code_0" title="SDPM::narrative.key_message_evidence::code_0" descr="SDPM::narrative.key_message_evidence::code_0"/>
          <p:cNvSpPr txBox="1"/>
          <p:nvPr/>
        </p:nvSpPr>
        <p:spPr>
          <a:xfrm>
            <a:off x="723900" y="2707640"/>
            <a:ext cx="3420554" cy="3601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EVID-01</a:t>
            </a:r>
          </a:p>
        </p:txBody>
      </p:sp>
      <p:sp>
        <p:nvSpPr>
          <p:cNvPr id="11" name="SDPM::narrative.key_message_evidence::value_0" title="SDPM::narrative.key_message_evidence::value_0" descr="SDPM::narrative.key_message_evidence::value_0"/>
          <p:cNvSpPr txBox="1"/>
          <p:nvPr/>
        </p:nvSpPr>
        <p:spPr>
          <a:xfrm>
            <a:off x="723900" y="3086798"/>
            <a:ext cx="3420554" cy="114039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000">
                <a:solidFill>
                  <a:srgbClr val="0E8AA6"/>
                </a:solidFill>
                <a:latin typeface="Yu Gothic UI"/>
              </a:rPr>
              <a:t>+8%</a:t>
            </a:r>
          </a:p>
        </p:txBody>
      </p:sp>
      <p:sp>
        <p:nvSpPr>
          <p:cNvPr id="12" name="SDPM::narrative.key_message_evidence::label_0" title="SDPM::narrative.key_message_evidence::label_0" descr="SDPM::narrative.key_message_evidence::label_0"/>
          <p:cNvSpPr txBox="1"/>
          <p:nvPr/>
        </p:nvSpPr>
        <p:spPr>
          <a:xfrm>
            <a:off x="723900" y="4246245"/>
            <a:ext cx="3420554" cy="660209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02A3A"/>
                </a:solidFill>
                <a:latin typeface="Yu Gothic UI"/>
              </a:rPr>
              <a:t>市場成長</a:t>
            </a:r>
          </a:p>
        </p:txBody>
      </p:sp>
      <p:sp>
        <p:nvSpPr>
          <p:cNvPr id="13" name="SDPM::narrative.key_message_evidence::note_0" title="SDPM::narrative.key_message_evidence::note_0" descr="SDPM::narrative.key_message_evidence::note_0"/>
          <p:cNvSpPr txBox="1"/>
          <p:nvPr/>
        </p:nvSpPr>
        <p:spPr>
          <a:xfrm>
            <a:off x="723900" y="4925504"/>
            <a:ext cx="3420554" cy="84029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0758A"/>
                </a:solidFill>
                <a:latin typeface="Yu Gothic UI"/>
              </a:rPr>
              <a:t>年平均成長率</a:t>
            </a:r>
          </a:p>
        </p:txBody>
      </p:sp>
      <p:sp>
        <p:nvSpPr>
          <p:cNvPr id="14" name="SDPM::narrative.key_message_evidence::cell_1" title="SDPM::narrative.key_message_evidence::cell_1" descr="SDPM::narrative.key_message_evidence::cell_1"/>
          <p:cNvSpPr/>
          <p:nvPr/>
        </p:nvSpPr>
        <p:spPr>
          <a:xfrm>
            <a:off x="4296854" y="2631440"/>
            <a:ext cx="3598354" cy="321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DPM::narrative.key_message_evidence::code_1" title="SDPM::narrative.key_message_evidence::code_1" descr="SDPM::narrative.key_message_evidence::code_1"/>
          <p:cNvSpPr txBox="1"/>
          <p:nvPr/>
        </p:nvSpPr>
        <p:spPr>
          <a:xfrm>
            <a:off x="4385754" y="2707640"/>
            <a:ext cx="3420554" cy="3601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EVID-02</a:t>
            </a:r>
          </a:p>
        </p:txBody>
      </p:sp>
      <p:sp>
        <p:nvSpPr>
          <p:cNvPr id="16" name="SDPM::narrative.key_message_evidence::value_1" title="SDPM::narrative.key_message_evidence::value_1" descr="SDPM::narrative.key_message_evidence::value_1"/>
          <p:cNvSpPr txBox="1"/>
          <p:nvPr/>
        </p:nvSpPr>
        <p:spPr>
          <a:xfrm>
            <a:off x="4385754" y="3086798"/>
            <a:ext cx="3420554" cy="114039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000">
                <a:solidFill>
                  <a:srgbClr val="4169A1"/>
                </a:solidFill>
                <a:latin typeface="Yu Gothic UI"/>
              </a:rPr>
              <a:t>-3.6pt</a:t>
            </a:r>
          </a:p>
        </p:txBody>
      </p:sp>
      <p:sp>
        <p:nvSpPr>
          <p:cNvPr id="17" name="SDPM::narrative.key_message_evidence::label_1" title="SDPM::narrative.key_message_evidence::label_1" descr="SDPM::narrative.key_message_evidence::label_1"/>
          <p:cNvSpPr txBox="1"/>
          <p:nvPr/>
        </p:nvSpPr>
        <p:spPr>
          <a:xfrm>
            <a:off x="4385754" y="4246245"/>
            <a:ext cx="3420554" cy="660209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02A3A"/>
                </a:solidFill>
                <a:latin typeface="Yu Gothic UI"/>
              </a:rPr>
              <a:t>自社シェア</a:t>
            </a:r>
          </a:p>
        </p:txBody>
      </p:sp>
      <p:sp>
        <p:nvSpPr>
          <p:cNvPr id="18" name="SDPM::narrative.key_message_evidence::note_1" title="SDPM::narrative.key_message_evidence::note_1" descr="SDPM::narrative.key_message_evidence::note_1"/>
          <p:cNvSpPr txBox="1"/>
          <p:nvPr/>
        </p:nvSpPr>
        <p:spPr>
          <a:xfrm>
            <a:off x="4385754" y="4925504"/>
            <a:ext cx="3420554" cy="84029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3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年間の低下幅</a:t>
            </a:r>
          </a:p>
        </p:txBody>
      </p:sp>
      <p:sp>
        <p:nvSpPr>
          <p:cNvPr id="19" name="SDPM::narrative.key_message_evidence::cell_2" title="SDPM::narrative.key_message_evidence::cell_2" descr="SDPM::narrative.key_message_evidence::cell_2"/>
          <p:cNvSpPr/>
          <p:nvPr/>
        </p:nvSpPr>
        <p:spPr>
          <a:xfrm>
            <a:off x="7958645" y="2631440"/>
            <a:ext cx="3598354" cy="321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DPM::narrative.key_message_evidence::code_2" title="SDPM::narrative.key_message_evidence::code_2" descr="SDPM::narrative.key_message_evidence::code_2"/>
          <p:cNvSpPr txBox="1"/>
          <p:nvPr/>
        </p:nvSpPr>
        <p:spPr>
          <a:xfrm>
            <a:off x="8047545" y="2707640"/>
            <a:ext cx="3420554" cy="3601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EVID-03</a:t>
            </a:r>
          </a:p>
        </p:txBody>
      </p:sp>
      <p:sp>
        <p:nvSpPr>
          <p:cNvPr id="21" name="SDPM::narrative.key_message_evidence::value_2" title="SDPM::narrative.key_message_evidence::value_2" descr="SDPM::narrative.key_message_evidence::value_2"/>
          <p:cNvSpPr txBox="1"/>
          <p:nvPr/>
        </p:nvSpPr>
        <p:spPr>
          <a:xfrm>
            <a:off x="8047545" y="3086798"/>
            <a:ext cx="3420554" cy="114039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000">
                <a:solidFill>
                  <a:srgbClr val="4169A1"/>
                </a:solidFill>
                <a:latin typeface="Yu Gothic UI"/>
              </a:rPr>
              <a:t>34%</a:t>
            </a:r>
          </a:p>
        </p:txBody>
      </p:sp>
      <p:sp>
        <p:nvSpPr>
          <p:cNvPr id="22" name="SDPM::narrative.key_message_evidence::label_2" title="SDPM::narrative.key_message_evidence::label_2" descr="SDPM::narrative.key_message_evidence::label_2"/>
          <p:cNvSpPr txBox="1"/>
          <p:nvPr/>
        </p:nvSpPr>
        <p:spPr>
          <a:xfrm>
            <a:off x="8047545" y="4246245"/>
            <a:ext cx="3420554" cy="660209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02A3A"/>
                </a:solidFill>
                <a:latin typeface="Yu Gothic UI"/>
              </a:rPr>
              <a:t>市場</a:t>
            </a:r>
            <a:r>
              <a:rPr sz="1300">
                <a:solidFill>
                  <a:srgbClr val="102A3A"/>
                </a:solidFill>
                <a:latin typeface="Yu Gothic UI"/>
              </a:rPr>
              <a:t> A </a:t>
            </a:r>
            <a:r>
              <a:rPr lang="ja-JP" sz="1300">
                <a:solidFill>
                  <a:srgbClr val="102A3A"/>
                </a:solidFill>
                <a:latin typeface="Yu Gothic UI"/>
              </a:rPr>
              <a:t>粗利率</a:t>
            </a:r>
          </a:p>
        </p:txBody>
      </p:sp>
      <p:sp>
        <p:nvSpPr>
          <p:cNvPr id="23" name="SDPM::narrative.key_message_evidence::note_2" title="SDPM::narrative.key_message_evidence::note_2" descr="SDPM::narrative.key_message_evidence::note_2"/>
          <p:cNvSpPr txBox="1"/>
          <p:nvPr/>
        </p:nvSpPr>
        <p:spPr>
          <a:xfrm>
            <a:off x="8047545" y="4925504"/>
            <a:ext cx="3420554" cy="84029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0758A"/>
                </a:solidFill>
                <a:latin typeface="Yu Gothic UI"/>
              </a:rPr>
              <a:t>全市場で最高</a:t>
            </a:r>
          </a:p>
        </p:txBody>
      </p:sp>
      <p:sp>
        <p:nvSpPr>
          <p:cNvPr id="24" name="SDPM::narrative.key_message_evidence::implication" title="SDPM::narrative.key_message_evidence::implication" descr="SDPM::narrative.key_message_evidence::implication"/>
          <p:cNvSpPr txBox="1"/>
          <p:nvPr/>
        </p:nvSpPr>
        <p:spPr>
          <a:xfrm>
            <a:off x="635000" y="5613400"/>
            <a:ext cx="10922000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200">
                <a:solidFill>
                  <a:srgbClr val="0E8AA6"/>
                </a:solidFill>
                <a:latin typeface="Yu Gothic UI"/>
              </a:rPr>
              <a:t>市場</a:t>
            </a:r>
            <a:r>
              <a:rPr sz="1200">
                <a:solidFill>
                  <a:srgbClr val="0E8AA6"/>
                </a:solidFill>
                <a:latin typeface="Yu Gothic UI"/>
              </a:rPr>
              <a:t> A </a:t>
            </a:r>
            <a:r>
              <a:rPr lang="ja-JP" sz="1200">
                <a:solidFill>
                  <a:srgbClr val="0E8AA6"/>
                </a:solidFill>
                <a:latin typeface="Yu Gothic UI"/>
              </a:rPr>
              <a:t>へ営業・開発・</a:t>
            </a:r>
            <a:r>
              <a:rPr sz="1200">
                <a:solidFill>
                  <a:srgbClr val="0E8AA6"/>
                </a:solidFill>
                <a:latin typeface="Yu Gothic UI"/>
              </a:rPr>
              <a:t> CS </a:t>
            </a:r>
            <a:r>
              <a:rPr lang="ja-JP" sz="1200">
                <a:solidFill>
                  <a:srgbClr val="0E8AA6"/>
                </a:solidFill>
                <a:latin typeface="Yu Gothic UI"/>
              </a:rPr>
              <a:t>資源を集中する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Technical / Data — composition, typography and reading path are theme-specific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123B52"/>
                </a:solidFill>
                <a:latin typeface="Yu Gothic UI"/>
              </a:rPr>
              <a:t>Chart +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chart.insight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chart.insight::label_0" title="SDPM::chart.insight::label_0" descr="SDPM::chart.insight::label_0"/>
          <p:cNvSpPr txBox="1"/>
          <p:nvPr/>
        </p:nvSpPr>
        <p:spPr>
          <a:xfrm>
            <a:off x="635000" y="1524000"/>
            <a:ext cx="2150364" cy="106045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02A3A"/>
                </a:solidFill>
                <a:latin typeface="Yu Gothic UI"/>
              </a:rPr>
              <a:t>市場</a:t>
            </a:r>
            <a:r>
              <a:rPr sz="1400">
                <a:solidFill>
                  <a:srgbClr val="102A3A"/>
                </a:solidFill>
                <a:latin typeface="Yu Gothic UI"/>
              </a:rPr>
              <a:t> A</a:t>
            </a:r>
          </a:p>
        </p:txBody>
      </p:sp>
      <p:cxnSp>
        <p:nvCxnSpPr>
          <p:cNvPr id="7" name="SDPM::chart.insight::grid_0_1" title="SDPM::chart.insight::grid_0_1" descr="SDPM::chart.insight::grid_0_1"/>
          <p:cNvCxnSpPr/>
          <p:nvPr/>
        </p:nvCxnSpPr>
        <p:spPr>
          <a:xfrm>
            <a:off x="3711702" y="1524000"/>
            <a:ext cx="0" cy="106045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DPM::chart.insight::grid_0_2" title="SDPM::chart.insight::grid_0_2" descr="SDPM::chart.insight::grid_0_2"/>
          <p:cNvCxnSpPr/>
          <p:nvPr/>
        </p:nvCxnSpPr>
        <p:spPr>
          <a:xfrm>
            <a:off x="4587240" y="1524000"/>
            <a:ext cx="0" cy="106045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DPM::chart.insight::grid_0_3" title="SDPM::chart.insight::grid_0_3" descr="SDPM::chart.insight::grid_0_3"/>
          <p:cNvCxnSpPr/>
          <p:nvPr/>
        </p:nvCxnSpPr>
        <p:spPr>
          <a:xfrm>
            <a:off x="5462714" y="1524000"/>
            <a:ext cx="0" cy="106045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DPM::chart.insight::grid_0_4" title="SDPM::chart.insight::grid_0_4" descr="SDPM::chart.insight::grid_0_4"/>
          <p:cNvCxnSpPr/>
          <p:nvPr/>
        </p:nvCxnSpPr>
        <p:spPr>
          <a:xfrm>
            <a:off x="6338252" y="1524000"/>
            <a:ext cx="0" cy="106045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chart.insight::bar_0" title="SDPM::chart.insight::bar_0" descr="SDPM::chart.insight::bar_0"/>
          <p:cNvSpPr/>
          <p:nvPr/>
        </p:nvSpPr>
        <p:spPr>
          <a:xfrm>
            <a:off x="2836164" y="1873948"/>
            <a:ext cx="4377563" cy="360553"/>
          </a:xfrm>
          <a:prstGeom prst="rect">
            <a:avLst/>
          </a:prstGeom>
          <a:solidFill>
            <a:srgbClr val="0E8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DPM::chart.insight::direct_0" title="SDPM::chart.insight::direct_0" descr="SDPM::chart.insight::direct_0"/>
          <p:cNvSpPr txBox="1"/>
          <p:nvPr/>
        </p:nvSpPr>
        <p:spPr>
          <a:xfrm>
            <a:off x="7251827" y="1524000"/>
            <a:ext cx="0" cy="106045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82</a:t>
            </a:r>
          </a:p>
        </p:txBody>
      </p:sp>
      <p:sp>
        <p:nvSpPr>
          <p:cNvPr id="13" name="SDPM::chart.insight::label_1" title="SDPM::chart.insight::label_1" descr="SDPM::chart.insight::label_1"/>
          <p:cNvSpPr txBox="1"/>
          <p:nvPr/>
        </p:nvSpPr>
        <p:spPr>
          <a:xfrm>
            <a:off x="635000" y="2609850"/>
            <a:ext cx="2150364" cy="106045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02A3A"/>
                </a:solidFill>
                <a:latin typeface="Yu Gothic UI"/>
              </a:rPr>
              <a:t>市場</a:t>
            </a:r>
            <a:r>
              <a:rPr sz="1400">
                <a:solidFill>
                  <a:srgbClr val="102A3A"/>
                </a:solidFill>
                <a:latin typeface="Yu Gothic UI"/>
              </a:rPr>
              <a:t> B</a:t>
            </a:r>
          </a:p>
        </p:txBody>
      </p:sp>
      <p:cxnSp>
        <p:nvCxnSpPr>
          <p:cNvPr id="14" name="SDPM::chart.insight::grid_1_1" title="SDPM::chart.insight::grid_1_1" descr="SDPM::chart.insight::grid_1_1"/>
          <p:cNvCxnSpPr/>
          <p:nvPr/>
        </p:nvCxnSpPr>
        <p:spPr>
          <a:xfrm>
            <a:off x="3711702" y="2609850"/>
            <a:ext cx="0" cy="106045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DPM::chart.insight::grid_1_2" title="SDPM::chart.insight::grid_1_2" descr="SDPM::chart.insight::grid_1_2"/>
          <p:cNvCxnSpPr/>
          <p:nvPr/>
        </p:nvCxnSpPr>
        <p:spPr>
          <a:xfrm>
            <a:off x="4587240" y="2609850"/>
            <a:ext cx="0" cy="106045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DPM::chart.insight::grid_1_3" title="SDPM::chart.insight::grid_1_3" descr="SDPM::chart.insight::grid_1_3"/>
          <p:cNvCxnSpPr/>
          <p:nvPr/>
        </p:nvCxnSpPr>
        <p:spPr>
          <a:xfrm>
            <a:off x="5462714" y="2609850"/>
            <a:ext cx="0" cy="106045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DPM::chart.insight::grid_1_4" title="SDPM::chart.insight::grid_1_4" descr="SDPM::chart.insight::grid_1_4"/>
          <p:cNvCxnSpPr/>
          <p:nvPr/>
        </p:nvCxnSpPr>
        <p:spPr>
          <a:xfrm>
            <a:off x="6338252" y="2609850"/>
            <a:ext cx="0" cy="106045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DPM::chart.insight::bar_1" title="SDPM::chart.insight::bar_1" descr="SDPM::chart.insight::bar_1"/>
          <p:cNvSpPr/>
          <p:nvPr/>
        </p:nvSpPr>
        <p:spPr>
          <a:xfrm>
            <a:off x="2836164" y="2959798"/>
            <a:ext cx="3363277" cy="360553"/>
          </a:xfrm>
          <a:prstGeom prst="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DPM::chart.insight::direct_1" title="SDPM::chart.insight::direct_1" descr="SDPM::chart.insight::direct_1"/>
          <p:cNvSpPr txBox="1"/>
          <p:nvPr/>
        </p:nvSpPr>
        <p:spPr>
          <a:xfrm>
            <a:off x="6237541" y="2609850"/>
            <a:ext cx="571500" cy="106045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4169A1"/>
                </a:solidFill>
                <a:latin typeface="Yu Gothic UI"/>
              </a:rPr>
              <a:t>63</a:t>
            </a:r>
          </a:p>
        </p:txBody>
      </p:sp>
      <p:sp>
        <p:nvSpPr>
          <p:cNvPr id="20" name="SDPM::chart.insight::label_2" title="SDPM::chart.insight::label_2" descr="SDPM::chart.insight::label_2"/>
          <p:cNvSpPr txBox="1"/>
          <p:nvPr/>
        </p:nvSpPr>
        <p:spPr>
          <a:xfrm>
            <a:off x="635000" y="3695700"/>
            <a:ext cx="2150364" cy="106045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02A3A"/>
                </a:solidFill>
                <a:latin typeface="Yu Gothic UI"/>
              </a:rPr>
              <a:t>市場</a:t>
            </a:r>
            <a:r>
              <a:rPr sz="1400">
                <a:solidFill>
                  <a:srgbClr val="102A3A"/>
                </a:solidFill>
                <a:latin typeface="Yu Gothic UI"/>
              </a:rPr>
              <a:t> C</a:t>
            </a:r>
          </a:p>
        </p:txBody>
      </p:sp>
      <p:cxnSp>
        <p:nvCxnSpPr>
          <p:cNvPr id="21" name="SDPM::chart.insight::grid_2_1" title="SDPM::chart.insight::grid_2_1" descr="SDPM::chart.insight::grid_2_1"/>
          <p:cNvCxnSpPr/>
          <p:nvPr/>
        </p:nvCxnSpPr>
        <p:spPr>
          <a:xfrm>
            <a:off x="3711702" y="3695700"/>
            <a:ext cx="0" cy="106045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DPM::chart.insight::grid_2_2" title="SDPM::chart.insight::grid_2_2" descr="SDPM::chart.insight::grid_2_2"/>
          <p:cNvCxnSpPr/>
          <p:nvPr/>
        </p:nvCxnSpPr>
        <p:spPr>
          <a:xfrm>
            <a:off x="4587240" y="3695700"/>
            <a:ext cx="0" cy="106045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DPM::chart.insight::grid_2_3" title="SDPM::chart.insight::grid_2_3" descr="SDPM::chart.insight::grid_2_3"/>
          <p:cNvCxnSpPr/>
          <p:nvPr/>
        </p:nvCxnSpPr>
        <p:spPr>
          <a:xfrm>
            <a:off x="5462714" y="3695700"/>
            <a:ext cx="0" cy="106045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DPM::chart.insight::grid_2_4" title="SDPM::chart.insight::grid_2_4" descr="SDPM::chart.insight::grid_2_4"/>
          <p:cNvCxnSpPr/>
          <p:nvPr/>
        </p:nvCxnSpPr>
        <p:spPr>
          <a:xfrm>
            <a:off x="6338252" y="3695700"/>
            <a:ext cx="0" cy="106045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DPM::chart.insight::bar_2" title="SDPM::chart.insight::bar_2" descr="SDPM::chart.insight::bar_2"/>
          <p:cNvSpPr/>
          <p:nvPr/>
        </p:nvSpPr>
        <p:spPr>
          <a:xfrm>
            <a:off x="2836164" y="4045648"/>
            <a:ext cx="2188781" cy="360553"/>
          </a:xfrm>
          <a:prstGeom prst="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DPM::chart.insight::direct_2" title="SDPM::chart.insight::direct_2" descr="SDPM::chart.insight::direct_2"/>
          <p:cNvSpPr txBox="1"/>
          <p:nvPr/>
        </p:nvSpPr>
        <p:spPr>
          <a:xfrm>
            <a:off x="5063045" y="3695700"/>
            <a:ext cx="571500" cy="106045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4169A1"/>
                </a:solidFill>
                <a:latin typeface="Yu Gothic UI"/>
              </a:rPr>
              <a:t>41</a:t>
            </a:r>
          </a:p>
        </p:txBody>
      </p:sp>
      <p:sp>
        <p:nvSpPr>
          <p:cNvPr id="27" name="SDPM::chart.insight::label_3" title="SDPM::chart.insight::label_3" descr="SDPM::chart.insight::label_3"/>
          <p:cNvSpPr txBox="1"/>
          <p:nvPr/>
        </p:nvSpPr>
        <p:spPr>
          <a:xfrm>
            <a:off x="635000" y="4781550"/>
            <a:ext cx="2150364" cy="106045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02A3A"/>
                </a:solidFill>
                <a:latin typeface="Yu Gothic UI"/>
              </a:rPr>
              <a:t>市場</a:t>
            </a:r>
            <a:r>
              <a:rPr sz="1400">
                <a:solidFill>
                  <a:srgbClr val="102A3A"/>
                </a:solidFill>
                <a:latin typeface="Yu Gothic UI"/>
              </a:rPr>
              <a:t> D</a:t>
            </a:r>
          </a:p>
        </p:txBody>
      </p:sp>
      <p:cxnSp>
        <p:nvCxnSpPr>
          <p:cNvPr id="28" name="SDPM::chart.insight::grid_3_1" title="SDPM::chart.insight::grid_3_1" descr="SDPM::chart.insight::grid_3_1"/>
          <p:cNvCxnSpPr/>
          <p:nvPr/>
        </p:nvCxnSpPr>
        <p:spPr>
          <a:xfrm>
            <a:off x="3711702" y="4781550"/>
            <a:ext cx="0" cy="106045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DPM::chart.insight::grid_3_2" title="SDPM::chart.insight::grid_3_2" descr="SDPM::chart.insight::grid_3_2"/>
          <p:cNvCxnSpPr/>
          <p:nvPr/>
        </p:nvCxnSpPr>
        <p:spPr>
          <a:xfrm>
            <a:off x="4587240" y="4781550"/>
            <a:ext cx="0" cy="106045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DPM::chart.insight::grid_3_3" title="SDPM::chart.insight::grid_3_3" descr="SDPM::chart.insight::grid_3_3"/>
          <p:cNvCxnSpPr/>
          <p:nvPr/>
        </p:nvCxnSpPr>
        <p:spPr>
          <a:xfrm>
            <a:off x="5462714" y="4781550"/>
            <a:ext cx="0" cy="106045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DPM::chart.insight::grid_3_4" title="SDPM::chart.insight::grid_3_4" descr="SDPM::chart.insight::grid_3_4"/>
          <p:cNvCxnSpPr/>
          <p:nvPr/>
        </p:nvCxnSpPr>
        <p:spPr>
          <a:xfrm>
            <a:off x="6338252" y="4781550"/>
            <a:ext cx="0" cy="106045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SDPM::chart.insight::bar_3" title="SDPM::chart.insight::bar_3" descr="SDPM::chart.insight::bar_3"/>
          <p:cNvSpPr/>
          <p:nvPr/>
        </p:nvSpPr>
        <p:spPr>
          <a:xfrm>
            <a:off x="2836164" y="5131498"/>
            <a:ext cx="1441386" cy="360553"/>
          </a:xfrm>
          <a:prstGeom prst="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DPM::chart.insight::direct_3" title="SDPM::chart.insight::direct_3" descr="SDPM::chart.insight::direct_3"/>
          <p:cNvSpPr txBox="1"/>
          <p:nvPr/>
        </p:nvSpPr>
        <p:spPr>
          <a:xfrm>
            <a:off x="4315650" y="4781550"/>
            <a:ext cx="571500" cy="106045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4169A1"/>
                </a:solidFill>
                <a:latin typeface="Yu Gothic UI"/>
              </a:rPr>
              <a:t>27</a:t>
            </a:r>
          </a:p>
        </p:txBody>
      </p:sp>
      <p:sp>
        <p:nvSpPr>
          <p:cNvPr id="34" name="SDPM::chart.insight::insight_bg" title="SDPM::chart.insight::insight_bg" descr="SDPM::chart.insight::insight_bg"/>
          <p:cNvSpPr/>
          <p:nvPr/>
        </p:nvSpPr>
        <p:spPr>
          <a:xfrm>
            <a:off x="8530844" y="1524000"/>
            <a:ext cx="3026156" cy="431800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DPM::chart.insight::label" title="SDPM::chart.insight::label" descr="SDPM::chart.insight::label"/>
          <p:cNvSpPr txBox="1"/>
          <p:nvPr/>
        </p:nvSpPr>
        <p:spPr>
          <a:xfrm>
            <a:off x="8645144" y="1625600"/>
            <a:ext cx="2797556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INTERPRETATION</a:t>
            </a:r>
          </a:p>
        </p:txBody>
      </p:sp>
      <p:sp>
        <p:nvSpPr>
          <p:cNvPr id="36" name="SDPM::chart.insight::insight" title="SDPM::chart.insight::insight" descr="SDPM::chart.insight::insight"/>
          <p:cNvSpPr txBox="1"/>
          <p:nvPr/>
        </p:nvSpPr>
        <p:spPr>
          <a:xfrm>
            <a:off x="8645144" y="1879600"/>
            <a:ext cx="2797556" cy="3390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2200">
                <a:solidFill>
                  <a:srgbClr val="FFFFFF"/>
                </a:solidFill>
                <a:latin typeface="Yu Gothic UI"/>
              </a:rPr>
              <a:t>市場</a:t>
            </a:r>
            <a:r>
              <a:rPr sz="2200">
                <a:solidFill>
                  <a:srgbClr val="FFFFFF"/>
                </a:solidFill>
                <a:latin typeface="Yu Gothic UI"/>
              </a:rPr>
              <a:t> A </a:t>
            </a:r>
            <a:r>
              <a:rPr lang="ja-JP" sz="2200">
                <a:solidFill>
                  <a:srgbClr val="FFFFFF"/>
                </a:solidFill>
                <a:latin typeface="Yu Gothic UI"/>
              </a:rPr>
              <a:t>は魅力度と収益性の両面で最優先</a:t>
            </a:r>
          </a:p>
        </p:txBody>
      </p:sp>
      <p:sp>
        <p:nvSpPr>
          <p:cNvPr id="37" name="SDPM::chart.insight::support" title="SDPM::chart.insight::support" descr="SDPM::chart.insight::support"/>
          <p:cNvSpPr txBox="1"/>
          <p:nvPr/>
        </p:nvSpPr>
        <p:spPr>
          <a:xfrm>
            <a:off x="8645144" y="5334000"/>
            <a:ext cx="2797556" cy="406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b"/>
          <a:lstStyle/>
          <a:p>
            <a:pPr algn="l"/>
            <a:r>
              <a:rPr lang="ja-JP" sz="1200">
                <a:solidFill>
                  <a:srgbClr val="FFFFFF"/>
                </a:solidFill>
                <a:latin typeface="Yu Gothic UI"/>
              </a:rPr>
              <a:t>資源配分を市場</a:t>
            </a:r>
            <a:r>
              <a:rPr sz="1200">
                <a:solidFill>
                  <a:srgbClr val="FFFFFF"/>
                </a:solidFill>
                <a:latin typeface="Yu Gothic UI"/>
              </a:rPr>
              <a:t> A </a:t>
            </a:r>
            <a:r>
              <a:rPr lang="ja-JP" sz="1200">
                <a:solidFill>
                  <a:srgbClr val="FFFFFF"/>
                </a:solidFill>
                <a:latin typeface="Yu Gothic UI"/>
              </a:rPr>
              <a:t>へ寄せる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Technical / Data — composition, typography and reading path are theme-specific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123B52"/>
                </a:solidFill>
                <a:latin typeface="Yu Gothic UI"/>
              </a:rPr>
              <a:t>Findings +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narrative.findings_implications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narrative.findings_implications::header_ID" title="SDPM::narrative.findings_implications::header_ID" descr="SDPM::narrative.findings_implications::header_ID"/>
          <p:cNvSpPr txBox="1"/>
          <p:nvPr/>
        </p:nvSpPr>
        <p:spPr>
          <a:xfrm>
            <a:off x="635000" y="1524000"/>
            <a:ext cx="861568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ID</a:t>
            </a:r>
          </a:p>
        </p:txBody>
      </p:sp>
      <p:sp>
        <p:nvSpPr>
          <p:cNvPr id="7" name="SDPM::narrative.findings_implications::header_OBSERVATION" title="SDPM::narrative.findings_implications::header_OBSERVATION" descr="SDPM::narrative.findings_implications::header_OBSERVATION"/>
          <p:cNvSpPr txBox="1"/>
          <p:nvPr/>
        </p:nvSpPr>
        <p:spPr>
          <a:xfrm>
            <a:off x="1547368" y="1524000"/>
            <a:ext cx="4523232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OBSERVATION</a:t>
            </a:r>
          </a:p>
        </p:txBody>
      </p:sp>
      <p:sp>
        <p:nvSpPr>
          <p:cNvPr id="8" name="SDPM::narrative.findings_implications::header_LINK" title="SDPM::narrative.findings_implications::header_LINK" descr="SDPM::narrative.findings_implications::header_LINK"/>
          <p:cNvSpPr txBox="1"/>
          <p:nvPr/>
        </p:nvSpPr>
        <p:spPr>
          <a:xfrm>
            <a:off x="6121400" y="1524000"/>
            <a:ext cx="861568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LINK</a:t>
            </a:r>
          </a:p>
        </p:txBody>
      </p:sp>
      <p:sp>
        <p:nvSpPr>
          <p:cNvPr id="9" name="SDPM::narrative.findings_implications::header_ACTION" title="SDPM::narrative.findings_implications::header_ACTION" descr="SDPM::narrative.findings_implications::header_ACTION"/>
          <p:cNvSpPr txBox="1"/>
          <p:nvPr/>
        </p:nvSpPr>
        <p:spPr>
          <a:xfrm>
            <a:off x="7033768" y="1524000"/>
            <a:ext cx="4523232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ACTION</a:t>
            </a:r>
          </a:p>
        </p:txBody>
      </p:sp>
      <p:sp>
        <p:nvSpPr>
          <p:cNvPr id="10" name="SDPM::narrative.findings_implications::row_bg_0" title="SDPM::narrative.findings_implications::row_bg_0" descr="SDPM::narrative.findings_implications::row_bg_0"/>
          <p:cNvSpPr/>
          <p:nvPr/>
        </p:nvSpPr>
        <p:spPr>
          <a:xfrm>
            <a:off x="635000" y="1854200"/>
            <a:ext cx="10922000" cy="13123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DPM::narrative.findings_implications::id_0" title="SDPM::narrative.findings_implications::id_0" descr="SDPM::narrative.findings_implications::id_0"/>
          <p:cNvSpPr txBox="1"/>
          <p:nvPr/>
        </p:nvSpPr>
        <p:spPr>
          <a:xfrm>
            <a:off x="635000" y="1854200"/>
            <a:ext cx="861568" cy="13123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0E8AA6"/>
                </a:solidFill>
                <a:latin typeface="Yu Gothic UI"/>
              </a:rPr>
              <a:t>F-01</a:t>
            </a:r>
          </a:p>
        </p:txBody>
      </p:sp>
      <p:sp>
        <p:nvSpPr>
          <p:cNvPr id="12" name="SDPM::narrative.findings_implications::finding_0" title="SDPM::narrative.findings_implications::finding_0" descr="SDPM::narrative.findings_implications::finding_0"/>
          <p:cNvSpPr txBox="1"/>
          <p:nvPr/>
        </p:nvSpPr>
        <p:spPr>
          <a:xfrm>
            <a:off x="1547368" y="1854200"/>
            <a:ext cx="4523232" cy="13123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102A3A"/>
                </a:solidFill>
                <a:latin typeface="Yu Gothic UI"/>
              </a:rPr>
              <a:t>離反の</a:t>
            </a:r>
            <a:r>
              <a:rPr sz="1500">
                <a:solidFill>
                  <a:srgbClr val="102A3A"/>
                </a:solidFill>
                <a:latin typeface="Yu Gothic UI"/>
              </a:rPr>
              <a:t> 62% </a:t>
            </a:r>
            <a:r>
              <a:rPr lang="ja-JP" sz="1500">
                <a:solidFill>
                  <a:srgbClr val="102A3A"/>
                </a:solidFill>
                <a:latin typeface="Yu Gothic UI"/>
              </a:rPr>
              <a:t>が導入</a:t>
            </a:r>
            <a:r>
              <a:rPr sz="1500">
                <a:solidFill>
                  <a:srgbClr val="102A3A"/>
                </a:solidFill>
                <a:latin typeface="Yu Gothic UI"/>
              </a:rPr>
              <a:t> 90 </a:t>
            </a:r>
            <a:r>
              <a:rPr lang="ja-JP" sz="1500">
                <a:solidFill>
                  <a:srgbClr val="102A3A"/>
                </a:solidFill>
                <a:latin typeface="Yu Gothic UI"/>
              </a:rPr>
              <a:t>日以内に発生</a:t>
            </a:r>
          </a:p>
        </p:txBody>
      </p:sp>
      <p:cxnSp>
        <p:nvCxnSpPr>
          <p:cNvPr id="13" name="SDPM::narrative.findings_implications::arrow_0" title="SDPM::narrative.findings_implications::arrow_0" descr="SDPM::narrative.findings_implications::arrow_0"/>
          <p:cNvCxnSpPr/>
          <p:nvPr/>
        </p:nvCxnSpPr>
        <p:spPr>
          <a:xfrm>
            <a:off x="6153150" y="2510345"/>
            <a:ext cx="798068" cy="0"/>
          </a:xfrm>
          <a:prstGeom prst="line">
            <a:avLst/>
          </a:prstGeom>
          <a:ln w="25400">
            <a:solidFill>
              <a:srgbClr val="0E8A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DPM::narrative.findings_implications::implication_0" title="SDPM::narrative.findings_implications::implication_0" descr="SDPM::narrative.findings_implications::implication_0"/>
          <p:cNvSpPr txBox="1"/>
          <p:nvPr/>
        </p:nvSpPr>
        <p:spPr>
          <a:xfrm>
            <a:off x="7033768" y="1854200"/>
            <a:ext cx="4523232" cy="13123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123B52"/>
                </a:solidFill>
                <a:latin typeface="Yu Gothic UI"/>
              </a:rPr>
              <a:t>オンボーディングを最優先で改善</a:t>
            </a:r>
          </a:p>
        </p:txBody>
      </p:sp>
      <p:sp>
        <p:nvSpPr>
          <p:cNvPr id="15" name="SDPM::narrative.findings_implications::row_bg_1" title="SDPM::narrative.findings_implications::row_bg_1" descr="SDPM::narrative.findings_implications::row_bg_1"/>
          <p:cNvSpPr/>
          <p:nvPr/>
        </p:nvSpPr>
        <p:spPr>
          <a:xfrm>
            <a:off x="635000" y="3191954"/>
            <a:ext cx="10922000" cy="1312354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DPM::narrative.findings_implications::id_1" title="SDPM::narrative.findings_implications::id_1" descr="SDPM::narrative.findings_implications::id_1"/>
          <p:cNvSpPr txBox="1"/>
          <p:nvPr/>
        </p:nvSpPr>
        <p:spPr>
          <a:xfrm>
            <a:off x="635000" y="3191954"/>
            <a:ext cx="861568" cy="13123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0E8AA6"/>
                </a:solidFill>
                <a:latin typeface="Yu Gothic UI"/>
              </a:rPr>
              <a:t>F-02</a:t>
            </a:r>
          </a:p>
        </p:txBody>
      </p:sp>
      <p:sp>
        <p:nvSpPr>
          <p:cNvPr id="17" name="SDPM::narrative.findings_implications::finding_1" title="SDPM::narrative.findings_implications::finding_1" descr="SDPM::narrative.findings_implications::finding_1"/>
          <p:cNvSpPr txBox="1"/>
          <p:nvPr/>
        </p:nvSpPr>
        <p:spPr>
          <a:xfrm>
            <a:off x="1547368" y="3191954"/>
            <a:ext cx="4523232" cy="13123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102A3A"/>
                </a:solidFill>
                <a:latin typeface="Yu Gothic UI"/>
              </a:rPr>
              <a:t>高収益顧客ほど利用部門が限定</a:t>
            </a:r>
          </a:p>
        </p:txBody>
      </p:sp>
      <p:cxnSp>
        <p:nvCxnSpPr>
          <p:cNvPr id="18" name="SDPM::narrative.findings_implications::arrow_1" title="SDPM::narrative.findings_implications::arrow_1" descr="SDPM::narrative.findings_implications::arrow_1"/>
          <p:cNvCxnSpPr/>
          <p:nvPr/>
        </p:nvCxnSpPr>
        <p:spPr>
          <a:xfrm>
            <a:off x="6153150" y="3848100"/>
            <a:ext cx="798068" cy="0"/>
          </a:xfrm>
          <a:prstGeom prst="line">
            <a:avLst/>
          </a:prstGeom>
          <a:ln w="25400">
            <a:solidFill>
              <a:srgbClr val="0E8A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DPM::narrative.findings_implications::implication_1" title="SDPM::narrative.findings_implications::implication_1" descr="SDPM::narrative.findings_implications::implication_1"/>
          <p:cNvSpPr txBox="1"/>
          <p:nvPr/>
        </p:nvSpPr>
        <p:spPr>
          <a:xfrm>
            <a:off x="7033768" y="3191954"/>
            <a:ext cx="4523232" cy="13123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123B52"/>
                </a:solidFill>
                <a:latin typeface="Yu Gothic UI"/>
              </a:rPr>
              <a:t>部門展開を契約・支援に組み込む</a:t>
            </a:r>
          </a:p>
        </p:txBody>
      </p:sp>
      <p:sp>
        <p:nvSpPr>
          <p:cNvPr id="20" name="SDPM::narrative.findings_implications::row_bg_2" title="SDPM::narrative.findings_implications::row_bg_2" descr="SDPM::narrative.findings_implications::row_bg_2"/>
          <p:cNvSpPr/>
          <p:nvPr/>
        </p:nvSpPr>
        <p:spPr>
          <a:xfrm>
            <a:off x="635000" y="4529645"/>
            <a:ext cx="10922000" cy="13123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DPM::narrative.findings_implications::id_2" title="SDPM::narrative.findings_implications::id_2" descr="SDPM::narrative.findings_implications::id_2"/>
          <p:cNvSpPr txBox="1"/>
          <p:nvPr/>
        </p:nvSpPr>
        <p:spPr>
          <a:xfrm>
            <a:off x="635000" y="4529645"/>
            <a:ext cx="861568" cy="13123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0E8AA6"/>
                </a:solidFill>
                <a:latin typeface="Yu Gothic UI"/>
              </a:rPr>
              <a:t>F-03</a:t>
            </a:r>
          </a:p>
        </p:txBody>
      </p:sp>
      <p:sp>
        <p:nvSpPr>
          <p:cNvPr id="22" name="SDPM::narrative.findings_implications::finding_2" title="SDPM::narrative.findings_implications::finding_2" descr="SDPM::narrative.findings_implications::finding_2"/>
          <p:cNvSpPr txBox="1"/>
          <p:nvPr/>
        </p:nvSpPr>
        <p:spPr>
          <a:xfrm>
            <a:off x="1547368" y="4529645"/>
            <a:ext cx="4523232" cy="13123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102A3A"/>
                </a:solidFill>
                <a:latin typeface="Yu Gothic UI"/>
              </a:rPr>
              <a:t>価格不満より効果不明が多い</a:t>
            </a:r>
          </a:p>
        </p:txBody>
      </p:sp>
      <p:cxnSp>
        <p:nvCxnSpPr>
          <p:cNvPr id="23" name="SDPM::narrative.findings_implications::arrow_2" title="SDPM::narrative.findings_implications::arrow_2" descr="SDPM::narrative.findings_implications::arrow_2"/>
          <p:cNvCxnSpPr/>
          <p:nvPr/>
        </p:nvCxnSpPr>
        <p:spPr>
          <a:xfrm>
            <a:off x="6153150" y="5185854"/>
            <a:ext cx="798068" cy="0"/>
          </a:xfrm>
          <a:prstGeom prst="line">
            <a:avLst/>
          </a:prstGeom>
          <a:ln w="25400">
            <a:solidFill>
              <a:srgbClr val="0E8A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DPM::narrative.findings_implications::implication_2" title="SDPM::narrative.findings_implications::implication_2" descr="SDPM::narrative.findings_implications::implication_2"/>
          <p:cNvSpPr txBox="1"/>
          <p:nvPr/>
        </p:nvSpPr>
        <p:spPr>
          <a:xfrm>
            <a:off x="7033768" y="4529645"/>
            <a:ext cx="4523232" cy="131235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123B52"/>
                </a:solidFill>
                <a:latin typeface="Yu Gothic UI"/>
              </a:rPr>
              <a:t>成果</a:t>
            </a:r>
            <a:r>
              <a:rPr sz="1500">
                <a:solidFill>
                  <a:srgbClr val="123B52"/>
                </a:solidFill>
                <a:latin typeface="Yu Gothic UI"/>
              </a:rPr>
              <a:t> KPI </a:t>
            </a:r>
            <a:r>
              <a:rPr lang="ja-JP" sz="1500">
                <a:solidFill>
                  <a:srgbClr val="123B52"/>
                </a:solidFill>
                <a:latin typeface="Yu Gothic UI"/>
              </a:rPr>
              <a:t>を顧客と共同定義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Technical / Data — composition, typography and reading path are theme-specific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123B52"/>
                </a:solidFill>
                <a:latin typeface="Yu Gothic UI"/>
              </a:rPr>
              <a:t>Strategy 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strategy.house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strategy.house::aspiration" title="SDPM::strategy.house::aspiration" descr="SDPM::strategy.house::aspiration"/>
          <p:cNvSpPr/>
          <p:nvPr/>
        </p:nvSpPr>
        <p:spPr>
          <a:xfrm>
            <a:off x="635000" y="1524000"/>
            <a:ext cx="10922000" cy="74295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900">
                <a:solidFill>
                  <a:srgbClr val="FFFFFF"/>
                </a:solidFill>
                <a:latin typeface="Yu Gothic UI"/>
              </a:rPr>
              <a:t>市場</a:t>
            </a:r>
            <a:r>
              <a:rPr sz="1900">
                <a:solidFill>
                  <a:srgbClr val="FFFFFF"/>
                </a:solidFill>
                <a:latin typeface="Aptos"/>
              </a:rPr>
              <a:t> A </a:t>
            </a:r>
            <a:r>
              <a:rPr lang="ja-JP" sz="1900">
                <a:solidFill>
                  <a:srgbClr val="FFFFFF"/>
                </a:solidFill>
                <a:latin typeface="Yu Gothic UI"/>
              </a:rPr>
              <a:t>で顧客成果を最も再現できるパートナーへ</a:t>
            </a:r>
          </a:p>
        </p:txBody>
      </p:sp>
      <p:sp>
        <p:nvSpPr>
          <p:cNvPr id="7" name="SDPM::strategy.house::choice_0" title="SDPM::strategy.house::choice_0" descr="SDPM::strategy.house::choice_0"/>
          <p:cNvSpPr/>
          <p:nvPr/>
        </p:nvSpPr>
        <p:spPr>
          <a:xfrm>
            <a:off x="635000" y="2330450"/>
            <a:ext cx="3598354" cy="193992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8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DPM::strategy.house::code_0" title="SDPM::strategy.house::code_0" descr="SDPM::strategy.house::code_0"/>
          <p:cNvSpPr txBox="1"/>
          <p:nvPr/>
        </p:nvSpPr>
        <p:spPr>
          <a:xfrm>
            <a:off x="711200" y="2330450"/>
            <a:ext cx="3522154" cy="26625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CHOICE-01</a:t>
            </a:r>
          </a:p>
        </p:txBody>
      </p:sp>
      <p:sp>
        <p:nvSpPr>
          <p:cNvPr id="9" name="SDPM::strategy.house::choice_title_0" title="SDPM::strategy.house::choice_title_0" descr="SDPM::strategy.house::choice_title_0"/>
          <p:cNvSpPr txBox="1"/>
          <p:nvPr/>
        </p:nvSpPr>
        <p:spPr>
          <a:xfrm>
            <a:off x="711200" y="2615755"/>
            <a:ext cx="3522154" cy="53251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500">
                <a:solidFill>
                  <a:srgbClr val="102A3A"/>
                </a:solidFill>
                <a:latin typeface="Yu Gothic UI"/>
              </a:rPr>
              <a:t>Where to play</a:t>
            </a:r>
          </a:p>
        </p:txBody>
      </p:sp>
      <p:sp>
        <p:nvSpPr>
          <p:cNvPr id="10" name="SDPM::strategy.house::choice_body_0" title="SDPM::strategy.house::choice_body_0" descr="SDPM::strategy.house::choice_body_0"/>
          <p:cNvSpPr txBox="1"/>
          <p:nvPr/>
        </p:nvSpPr>
        <p:spPr>
          <a:xfrm>
            <a:off x="711200" y="3167316"/>
            <a:ext cx="3522154" cy="11030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0758A"/>
                </a:solidFill>
                <a:latin typeface="Yu Gothic UI"/>
              </a:rPr>
              <a:t>市場</a:t>
            </a:r>
            <a:r>
              <a:rPr sz="1200">
                <a:solidFill>
                  <a:srgbClr val="60758A"/>
                </a:solidFill>
                <a:latin typeface="Yu Gothic UI"/>
              </a:rPr>
              <a:t> A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の中堅・大企業</a:t>
            </a:r>
          </a:p>
        </p:txBody>
      </p:sp>
      <p:sp>
        <p:nvSpPr>
          <p:cNvPr id="11" name="SDPM::strategy.house::choice_1" title="SDPM::strategy.house::choice_1" descr="SDPM::strategy.house::choice_1"/>
          <p:cNvSpPr/>
          <p:nvPr/>
        </p:nvSpPr>
        <p:spPr>
          <a:xfrm>
            <a:off x="4296854" y="2330450"/>
            <a:ext cx="3598354" cy="193992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DPM::strategy.house::code_1" title="SDPM::strategy.house::code_1" descr="SDPM::strategy.house::code_1"/>
          <p:cNvSpPr txBox="1"/>
          <p:nvPr/>
        </p:nvSpPr>
        <p:spPr>
          <a:xfrm>
            <a:off x="4373054" y="2330450"/>
            <a:ext cx="3522154" cy="26625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CHOICE-02</a:t>
            </a:r>
          </a:p>
        </p:txBody>
      </p:sp>
      <p:sp>
        <p:nvSpPr>
          <p:cNvPr id="13" name="SDPM::strategy.house::choice_title_1" title="SDPM::strategy.house::choice_title_1" descr="SDPM::strategy.house::choice_title_1"/>
          <p:cNvSpPr txBox="1"/>
          <p:nvPr/>
        </p:nvSpPr>
        <p:spPr>
          <a:xfrm>
            <a:off x="4373054" y="2615755"/>
            <a:ext cx="3522154" cy="53251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500">
                <a:solidFill>
                  <a:srgbClr val="102A3A"/>
                </a:solidFill>
                <a:latin typeface="Yu Gothic UI"/>
              </a:rPr>
              <a:t>How to win</a:t>
            </a:r>
          </a:p>
        </p:txBody>
      </p:sp>
      <p:sp>
        <p:nvSpPr>
          <p:cNvPr id="14" name="SDPM::strategy.house::choice_body_1" title="SDPM::strategy.house::choice_body_1" descr="SDPM::strategy.house::choice_body_1"/>
          <p:cNvSpPr txBox="1"/>
          <p:nvPr/>
        </p:nvSpPr>
        <p:spPr>
          <a:xfrm>
            <a:off x="4373054" y="3167316"/>
            <a:ext cx="3522154" cy="11030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0758A"/>
                </a:solidFill>
                <a:latin typeface="Yu Gothic UI"/>
              </a:rPr>
              <a:t>成果連動型の価値提案</a:t>
            </a:r>
          </a:p>
        </p:txBody>
      </p:sp>
      <p:sp>
        <p:nvSpPr>
          <p:cNvPr id="15" name="SDPM::strategy.house::choice_2" title="SDPM::strategy.house::choice_2" descr="SDPM::strategy.house::choice_2"/>
          <p:cNvSpPr/>
          <p:nvPr/>
        </p:nvSpPr>
        <p:spPr>
          <a:xfrm>
            <a:off x="7958645" y="2330450"/>
            <a:ext cx="3598354" cy="193992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DPM::strategy.house::code_2" title="SDPM::strategy.house::code_2" descr="SDPM::strategy.house::code_2"/>
          <p:cNvSpPr txBox="1"/>
          <p:nvPr/>
        </p:nvSpPr>
        <p:spPr>
          <a:xfrm>
            <a:off x="8034845" y="2330450"/>
            <a:ext cx="3522154" cy="26625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CHOICE-03</a:t>
            </a:r>
          </a:p>
        </p:txBody>
      </p:sp>
      <p:sp>
        <p:nvSpPr>
          <p:cNvPr id="17" name="SDPM::strategy.house::choice_title_2" title="SDPM::strategy.house::choice_title_2" descr="SDPM::strategy.house::choice_title_2"/>
          <p:cNvSpPr txBox="1"/>
          <p:nvPr/>
        </p:nvSpPr>
        <p:spPr>
          <a:xfrm>
            <a:off x="8034845" y="2615755"/>
            <a:ext cx="3522154" cy="53251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500">
                <a:solidFill>
                  <a:srgbClr val="102A3A"/>
                </a:solidFill>
                <a:latin typeface="Yu Gothic UI"/>
              </a:rPr>
              <a:t>Right to win</a:t>
            </a:r>
          </a:p>
        </p:txBody>
      </p:sp>
      <p:sp>
        <p:nvSpPr>
          <p:cNvPr id="18" name="SDPM::strategy.house::choice_body_2" title="SDPM::strategy.house::choice_body_2" descr="SDPM::strategy.house::choice_body_2"/>
          <p:cNvSpPr txBox="1"/>
          <p:nvPr/>
        </p:nvSpPr>
        <p:spPr>
          <a:xfrm>
            <a:off x="8034845" y="3167316"/>
            <a:ext cx="3522154" cy="11030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0758A"/>
                </a:solidFill>
                <a:latin typeface="Yu Gothic UI"/>
              </a:rPr>
              <a:t>現場知見</a:t>
            </a:r>
            <a:r>
              <a:rPr sz="1200">
                <a:solidFill>
                  <a:srgbClr val="60758A"/>
                </a:solidFill>
                <a:latin typeface="Yu Gothic UI"/>
              </a:rPr>
              <a:t>×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利用データ</a:t>
            </a:r>
          </a:p>
        </p:txBody>
      </p:sp>
      <p:sp>
        <p:nvSpPr>
          <p:cNvPr id="19" name="SDPM::strategy.house::initiative_0" title="SDPM::strategy.house::initiative_0" descr="SDPM::strategy.house::initiative_0"/>
          <p:cNvSpPr/>
          <p:nvPr/>
        </p:nvSpPr>
        <p:spPr>
          <a:xfrm>
            <a:off x="635000" y="4333875"/>
            <a:ext cx="3606800" cy="701675"/>
          </a:xfrm>
          <a:prstGeom prst="round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オンボーディング再設計</a:t>
            </a:r>
          </a:p>
        </p:txBody>
      </p:sp>
      <p:sp>
        <p:nvSpPr>
          <p:cNvPr id="20" name="SDPM::strategy.house::initiative_1" title="SDPM::strategy.house::initiative_1" descr="SDPM::strategy.house::initiative_1"/>
          <p:cNvSpPr/>
          <p:nvPr/>
        </p:nvSpPr>
        <p:spPr>
          <a:xfrm>
            <a:off x="4292600" y="4333875"/>
            <a:ext cx="3606800" cy="701675"/>
          </a:xfrm>
          <a:prstGeom prst="round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価格・契約変更</a:t>
            </a:r>
          </a:p>
        </p:txBody>
      </p:sp>
      <p:sp>
        <p:nvSpPr>
          <p:cNvPr id="21" name="SDPM::strategy.house::initiative_2" title="SDPM::strategy.house::initiative_2" descr="SDPM::strategy.house::initiative_2"/>
          <p:cNvSpPr/>
          <p:nvPr/>
        </p:nvSpPr>
        <p:spPr>
          <a:xfrm>
            <a:off x="7950200" y="4333875"/>
            <a:ext cx="3606800" cy="701675"/>
          </a:xfrm>
          <a:prstGeom prst="round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部門展開モデル</a:t>
            </a:r>
          </a:p>
        </p:txBody>
      </p:sp>
      <p:sp>
        <p:nvSpPr>
          <p:cNvPr id="22" name="SDPM::strategy.house::enablers" title="SDPM::strategy.house::enablers" descr="SDPM::strategy.house::enablers"/>
          <p:cNvSpPr/>
          <p:nvPr/>
        </p:nvSpPr>
        <p:spPr>
          <a:xfrm>
            <a:off x="635000" y="5099050"/>
            <a:ext cx="7609840" cy="742950"/>
          </a:xfrm>
          <a:prstGeom prst="roundRect">
            <a:avLst/>
          </a:prstGeom>
          <a:solidFill>
            <a:srgbClr val="E4EEF2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tIns="88900" rIns="88900" bIns="88900"/>
          <a:lstStyle/>
          <a:p>
            <a:pPr algn="l"/>
            <a:r>
              <a:rPr sz="1200">
                <a:solidFill>
                  <a:srgbClr val="102A3A"/>
                </a:solidFill>
                <a:latin typeface="Aptos"/>
              </a:rPr>
              <a:t>ENABLERS  |  CX </a:t>
            </a:r>
            <a:r>
              <a:rPr lang="ja-JP" sz="1200">
                <a:solidFill>
                  <a:srgbClr val="102A3A"/>
                </a:solidFill>
                <a:latin typeface="Yu Gothic UI"/>
              </a:rPr>
              <a:t>人材</a:t>
            </a:r>
            <a:r>
              <a:rPr sz="1200">
                <a:solidFill>
                  <a:srgbClr val="102A3A"/>
                </a:solidFill>
                <a:latin typeface="Aptos"/>
              </a:rPr>
              <a:t> / </a:t>
            </a:r>
            <a:r>
              <a:rPr lang="ja-JP" sz="1200">
                <a:solidFill>
                  <a:srgbClr val="102A3A"/>
                </a:solidFill>
                <a:latin typeface="Yu Gothic UI"/>
              </a:rPr>
              <a:t>顧客データ</a:t>
            </a:r>
            <a:r>
              <a:rPr sz="1200">
                <a:solidFill>
                  <a:srgbClr val="102A3A"/>
                </a:solidFill>
                <a:latin typeface="Aptos"/>
              </a:rPr>
              <a:t> / </a:t>
            </a:r>
            <a:r>
              <a:rPr lang="ja-JP" sz="1200">
                <a:solidFill>
                  <a:srgbClr val="102A3A"/>
                </a:solidFill>
                <a:latin typeface="Yu Gothic UI"/>
              </a:rPr>
              <a:t>ガバナンス</a:t>
            </a:r>
          </a:p>
        </p:txBody>
      </p:sp>
      <p:sp>
        <p:nvSpPr>
          <p:cNvPr id="23" name="SDPM::strategy.house::foundation" title="SDPM::strategy.house::foundation" descr="SDPM::strategy.house::foundation"/>
          <p:cNvSpPr/>
          <p:nvPr/>
        </p:nvSpPr>
        <p:spPr>
          <a:xfrm>
            <a:off x="8295640" y="5099050"/>
            <a:ext cx="3261360" cy="74295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顧客中心文化・収益管理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Technical / Data — composition, typography and reading path are theme-specific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123B52"/>
                </a:solidFill>
                <a:latin typeface="Yu Gothic UI"/>
              </a:rPr>
              <a:t>Issue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strategy.issue_tree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strategy.issue_tree::root" title="SDPM::strategy.issue_tree::root" descr="SDPM::strategy.issue_tree::root"/>
          <p:cNvSpPr/>
          <p:nvPr/>
        </p:nvSpPr>
        <p:spPr>
          <a:xfrm>
            <a:off x="635000" y="3078480"/>
            <a:ext cx="2402840" cy="120904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01600" rIns="101600" bIns="101600"/>
          <a:lstStyle/>
          <a:p>
            <a:pPr algn="ctr"/>
            <a:r>
              <a:rPr lang="ja-JP" sz="1600">
                <a:solidFill>
                  <a:srgbClr val="FFFFFF"/>
                </a:solidFill>
                <a:latin typeface="Yu Gothic UI"/>
              </a:rPr>
              <a:t>利益成長をどう実現するか</a:t>
            </a:r>
          </a:p>
        </p:txBody>
      </p:sp>
      <p:sp>
        <p:nvSpPr>
          <p:cNvPr id="7" name="SDPM::strategy.issue_tree::branch_0" title="SDPM::strategy.issue_tree::branch_0" descr="SDPM::strategy.issue_tree::branch_0"/>
          <p:cNvSpPr/>
          <p:nvPr/>
        </p:nvSpPr>
        <p:spPr>
          <a:xfrm>
            <a:off x="3911600" y="1524000"/>
            <a:ext cx="2414016" cy="1388554"/>
          </a:xfrm>
          <a:prstGeom prst="roundRect">
            <a:avLst/>
          </a:prstGeom>
          <a:solidFill>
            <a:srgbClr val="E4EEF2"/>
          </a:solidFill>
          <a:ln w="19050">
            <a:solidFill>
              <a:srgbClr val="0E8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tIns="88900" rIns="88900" bIns="88900"/>
          <a:lstStyle/>
          <a:p>
            <a:pPr algn="l"/>
            <a:r>
              <a:rPr sz="1300">
                <a:solidFill>
                  <a:srgbClr val="102A3A"/>
                </a:solidFill>
                <a:latin typeface="Aptos"/>
              </a:rPr>
              <a:t>B01  </a:t>
            </a:r>
            <a:r>
              <a:rPr lang="ja-JP" sz="1300">
                <a:solidFill>
                  <a:srgbClr val="102A3A"/>
                </a:solidFill>
                <a:latin typeface="Yu Gothic UI"/>
              </a:rPr>
              <a:t>売上</a:t>
            </a:r>
          </a:p>
        </p:txBody>
      </p:sp>
      <p:cxnSp>
        <p:nvCxnSpPr>
          <p:cNvPr id="8" name="SDPM::strategy.issue_tree::root_link_0" title="SDPM::strategy.issue_tree::root_link_0" descr="SDPM::strategy.issue_tree::root_link_0"/>
          <p:cNvCxnSpPr/>
          <p:nvPr/>
        </p:nvCxnSpPr>
        <p:spPr>
          <a:xfrm flipV="1">
            <a:off x="3037840" y="2218245"/>
            <a:ext cx="873760" cy="1464755"/>
          </a:xfrm>
          <a:prstGeom prst="line">
            <a:avLst/>
          </a:prstGeom>
          <a:ln w="19050">
            <a:solidFill>
              <a:srgbClr val="0E8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DPM::strategy.issue_tree::child_0_0" title="SDPM::strategy.issue_tree::child_0_0" descr="SDPM::strategy.issue_tree::child_0_0"/>
          <p:cNvSpPr/>
          <p:nvPr/>
        </p:nvSpPr>
        <p:spPr>
          <a:xfrm>
            <a:off x="6427216" y="1524000"/>
            <a:ext cx="2539492" cy="13885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L1.1</a:t>
            </a:r>
          </a:p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顧客数</a:t>
            </a:r>
          </a:p>
        </p:txBody>
      </p:sp>
      <p:cxnSp>
        <p:nvCxnSpPr>
          <p:cNvPr id="10" name="SDPM::strategy.issue_tree::branch_link_0_0" title="SDPM::strategy.issue_tree::branch_link_0_0" descr="SDPM::strategy.issue_tree::branch_link_0_0"/>
          <p:cNvCxnSpPr/>
          <p:nvPr/>
        </p:nvCxnSpPr>
        <p:spPr>
          <a:xfrm>
            <a:off x="6325616" y="2218245"/>
            <a:ext cx="1016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strategy.issue_tree::child_0_1" title="SDPM::strategy.issue_tree::child_0_1" descr="SDPM::strategy.issue_tree::child_0_1"/>
          <p:cNvSpPr/>
          <p:nvPr/>
        </p:nvSpPr>
        <p:spPr>
          <a:xfrm>
            <a:off x="9017508" y="1524000"/>
            <a:ext cx="2539492" cy="13885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L1.2</a:t>
            </a:r>
          </a:p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単価</a:t>
            </a:r>
          </a:p>
        </p:txBody>
      </p:sp>
      <p:cxnSp>
        <p:nvCxnSpPr>
          <p:cNvPr id="12" name="SDPM::strategy.issue_tree::branch_link_0_1" title="SDPM::strategy.issue_tree::branch_link_0_1" descr="SDPM::strategy.issue_tree::branch_link_0_1"/>
          <p:cNvCxnSpPr/>
          <p:nvPr/>
        </p:nvCxnSpPr>
        <p:spPr>
          <a:xfrm>
            <a:off x="6325616" y="2218245"/>
            <a:ext cx="2691892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DPM::strategy.issue_tree::branch_1" title="SDPM::strategy.issue_tree::branch_1" descr="SDPM::strategy.issue_tree::branch_1"/>
          <p:cNvSpPr/>
          <p:nvPr/>
        </p:nvSpPr>
        <p:spPr>
          <a:xfrm>
            <a:off x="3911600" y="2988754"/>
            <a:ext cx="2414016" cy="1388554"/>
          </a:xfrm>
          <a:prstGeom prst="roundRect">
            <a:avLst/>
          </a:prstGeom>
          <a:solidFill>
            <a:srgbClr val="E4EEF2"/>
          </a:solidFill>
          <a:ln w="19050">
            <a:solidFill>
              <a:srgbClr val="0E8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tIns="88900" rIns="88900" bIns="88900"/>
          <a:lstStyle/>
          <a:p>
            <a:pPr algn="l"/>
            <a:r>
              <a:rPr sz="1300">
                <a:solidFill>
                  <a:srgbClr val="102A3A"/>
                </a:solidFill>
                <a:latin typeface="Aptos"/>
              </a:rPr>
              <a:t>B02  </a:t>
            </a:r>
            <a:r>
              <a:rPr lang="ja-JP" sz="1300">
                <a:solidFill>
                  <a:srgbClr val="102A3A"/>
                </a:solidFill>
                <a:latin typeface="Yu Gothic UI"/>
              </a:rPr>
              <a:t>粗利</a:t>
            </a:r>
          </a:p>
        </p:txBody>
      </p:sp>
      <p:cxnSp>
        <p:nvCxnSpPr>
          <p:cNvPr id="14" name="SDPM::strategy.issue_tree::root_link_1" title="SDPM::strategy.issue_tree::root_link_1" descr="SDPM::strategy.issue_tree::root_link_1"/>
          <p:cNvCxnSpPr/>
          <p:nvPr/>
        </p:nvCxnSpPr>
        <p:spPr>
          <a:xfrm>
            <a:off x="3037840" y="3683000"/>
            <a:ext cx="873760" cy="0"/>
          </a:xfrm>
          <a:prstGeom prst="line">
            <a:avLst/>
          </a:prstGeom>
          <a:ln w="19050">
            <a:solidFill>
              <a:srgbClr val="0E8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DPM::strategy.issue_tree::child_1_0" title="SDPM::strategy.issue_tree::child_1_0" descr="SDPM::strategy.issue_tree::child_1_0"/>
          <p:cNvSpPr/>
          <p:nvPr/>
        </p:nvSpPr>
        <p:spPr>
          <a:xfrm>
            <a:off x="6427216" y="2988754"/>
            <a:ext cx="2539492" cy="13885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L2.1</a:t>
            </a:r>
          </a:p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商品構成</a:t>
            </a:r>
          </a:p>
        </p:txBody>
      </p:sp>
      <p:cxnSp>
        <p:nvCxnSpPr>
          <p:cNvPr id="16" name="SDPM::strategy.issue_tree::branch_link_1_0" title="SDPM::strategy.issue_tree::branch_link_1_0" descr="SDPM::strategy.issue_tree::branch_link_1_0"/>
          <p:cNvCxnSpPr/>
          <p:nvPr/>
        </p:nvCxnSpPr>
        <p:spPr>
          <a:xfrm>
            <a:off x="6325616" y="3683000"/>
            <a:ext cx="1016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DPM::strategy.issue_tree::child_1_1" title="SDPM::strategy.issue_tree::child_1_1" descr="SDPM::strategy.issue_tree::child_1_1"/>
          <p:cNvSpPr/>
          <p:nvPr/>
        </p:nvSpPr>
        <p:spPr>
          <a:xfrm>
            <a:off x="9017508" y="2988754"/>
            <a:ext cx="2539492" cy="13885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L2.2</a:t>
            </a:r>
          </a:p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原価</a:t>
            </a:r>
          </a:p>
        </p:txBody>
      </p:sp>
      <p:cxnSp>
        <p:nvCxnSpPr>
          <p:cNvPr id="18" name="SDPM::strategy.issue_tree::branch_link_1_1" title="SDPM::strategy.issue_tree::branch_link_1_1" descr="SDPM::strategy.issue_tree::branch_link_1_1"/>
          <p:cNvCxnSpPr/>
          <p:nvPr/>
        </p:nvCxnSpPr>
        <p:spPr>
          <a:xfrm>
            <a:off x="6325616" y="3683000"/>
            <a:ext cx="2691892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DPM::strategy.issue_tree::branch_2" title="SDPM::strategy.issue_tree::branch_2" descr="SDPM::strategy.issue_tree::branch_2"/>
          <p:cNvSpPr/>
          <p:nvPr/>
        </p:nvSpPr>
        <p:spPr>
          <a:xfrm>
            <a:off x="3911600" y="4453445"/>
            <a:ext cx="2414016" cy="1388554"/>
          </a:xfrm>
          <a:prstGeom prst="roundRect">
            <a:avLst/>
          </a:prstGeom>
          <a:solidFill>
            <a:srgbClr val="E4EEF2"/>
          </a:solidFill>
          <a:ln w="19050">
            <a:solidFill>
              <a:srgbClr val="0E8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tIns="88900" rIns="88900" bIns="88900"/>
          <a:lstStyle/>
          <a:p>
            <a:pPr algn="l"/>
            <a:r>
              <a:rPr sz="1300">
                <a:solidFill>
                  <a:srgbClr val="102A3A"/>
                </a:solidFill>
                <a:latin typeface="Aptos"/>
              </a:rPr>
              <a:t>B03  </a:t>
            </a:r>
            <a:r>
              <a:rPr lang="ja-JP" sz="1300">
                <a:solidFill>
                  <a:srgbClr val="102A3A"/>
                </a:solidFill>
                <a:latin typeface="Yu Gothic UI"/>
              </a:rPr>
              <a:t>販管費</a:t>
            </a:r>
          </a:p>
        </p:txBody>
      </p:sp>
      <p:cxnSp>
        <p:nvCxnSpPr>
          <p:cNvPr id="20" name="SDPM::strategy.issue_tree::root_link_2" title="SDPM::strategy.issue_tree::root_link_2" descr="SDPM::strategy.issue_tree::root_link_2"/>
          <p:cNvCxnSpPr/>
          <p:nvPr/>
        </p:nvCxnSpPr>
        <p:spPr>
          <a:xfrm>
            <a:off x="3037840" y="3683000"/>
            <a:ext cx="873760" cy="1464754"/>
          </a:xfrm>
          <a:prstGeom prst="line">
            <a:avLst/>
          </a:prstGeom>
          <a:ln w="19050">
            <a:solidFill>
              <a:srgbClr val="0E8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DPM::strategy.issue_tree::child_2_0" title="SDPM::strategy.issue_tree::child_2_0" descr="SDPM::strategy.issue_tree::child_2_0"/>
          <p:cNvSpPr/>
          <p:nvPr/>
        </p:nvSpPr>
        <p:spPr>
          <a:xfrm>
            <a:off x="6427216" y="4453445"/>
            <a:ext cx="2539492" cy="13885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L3.1</a:t>
            </a:r>
          </a:p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生産性</a:t>
            </a:r>
          </a:p>
        </p:txBody>
      </p:sp>
      <p:cxnSp>
        <p:nvCxnSpPr>
          <p:cNvPr id="22" name="SDPM::strategy.issue_tree::branch_link_2_0" title="SDPM::strategy.issue_tree::branch_link_2_0" descr="SDPM::strategy.issue_tree::branch_link_2_0"/>
          <p:cNvCxnSpPr/>
          <p:nvPr/>
        </p:nvCxnSpPr>
        <p:spPr>
          <a:xfrm>
            <a:off x="6325616" y="5147754"/>
            <a:ext cx="1016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DPM::strategy.issue_tree::child_2_1" title="SDPM::strategy.issue_tree::child_2_1" descr="SDPM::strategy.issue_tree::child_2_1"/>
          <p:cNvSpPr/>
          <p:nvPr/>
        </p:nvSpPr>
        <p:spPr>
          <a:xfrm>
            <a:off x="9017508" y="4453445"/>
            <a:ext cx="2539492" cy="13885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L3.2</a:t>
            </a:r>
          </a:p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固定費</a:t>
            </a:r>
          </a:p>
        </p:txBody>
      </p:sp>
      <p:cxnSp>
        <p:nvCxnSpPr>
          <p:cNvPr id="24" name="SDPM::strategy.issue_tree::branch_link_2_1" title="SDPM::strategy.issue_tree::branch_link_2_1" descr="SDPM::strategy.issue_tree::branch_link_2_1"/>
          <p:cNvCxnSpPr/>
          <p:nvPr/>
        </p:nvCxnSpPr>
        <p:spPr>
          <a:xfrm>
            <a:off x="6325616" y="5147754"/>
            <a:ext cx="2691892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Technical / Data — composition, typography and reading path are theme-specific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123B52"/>
                </a:solidFill>
                <a:latin typeface="Yu Gothic UI"/>
              </a:rPr>
              <a:t>Portfolio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strategy.portfolio_matrix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DPM::strategy.portfolio_matrix::vgrid_0" title="SDPM::strategy.portfolio_matrix::vgrid_0" descr="SDPM::strategy.portfolio_matrix::vgrid_0"/>
          <p:cNvCxnSpPr/>
          <p:nvPr/>
        </p:nvCxnSpPr>
        <p:spPr>
          <a:xfrm>
            <a:off x="965200" y="1638300"/>
            <a:ext cx="0" cy="389890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DPM::strategy.portfolio_matrix::hgrid_0" title="SDPM::strategy.portfolio_matrix::hgrid_0" descr="SDPM::strategy.portfolio_matrix::hgrid_0"/>
          <p:cNvCxnSpPr/>
          <p:nvPr/>
        </p:nvCxnSpPr>
        <p:spPr>
          <a:xfrm>
            <a:off x="965200" y="1638300"/>
            <a:ext cx="7870571" cy="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DPM::strategy.portfolio_matrix::vgrid_1" title="SDPM::strategy.portfolio_matrix::vgrid_1" descr="SDPM::strategy.portfolio_matrix::vgrid_1"/>
          <p:cNvCxnSpPr/>
          <p:nvPr/>
        </p:nvCxnSpPr>
        <p:spPr>
          <a:xfrm>
            <a:off x="2539301" y="1638300"/>
            <a:ext cx="0" cy="389890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DPM::strategy.portfolio_matrix::hgrid_1" title="SDPM::strategy.portfolio_matrix::hgrid_1" descr="SDPM::strategy.portfolio_matrix::hgrid_1"/>
          <p:cNvCxnSpPr/>
          <p:nvPr/>
        </p:nvCxnSpPr>
        <p:spPr>
          <a:xfrm>
            <a:off x="965200" y="2418080"/>
            <a:ext cx="7870571" cy="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DPM::strategy.portfolio_matrix::vgrid_2" title="SDPM::strategy.portfolio_matrix::vgrid_2" descr="SDPM::strategy.portfolio_matrix::vgrid_2"/>
          <p:cNvCxnSpPr/>
          <p:nvPr/>
        </p:nvCxnSpPr>
        <p:spPr>
          <a:xfrm>
            <a:off x="4113403" y="1638300"/>
            <a:ext cx="0" cy="389890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DPM::strategy.portfolio_matrix::hgrid_2" title="SDPM::strategy.portfolio_matrix::hgrid_2" descr="SDPM::strategy.portfolio_matrix::hgrid_2"/>
          <p:cNvCxnSpPr/>
          <p:nvPr/>
        </p:nvCxnSpPr>
        <p:spPr>
          <a:xfrm>
            <a:off x="965200" y="3197860"/>
            <a:ext cx="7870571" cy="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DPM::strategy.portfolio_matrix::vgrid_3" title="SDPM::strategy.portfolio_matrix::vgrid_3" descr="SDPM::strategy.portfolio_matrix::vgrid_3"/>
          <p:cNvCxnSpPr/>
          <p:nvPr/>
        </p:nvCxnSpPr>
        <p:spPr>
          <a:xfrm>
            <a:off x="5687568" y="1638300"/>
            <a:ext cx="0" cy="389890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DPM::strategy.portfolio_matrix::hgrid_3" title="SDPM::strategy.portfolio_matrix::hgrid_3" descr="SDPM::strategy.portfolio_matrix::hgrid_3"/>
          <p:cNvCxnSpPr/>
          <p:nvPr/>
        </p:nvCxnSpPr>
        <p:spPr>
          <a:xfrm>
            <a:off x="965200" y="3977640"/>
            <a:ext cx="7870571" cy="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DPM::strategy.portfolio_matrix::vgrid_4" title="SDPM::strategy.portfolio_matrix::vgrid_4" descr="SDPM::strategy.portfolio_matrix::vgrid_4"/>
          <p:cNvCxnSpPr/>
          <p:nvPr/>
        </p:nvCxnSpPr>
        <p:spPr>
          <a:xfrm>
            <a:off x="7261669" y="1638300"/>
            <a:ext cx="0" cy="389890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DPM::strategy.portfolio_matrix::hgrid_4" title="SDPM::strategy.portfolio_matrix::hgrid_4" descr="SDPM::strategy.portfolio_matrix::hgrid_4"/>
          <p:cNvCxnSpPr/>
          <p:nvPr/>
        </p:nvCxnSpPr>
        <p:spPr>
          <a:xfrm>
            <a:off x="965200" y="4757420"/>
            <a:ext cx="7870571" cy="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DPM::strategy.portfolio_matrix::vgrid_5" title="SDPM::strategy.portfolio_matrix::vgrid_5" descr="SDPM::strategy.portfolio_matrix::vgrid_5"/>
          <p:cNvCxnSpPr/>
          <p:nvPr/>
        </p:nvCxnSpPr>
        <p:spPr>
          <a:xfrm>
            <a:off x="8835771" y="1638300"/>
            <a:ext cx="0" cy="389890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DPM::strategy.portfolio_matrix::hgrid_5" title="SDPM::strategy.portfolio_matrix::hgrid_5" descr="SDPM::strategy.portfolio_matrix::hgrid_5"/>
          <p:cNvCxnSpPr/>
          <p:nvPr/>
        </p:nvCxnSpPr>
        <p:spPr>
          <a:xfrm>
            <a:off x="965200" y="5537200"/>
            <a:ext cx="7870571" cy="0"/>
          </a:xfrm>
          <a:prstGeom prst="line">
            <a:avLst/>
          </a:prstGeom>
          <a:ln w="762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DPM::strategy.portfolio_matrix::x_axis" title="SDPM::strategy.portfolio_matrix::x_axis" descr="SDPM::strategy.portfolio_matrix::x_axis"/>
          <p:cNvCxnSpPr/>
          <p:nvPr/>
        </p:nvCxnSpPr>
        <p:spPr>
          <a:xfrm>
            <a:off x="965200" y="5537200"/>
            <a:ext cx="7870571" cy="0"/>
          </a:xfrm>
          <a:prstGeom prst="line">
            <a:avLst/>
          </a:prstGeom>
          <a:ln w="25400">
            <a:solidFill>
              <a:srgbClr val="123B5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DPM::strategy.portfolio_matrix::y_axis" title="SDPM::strategy.portfolio_matrix::y_axis" descr="SDPM::strategy.portfolio_matrix::y_axis"/>
          <p:cNvCxnSpPr/>
          <p:nvPr/>
        </p:nvCxnSpPr>
        <p:spPr>
          <a:xfrm flipV="1">
            <a:off x="965200" y="1638300"/>
            <a:ext cx="0" cy="3898900"/>
          </a:xfrm>
          <a:prstGeom prst="line">
            <a:avLst/>
          </a:prstGeom>
          <a:ln w="25400">
            <a:solidFill>
              <a:srgbClr val="123B5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DPM::strategy.portfolio_matrix::item_0" title="SDPM::strategy.portfolio_matrix::item_0" descr="SDPM::strategy.portfolio_matrix::item_0"/>
          <p:cNvSpPr/>
          <p:nvPr/>
        </p:nvSpPr>
        <p:spPr>
          <a:xfrm>
            <a:off x="6882003" y="2117852"/>
            <a:ext cx="444500" cy="444500"/>
          </a:xfrm>
          <a:prstGeom prst="ellipse">
            <a:avLst/>
          </a:prstGeom>
          <a:solidFill>
            <a:srgbClr val="0E8A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オンボーディング</a:t>
            </a:r>
          </a:p>
        </p:txBody>
      </p:sp>
      <p:sp>
        <p:nvSpPr>
          <p:cNvPr id="21" name="SDPM::strategy.portfolio_matrix::item_1" title="SDPM::strategy.portfolio_matrix::item_1" descr="SDPM::strategy.portfolio_matrix::item_1"/>
          <p:cNvSpPr/>
          <p:nvPr/>
        </p:nvSpPr>
        <p:spPr>
          <a:xfrm>
            <a:off x="5122545" y="2402586"/>
            <a:ext cx="342900" cy="342900"/>
          </a:xfrm>
          <a:prstGeom prst="ellipse">
            <a:avLst/>
          </a:prstGeom>
          <a:solidFill>
            <a:srgbClr val="4169A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価格・契約</a:t>
            </a:r>
          </a:p>
        </p:txBody>
      </p:sp>
      <p:sp>
        <p:nvSpPr>
          <p:cNvPr id="22" name="SDPM::strategy.portfolio_matrix::item_2" title="SDPM::strategy.portfolio_matrix::item_2" descr="SDPM::strategy.portfolio_matrix::item_2"/>
          <p:cNvSpPr/>
          <p:nvPr/>
        </p:nvSpPr>
        <p:spPr>
          <a:xfrm>
            <a:off x="4112069" y="2727198"/>
            <a:ext cx="317500" cy="317500"/>
          </a:xfrm>
          <a:prstGeom prst="ellipse">
            <a:avLst/>
          </a:prstGeom>
          <a:solidFill>
            <a:srgbClr val="4169A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顧客データ</a:t>
            </a:r>
          </a:p>
        </p:txBody>
      </p:sp>
      <p:sp>
        <p:nvSpPr>
          <p:cNvPr id="23" name="SDPM::strategy.portfolio_matrix::item_3" title="SDPM::strategy.portfolio_matrix::item_3" descr="SDPM::strategy.portfolio_matrix::item_3"/>
          <p:cNvSpPr/>
          <p:nvPr/>
        </p:nvSpPr>
        <p:spPr>
          <a:xfrm>
            <a:off x="3048317" y="4051935"/>
            <a:ext cx="241300" cy="241300"/>
          </a:xfrm>
          <a:prstGeom prst="ellipse">
            <a:avLst/>
          </a:prstGeom>
          <a:solidFill>
            <a:srgbClr val="4169A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新規市場</a:t>
            </a:r>
          </a:p>
        </p:txBody>
      </p:sp>
      <p:sp>
        <p:nvSpPr>
          <p:cNvPr id="24" name="SDPM::strategy.portfolio_matrix::x_label" title="SDPM::strategy.portfolio_matrix::x_label" descr="SDPM::strategy.portfolio_matrix::x_label"/>
          <p:cNvSpPr txBox="1"/>
          <p:nvPr/>
        </p:nvSpPr>
        <p:spPr>
          <a:xfrm>
            <a:off x="965200" y="5638800"/>
            <a:ext cx="7870571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lang="ja-JP" sz="1200">
                <a:solidFill>
                  <a:srgbClr val="60758A"/>
                </a:solidFill>
                <a:latin typeface="Yu Gothic UI"/>
              </a:rPr>
              <a:t>実行容易性</a:t>
            </a:r>
          </a:p>
        </p:txBody>
      </p:sp>
      <p:sp>
        <p:nvSpPr>
          <p:cNvPr id="25" name="SDPM::strategy.portfolio_matrix::y_label" title="SDPM::strategy.portfolio_matrix::y_label" descr="SDPM::strategy.portfolio_matrix::y_label"/>
          <p:cNvSpPr txBox="1"/>
          <p:nvPr/>
        </p:nvSpPr>
        <p:spPr>
          <a:xfrm rot="16200000">
            <a:off x="635000" y="1638300"/>
            <a:ext cx="177800" cy="38989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60758A"/>
                </a:solidFill>
                <a:latin typeface="Yu Gothic UI"/>
              </a:rPr>
              <a:t>利益インパクト</a:t>
            </a:r>
          </a:p>
        </p:txBody>
      </p:sp>
      <p:sp>
        <p:nvSpPr>
          <p:cNvPr id="26" name="SDPM::strategy.portfolio_matrix::score_bg" title="SDPM::strategy.portfolio_matrix::score_bg" descr="SDPM::strategy.portfolio_matrix::score_bg"/>
          <p:cNvSpPr/>
          <p:nvPr/>
        </p:nvSpPr>
        <p:spPr>
          <a:xfrm>
            <a:off x="9077071" y="1524000"/>
            <a:ext cx="2479929" cy="4318000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DPM::strategy.portfolio_matrix::score_head" title="SDPM::strategy.portfolio_matrix::score_head" descr="SDPM::strategy.portfolio_matrix::score_head"/>
          <p:cNvSpPr txBox="1"/>
          <p:nvPr/>
        </p:nvSpPr>
        <p:spPr>
          <a:xfrm>
            <a:off x="9165971" y="1600200"/>
            <a:ext cx="2302129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PRIORITY SCORE</a:t>
            </a:r>
          </a:p>
        </p:txBody>
      </p:sp>
      <p:sp>
        <p:nvSpPr>
          <p:cNvPr id="28" name="SDPM::strategy.portfolio_matrix::score_label_0" title="SDPM::strategy.portfolio_matrix::score_label_0" descr="SDPM::strategy.portfolio_matrix::score_label_0"/>
          <p:cNvSpPr txBox="1"/>
          <p:nvPr/>
        </p:nvSpPr>
        <p:spPr>
          <a:xfrm>
            <a:off x="9165971" y="1841500"/>
            <a:ext cx="1381252" cy="954087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102A3A"/>
                </a:solidFill>
                <a:latin typeface="Yu Gothic UI"/>
              </a:rPr>
              <a:t>オンボーディング</a:t>
            </a:r>
          </a:p>
        </p:txBody>
      </p:sp>
      <p:sp>
        <p:nvSpPr>
          <p:cNvPr id="29" name="SDPM::strategy.portfolio_matrix::score_0" title="SDPM::strategy.portfolio_matrix::score_0" descr="SDPM::strategy.portfolio_matrix::score_0"/>
          <p:cNvSpPr txBox="1"/>
          <p:nvPr/>
        </p:nvSpPr>
        <p:spPr>
          <a:xfrm>
            <a:off x="10593260" y="1841500"/>
            <a:ext cx="874839" cy="954087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0E8AA6"/>
                </a:solidFill>
                <a:latin typeface="Yu Gothic UI"/>
              </a:rPr>
              <a:t>64</a:t>
            </a:r>
          </a:p>
        </p:txBody>
      </p:sp>
      <p:sp>
        <p:nvSpPr>
          <p:cNvPr id="30" name="SDPM::strategy.portfolio_matrix::score_label_1" title="SDPM::strategy.portfolio_matrix::score_label_1" descr="SDPM::strategy.portfolio_matrix::score_label_1"/>
          <p:cNvSpPr txBox="1"/>
          <p:nvPr/>
        </p:nvSpPr>
        <p:spPr>
          <a:xfrm>
            <a:off x="9165971" y="2827337"/>
            <a:ext cx="1381252" cy="954087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102A3A"/>
                </a:solidFill>
                <a:latin typeface="Yu Gothic UI"/>
              </a:rPr>
              <a:t>価格・契約</a:t>
            </a:r>
          </a:p>
        </p:txBody>
      </p:sp>
      <p:sp>
        <p:nvSpPr>
          <p:cNvPr id="31" name="SDPM::strategy.portfolio_matrix::score_1" title="SDPM::strategy.portfolio_matrix::score_1" descr="SDPM::strategy.portfolio_matrix::score_1"/>
          <p:cNvSpPr txBox="1"/>
          <p:nvPr/>
        </p:nvSpPr>
        <p:spPr>
          <a:xfrm>
            <a:off x="10593260" y="2827337"/>
            <a:ext cx="874839" cy="954087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0E8AA6"/>
                </a:solidFill>
                <a:latin typeface="Yu Gothic UI"/>
              </a:rPr>
              <a:t>42</a:t>
            </a:r>
          </a:p>
        </p:txBody>
      </p:sp>
      <p:sp>
        <p:nvSpPr>
          <p:cNvPr id="32" name="SDPM::strategy.portfolio_matrix::score_label_2" title="SDPM::strategy.portfolio_matrix::score_label_2" descr="SDPM::strategy.portfolio_matrix::score_label_2"/>
          <p:cNvSpPr txBox="1"/>
          <p:nvPr/>
        </p:nvSpPr>
        <p:spPr>
          <a:xfrm>
            <a:off x="9165971" y="3813175"/>
            <a:ext cx="1381252" cy="954087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102A3A"/>
                </a:solidFill>
                <a:latin typeface="Yu Gothic UI"/>
              </a:rPr>
              <a:t>顧客データ</a:t>
            </a:r>
          </a:p>
        </p:txBody>
      </p:sp>
      <p:sp>
        <p:nvSpPr>
          <p:cNvPr id="33" name="SDPM::strategy.portfolio_matrix::score_2" title="SDPM::strategy.portfolio_matrix::score_2" descr="SDPM::strategy.portfolio_matrix::score_2"/>
          <p:cNvSpPr txBox="1"/>
          <p:nvPr/>
        </p:nvSpPr>
        <p:spPr>
          <a:xfrm>
            <a:off x="10593260" y="3813175"/>
            <a:ext cx="874839" cy="954087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0E8AA6"/>
                </a:solidFill>
                <a:latin typeface="Yu Gothic UI"/>
              </a:rPr>
              <a:t>29</a:t>
            </a:r>
          </a:p>
        </p:txBody>
      </p:sp>
      <p:sp>
        <p:nvSpPr>
          <p:cNvPr id="34" name="SDPM::strategy.portfolio_matrix::score_label_3" title="SDPM::strategy.portfolio_matrix::score_label_3" descr="SDPM::strategy.portfolio_matrix::score_label_3"/>
          <p:cNvSpPr txBox="1"/>
          <p:nvPr/>
        </p:nvSpPr>
        <p:spPr>
          <a:xfrm>
            <a:off x="9165971" y="4799012"/>
            <a:ext cx="1381252" cy="954087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102A3A"/>
                </a:solidFill>
                <a:latin typeface="Yu Gothic UI"/>
              </a:rPr>
              <a:t>新規市場</a:t>
            </a:r>
          </a:p>
        </p:txBody>
      </p:sp>
      <p:sp>
        <p:nvSpPr>
          <p:cNvPr id="35" name="SDPM::strategy.portfolio_matrix::score_3" title="SDPM::strategy.portfolio_matrix::score_3" descr="SDPM::strategy.portfolio_matrix::score_3"/>
          <p:cNvSpPr txBox="1"/>
          <p:nvPr/>
        </p:nvSpPr>
        <p:spPr>
          <a:xfrm>
            <a:off x="10593260" y="4799012"/>
            <a:ext cx="874839" cy="954087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0E8AA6"/>
                </a:solidFill>
                <a:latin typeface="Yu Gothic UI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Technical / Data — composition, typography and reading path are theme-specific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123B52"/>
                </a:solidFill>
                <a:latin typeface="Yu Gothic UI"/>
              </a:rPr>
              <a:t>Capability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strategy.capability_map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strategy.capability_map::head_cap" title="SDPM::strategy.capability_map::head_cap" descr="SDPM::strategy.capability_map::head_cap"/>
          <p:cNvSpPr/>
          <p:nvPr/>
        </p:nvSpPr>
        <p:spPr>
          <a:xfrm>
            <a:off x="635000" y="1524000"/>
            <a:ext cx="1965960" cy="56134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CAPABILITY</a:t>
            </a:r>
          </a:p>
        </p:txBody>
      </p:sp>
      <p:sp>
        <p:nvSpPr>
          <p:cNvPr id="7" name="SDPM::strategy.capability_map::head_0" title="SDPM::strategy.capability_map::head_0" descr="SDPM::strategy.capability_map::head_0"/>
          <p:cNvSpPr/>
          <p:nvPr/>
        </p:nvSpPr>
        <p:spPr>
          <a:xfrm>
            <a:off x="2600960" y="1524000"/>
            <a:ext cx="2972625" cy="56134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C01</a:t>
            </a:r>
          </a:p>
        </p:txBody>
      </p:sp>
      <p:sp>
        <p:nvSpPr>
          <p:cNvPr id="8" name="SDPM::strategy.capability_map::head_1" title="SDPM::strategy.capability_map::head_1" descr="SDPM::strategy.capability_map::head_1"/>
          <p:cNvSpPr/>
          <p:nvPr/>
        </p:nvSpPr>
        <p:spPr>
          <a:xfrm>
            <a:off x="5592635" y="1524000"/>
            <a:ext cx="2972625" cy="56134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C02</a:t>
            </a:r>
          </a:p>
        </p:txBody>
      </p:sp>
      <p:sp>
        <p:nvSpPr>
          <p:cNvPr id="9" name="SDPM::strategy.capability_map::head_2" title="SDPM::strategy.capability_map::head_2" descr="SDPM::strategy.capability_map::head_2"/>
          <p:cNvSpPr/>
          <p:nvPr/>
        </p:nvSpPr>
        <p:spPr>
          <a:xfrm>
            <a:off x="8584374" y="1524000"/>
            <a:ext cx="2972625" cy="56134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C03</a:t>
            </a:r>
          </a:p>
        </p:txBody>
      </p:sp>
      <p:sp>
        <p:nvSpPr>
          <p:cNvPr id="10" name="SDPM::strategy.capability_map::group_0" title="SDPM::strategy.capability_map::group_0" descr="SDPM::strategy.capability_map::group_0"/>
          <p:cNvSpPr/>
          <p:nvPr/>
        </p:nvSpPr>
        <p:spPr>
          <a:xfrm>
            <a:off x="635000" y="2110740"/>
            <a:ext cx="1965960" cy="1226820"/>
          </a:xfrm>
          <a:prstGeom prst="roundRect">
            <a:avLst/>
          </a:prstGeom>
          <a:solidFill>
            <a:srgbClr val="E4EEF2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76200" rIns="76200" bIns="76200"/>
          <a:lstStyle/>
          <a:p>
            <a:pPr algn="l"/>
            <a:r>
              <a:rPr lang="ja-JP" sz="1200">
                <a:solidFill>
                  <a:srgbClr val="102A3A"/>
                </a:solidFill>
                <a:latin typeface="Yu Gothic UI"/>
              </a:rPr>
              <a:t>顧客</a:t>
            </a:r>
          </a:p>
        </p:txBody>
      </p:sp>
      <p:sp>
        <p:nvSpPr>
          <p:cNvPr id="11" name="SDPM::strategy.capability_map::cell_0_0" title="SDPM::strategy.capability_map::cell_0_0" descr="SDPM::strategy.capability_map::cell_0_0"/>
          <p:cNvSpPr/>
          <p:nvPr/>
        </p:nvSpPr>
        <p:spPr>
          <a:xfrm>
            <a:off x="2600960" y="2110740"/>
            <a:ext cx="2972625" cy="1226820"/>
          </a:xfrm>
          <a:prstGeom prst="roundRect">
            <a:avLst/>
          </a:prstGeom>
          <a:solidFill>
            <a:srgbClr val="C97A24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顧客洞察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M2</a:t>
            </a:r>
          </a:p>
        </p:txBody>
      </p:sp>
      <p:sp>
        <p:nvSpPr>
          <p:cNvPr id="12" name="SDPM::strategy.capability_map::cell_0_1" title="SDPM::strategy.capability_map::cell_0_1" descr="SDPM::strategy.capability_map::cell_0_1"/>
          <p:cNvSpPr/>
          <p:nvPr/>
        </p:nvSpPr>
        <p:spPr>
          <a:xfrm>
            <a:off x="5592635" y="2110740"/>
            <a:ext cx="2972625" cy="1226820"/>
          </a:xfrm>
          <a:prstGeom prst="roundRect">
            <a:avLst/>
          </a:prstGeom>
          <a:solidFill>
            <a:srgbClr val="D45F67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成果設計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M1</a:t>
            </a:r>
          </a:p>
        </p:txBody>
      </p:sp>
      <p:sp>
        <p:nvSpPr>
          <p:cNvPr id="13" name="SDPM::strategy.capability_map::cell_0_2" title="SDPM::strategy.capability_map::cell_0_2" descr="SDPM::strategy.capability_map::cell_0_2"/>
          <p:cNvSpPr/>
          <p:nvPr/>
        </p:nvSpPr>
        <p:spPr>
          <a:xfrm>
            <a:off x="8584374" y="2110740"/>
            <a:ext cx="2972625" cy="1226820"/>
          </a:xfrm>
          <a:prstGeom prst="roundRect">
            <a:avLst/>
          </a:prstGeom>
          <a:solidFill>
            <a:srgbClr val="C97A24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CX </a:t>
            </a:r>
            <a:r>
              <a:rPr lang="ja-JP" sz="1200">
                <a:solidFill>
                  <a:srgbClr val="102A3A"/>
                </a:solidFill>
                <a:latin typeface="Yu Gothic UI"/>
              </a:rPr>
              <a:t>運用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M2</a:t>
            </a:r>
          </a:p>
        </p:txBody>
      </p:sp>
      <p:sp>
        <p:nvSpPr>
          <p:cNvPr id="14" name="SDPM::strategy.capability_map::group_1" title="SDPM::strategy.capability_map::group_1" descr="SDPM::strategy.capability_map::group_1"/>
          <p:cNvSpPr/>
          <p:nvPr/>
        </p:nvSpPr>
        <p:spPr>
          <a:xfrm>
            <a:off x="635000" y="3362960"/>
            <a:ext cx="1965960" cy="1226820"/>
          </a:xfrm>
          <a:prstGeom prst="roundRect">
            <a:avLst/>
          </a:prstGeom>
          <a:solidFill>
            <a:srgbClr val="E4EEF2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76200" rIns="76200" bIns="76200"/>
          <a:lstStyle/>
          <a:p>
            <a:pPr algn="l"/>
            <a:r>
              <a:rPr lang="ja-JP" sz="1200">
                <a:solidFill>
                  <a:srgbClr val="102A3A"/>
                </a:solidFill>
                <a:latin typeface="Yu Gothic UI"/>
              </a:rPr>
              <a:t>商業</a:t>
            </a:r>
          </a:p>
        </p:txBody>
      </p:sp>
      <p:sp>
        <p:nvSpPr>
          <p:cNvPr id="15" name="SDPM::strategy.capability_map::cell_1_0" title="SDPM::strategy.capability_map::cell_1_0" descr="SDPM::strategy.capability_map::cell_1_0"/>
          <p:cNvSpPr/>
          <p:nvPr/>
        </p:nvSpPr>
        <p:spPr>
          <a:xfrm>
            <a:off x="2600960" y="3362960"/>
            <a:ext cx="2972625" cy="1226820"/>
          </a:xfrm>
          <a:prstGeom prst="roundRect">
            <a:avLst/>
          </a:prstGeom>
          <a:solidFill>
            <a:srgbClr val="C97A24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提案営業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M2</a:t>
            </a:r>
          </a:p>
        </p:txBody>
      </p:sp>
      <p:sp>
        <p:nvSpPr>
          <p:cNvPr id="16" name="SDPM::strategy.capability_map::cell_1_1" title="SDPM::strategy.capability_map::cell_1_1" descr="SDPM::strategy.capability_map::cell_1_1"/>
          <p:cNvSpPr/>
          <p:nvPr/>
        </p:nvSpPr>
        <p:spPr>
          <a:xfrm>
            <a:off x="5592635" y="3362960"/>
            <a:ext cx="2972625" cy="1226820"/>
          </a:xfrm>
          <a:prstGeom prst="roundRect">
            <a:avLst/>
          </a:prstGeom>
          <a:solidFill>
            <a:srgbClr val="D45F67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価格設計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M1</a:t>
            </a:r>
          </a:p>
        </p:txBody>
      </p:sp>
      <p:sp>
        <p:nvSpPr>
          <p:cNvPr id="17" name="SDPM::strategy.capability_map::cell_1_2" title="SDPM::strategy.capability_map::cell_1_2" descr="SDPM::strategy.capability_map::cell_1_2"/>
          <p:cNvSpPr/>
          <p:nvPr/>
        </p:nvSpPr>
        <p:spPr>
          <a:xfrm>
            <a:off x="8584374" y="3362960"/>
            <a:ext cx="2972625" cy="1226820"/>
          </a:xfrm>
          <a:prstGeom prst="roundRect">
            <a:avLst/>
          </a:prstGeom>
          <a:solidFill>
            <a:srgbClr val="C97A24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部門展開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M2</a:t>
            </a:r>
          </a:p>
        </p:txBody>
      </p:sp>
      <p:sp>
        <p:nvSpPr>
          <p:cNvPr id="18" name="SDPM::strategy.capability_map::group_2" title="SDPM::strategy.capability_map::group_2" descr="SDPM::strategy.capability_map::group_2"/>
          <p:cNvSpPr/>
          <p:nvPr/>
        </p:nvSpPr>
        <p:spPr>
          <a:xfrm>
            <a:off x="635000" y="4615180"/>
            <a:ext cx="1965960" cy="1226820"/>
          </a:xfrm>
          <a:prstGeom prst="roundRect">
            <a:avLst/>
          </a:prstGeom>
          <a:solidFill>
            <a:srgbClr val="E4EEF2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76200" rIns="76200" bIns="76200"/>
          <a:lstStyle/>
          <a:p>
            <a:pPr algn="l"/>
            <a:r>
              <a:rPr lang="ja-JP" sz="1200">
                <a:solidFill>
                  <a:srgbClr val="102A3A"/>
                </a:solidFill>
                <a:latin typeface="Yu Gothic UI"/>
              </a:rPr>
              <a:t>基盤</a:t>
            </a:r>
          </a:p>
        </p:txBody>
      </p:sp>
      <p:sp>
        <p:nvSpPr>
          <p:cNvPr id="19" name="SDPM::strategy.capability_map::cell_2_0" title="SDPM::strategy.capability_map::cell_2_0" descr="SDPM::strategy.capability_map::cell_2_0"/>
          <p:cNvSpPr/>
          <p:nvPr/>
        </p:nvSpPr>
        <p:spPr>
          <a:xfrm>
            <a:off x="2600960" y="4615180"/>
            <a:ext cx="2972625" cy="1226820"/>
          </a:xfrm>
          <a:prstGeom prst="roundRect">
            <a:avLst/>
          </a:prstGeom>
          <a:solidFill>
            <a:srgbClr val="D45F67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利用データ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M1</a:t>
            </a:r>
          </a:p>
        </p:txBody>
      </p:sp>
      <p:sp>
        <p:nvSpPr>
          <p:cNvPr id="20" name="SDPM::strategy.capability_map::cell_2_1" title="SDPM::strategy.capability_map::cell_2_1" descr="SDPM::strategy.capability_map::cell_2_1"/>
          <p:cNvSpPr/>
          <p:nvPr/>
        </p:nvSpPr>
        <p:spPr>
          <a:xfrm>
            <a:off x="5592635" y="4615180"/>
            <a:ext cx="2972625" cy="1226820"/>
          </a:xfrm>
          <a:prstGeom prst="roundRect">
            <a:avLst/>
          </a:prstGeom>
          <a:solidFill>
            <a:srgbClr val="C97A24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人材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M2</a:t>
            </a:r>
          </a:p>
        </p:txBody>
      </p:sp>
      <p:sp>
        <p:nvSpPr>
          <p:cNvPr id="21" name="SDPM::strategy.capability_map::cell_2_2" title="SDPM::strategy.capability_map::cell_2_2" descr="SDPM::strategy.capability_map::cell_2_2"/>
          <p:cNvSpPr/>
          <p:nvPr/>
        </p:nvSpPr>
        <p:spPr>
          <a:xfrm>
            <a:off x="8584374" y="4615180"/>
            <a:ext cx="2972625" cy="1226820"/>
          </a:xfrm>
          <a:prstGeom prst="roundRect">
            <a:avLst/>
          </a:prstGeom>
          <a:solidFill>
            <a:srgbClr val="C97A24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ガバナンス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M2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Technical / Data — composition, typography and reading path are theme-specific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123B52"/>
                </a:solidFill>
                <a:latin typeface="Yu Gothic UI"/>
              </a:rPr>
              <a:t>Value Driver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strategy.value_driver_tree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strategy.value_driver_tree::root" title="SDPM::strategy.value_driver_tree::root" descr="SDPM::strategy.value_driver_tree::root"/>
          <p:cNvSpPr/>
          <p:nvPr/>
        </p:nvSpPr>
        <p:spPr>
          <a:xfrm>
            <a:off x="635000" y="3164840"/>
            <a:ext cx="2184400" cy="1036319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600">
                <a:solidFill>
                  <a:srgbClr val="FFFFFF"/>
                </a:solidFill>
                <a:latin typeface="Yu Gothic UI"/>
              </a:rPr>
              <a:t>営業利益</a:t>
            </a:r>
            <a:r>
              <a:rPr sz="1600">
                <a:solidFill>
                  <a:srgbClr val="FFFFFF"/>
                </a:solidFill>
                <a:latin typeface="Aptos"/>
              </a:rPr>
              <a:t> +10%</a:t>
            </a:r>
          </a:p>
        </p:txBody>
      </p:sp>
      <p:sp>
        <p:nvSpPr>
          <p:cNvPr id="7" name="SDPM::strategy.value_driver_tree::driver_0" title="SDPM::strategy.value_driver_tree::driver_0" descr="SDPM::strategy.value_driver_tree::driver_0"/>
          <p:cNvSpPr/>
          <p:nvPr/>
        </p:nvSpPr>
        <p:spPr>
          <a:xfrm>
            <a:off x="3693160" y="1524000"/>
            <a:ext cx="2721229" cy="1380045"/>
          </a:xfrm>
          <a:prstGeom prst="roundRect">
            <a:avLst/>
          </a:prstGeom>
          <a:solidFill>
            <a:srgbClr val="E4EEF2"/>
          </a:solidFill>
          <a:ln w="19050">
            <a:solidFill>
              <a:srgbClr val="0E8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300">
                <a:solidFill>
                  <a:srgbClr val="102A3A"/>
                </a:solidFill>
                <a:latin typeface="Aptos"/>
              </a:rPr>
              <a:t>D01</a:t>
            </a:r>
          </a:p>
          <a:p>
            <a:pPr algn="ctr"/>
            <a:r>
              <a:rPr lang="ja-JP" sz="1300">
                <a:solidFill>
                  <a:srgbClr val="102A3A"/>
                </a:solidFill>
                <a:latin typeface="Yu Gothic UI"/>
              </a:rPr>
              <a:t>売上</a:t>
            </a:r>
            <a:r>
              <a:rPr sz="1300">
                <a:solidFill>
                  <a:srgbClr val="102A3A"/>
                </a:solidFill>
                <a:latin typeface="Aptos"/>
              </a:rPr>
              <a:t> +8%</a:t>
            </a:r>
          </a:p>
        </p:txBody>
      </p:sp>
      <p:cxnSp>
        <p:nvCxnSpPr>
          <p:cNvPr id="8" name="SDPM::strategy.value_driver_tree::root_link_0" title="SDPM::strategy.value_driver_tree::root_link_0" descr="SDPM::strategy.value_driver_tree::root_link_0"/>
          <p:cNvCxnSpPr/>
          <p:nvPr/>
        </p:nvCxnSpPr>
        <p:spPr>
          <a:xfrm flipV="1">
            <a:off x="2819400" y="2214054"/>
            <a:ext cx="873760" cy="1468946"/>
          </a:xfrm>
          <a:prstGeom prst="line">
            <a:avLst/>
          </a:prstGeom>
          <a:ln w="19050">
            <a:solidFill>
              <a:srgbClr val="0E8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DPM::strategy.value_driver_tree::sub_0_0" title="SDPM::strategy.value_driver_tree::sub_0_0" descr="SDPM::strategy.value_driver_tree::sub_0_0"/>
          <p:cNvSpPr/>
          <p:nvPr/>
        </p:nvSpPr>
        <p:spPr>
          <a:xfrm>
            <a:off x="6503289" y="1524000"/>
            <a:ext cx="2501455" cy="13800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D1.1</a:t>
            </a:r>
          </a:p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顧客数</a:t>
            </a:r>
            <a:r>
              <a:rPr sz="1200">
                <a:solidFill>
                  <a:srgbClr val="102A3A"/>
                </a:solidFill>
                <a:latin typeface="Aptos"/>
              </a:rPr>
              <a:t> +5%</a:t>
            </a:r>
          </a:p>
        </p:txBody>
      </p:sp>
      <p:cxnSp>
        <p:nvCxnSpPr>
          <p:cNvPr id="10" name="SDPM::strategy.value_driver_tree::sub_link_0_0" title="SDPM::strategy.value_driver_tree::sub_link_0_0" descr="SDPM::strategy.value_driver_tree::sub_link_0_0"/>
          <p:cNvCxnSpPr/>
          <p:nvPr/>
        </p:nvCxnSpPr>
        <p:spPr>
          <a:xfrm>
            <a:off x="6414389" y="2214054"/>
            <a:ext cx="889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strategy.value_driver_tree::sub_0_1" title="SDPM::strategy.value_driver_tree::sub_0_1" descr="SDPM::strategy.value_driver_tree::sub_0_1"/>
          <p:cNvSpPr/>
          <p:nvPr/>
        </p:nvSpPr>
        <p:spPr>
          <a:xfrm>
            <a:off x="9055544" y="1524000"/>
            <a:ext cx="2501455" cy="13800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D1.2</a:t>
            </a:r>
          </a:p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単価</a:t>
            </a:r>
            <a:r>
              <a:rPr sz="1200">
                <a:solidFill>
                  <a:srgbClr val="102A3A"/>
                </a:solidFill>
                <a:latin typeface="Aptos"/>
              </a:rPr>
              <a:t> +3%</a:t>
            </a:r>
          </a:p>
        </p:txBody>
      </p:sp>
      <p:cxnSp>
        <p:nvCxnSpPr>
          <p:cNvPr id="12" name="SDPM::strategy.value_driver_tree::sub_link_0_1" title="SDPM::strategy.value_driver_tree::sub_link_0_1" descr="SDPM::strategy.value_driver_tree::sub_link_0_1"/>
          <p:cNvCxnSpPr/>
          <p:nvPr/>
        </p:nvCxnSpPr>
        <p:spPr>
          <a:xfrm>
            <a:off x="6414389" y="2214054"/>
            <a:ext cx="2641155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DPM::strategy.value_driver_tree::driver_1" title="SDPM::strategy.value_driver_tree::driver_1" descr="SDPM::strategy.value_driver_tree::driver_1"/>
          <p:cNvSpPr/>
          <p:nvPr/>
        </p:nvSpPr>
        <p:spPr>
          <a:xfrm>
            <a:off x="3693160" y="2992945"/>
            <a:ext cx="2721229" cy="1380045"/>
          </a:xfrm>
          <a:prstGeom prst="roundRect">
            <a:avLst/>
          </a:prstGeom>
          <a:solidFill>
            <a:srgbClr val="E4EEF2"/>
          </a:solidFill>
          <a:ln w="19050">
            <a:solidFill>
              <a:srgbClr val="0E8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300">
                <a:solidFill>
                  <a:srgbClr val="102A3A"/>
                </a:solidFill>
                <a:latin typeface="Aptos"/>
              </a:rPr>
              <a:t>D02</a:t>
            </a:r>
          </a:p>
          <a:p>
            <a:pPr algn="ctr"/>
            <a:r>
              <a:rPr lang="ja-JP" sz="1300">
                <a:solidFill>
                  <a:srgbClr val="102A3A"/>
                </a:solidFill>
                <a:latin typeface="Yu Gothic UI"/>
              </a:rPr>
              <a:t>粗利率</a:t>
            </a:r>
            <a:r>
              <a:rPr sz="1300">
                <a:solidFill>
                  <a:srgbClr val="102A3A"/>
                </a:solidFill>
                <a:latin typeface="Aptos"/>
              </a:rPr>
              <a:t> +2pt</a:t>
            </a:r>
          </a:p>
        </p:txBody>
      </p:sp>
      <p:cxnSp>
        <p:nvCxnSpPr>
          <p:cNvPr id="14" name="SDPM::strategy.value_driver_tree::root_link_1" title="SDPM::strategy.value_driver_tree::root_link_1" descr="SDPM::strategy.value_driver_tree::root_link_1"/>
          <p:cNvCxnSpPr/>
          <p:nvPr/>
        </p:nvCxnSpPr>
        <p:spPr>
          <a:xfrm>
            <a:off x="2819400" y="3683000"/>
            <a:ext cx="873760" cy="0"/>
          </a:xfrm>
          <a:prstGeom prst="line">
            <a:avLst/>
          </a:prstGeom>
          <a:ln w="19050">
            <a:solidFill>
              <a:srgbClr val="0E8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DPM::strategy.value_driver_tree::sub_1_0" title="SDPM::strategy.value_driver_tree::sub_1_0" descr="SDPM::strategy.value_driver_tree::sub_1_0"/>
          <p:cNvSpPr/>
          <p:nvPr/>
        </p:nvSpPr>
        <p:spPr>
          <a:xfrm>
            <a:off x="6503289" y="2992945"/>
            <a:ext cx="2501455" cy="13800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D2.1</a:t>
            </a:r>
          </a:p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価格</a:t>
            </a:r>
            <a:r>
              <a:rPr sz="1200">
                <a:solidFill>
                  <a:srgbClr val="102A3A"/>
                </a:solidFill>
                <a:latin typeface="Aptos"/>
              </a:rPr>
              <a:t> +1pt</a:t>
            </a:r>
          </a:p>
        </p:txBody>
      </p:sp>
      <p:cxnSp>
        <p:nvCxnSpPr>
          <p:cNvPr id="16" name="SDPM::strategy.value_driver_tree::sub_link_1_0" title="SDPM::strategy.value_driver_tree::sub_link_1_0" descr="SDPM::strategy.value_driver_tree::sub_link_1_0"/>
          <p:cNvCxnSpPr/>
          <p:nvPr/>
        </p:nvCxnSpPr>
        <p:spPr>
          <a:xfrm>
            <a:off x="6414389" y="3683000"/>
            <a:ext cx="889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DPM::strategy.value_driver_tree::sub_1_1" title="SDPM::strategy.value_driver_tree::sub_1_1" descr="SDPM::strategy.value_driver_tree::sub_1_1"/>
          <p:cNvSpPr/>
          <p:nvPr/>
        </p:nvSpPr>
        <p:spPr>
          <a:xfrm>
            <a:off x="9055544" y="2992945"/>
            <a:ext cx="2501455" cy="13800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D2.2</a:t>
            </a:r>
          </a:p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原価</a:t>
            </a:r>
            <a:r>
              <a:rPr sz="1200">
                <a:solidFill>
                  <a:srgbClr val="102A3A"/>
                </a:solidFill>
                <a:latin typeface="Aptos"/>
              </a:rPr>
              <a:t> -1pt</a:t>
            </a:r>
          </a:p>
        </p:txBody>
      </p:sp>
      <p:cxnSp>
        <p:nvCxnSpPr>
          <p:cNvPr id="18" name="SDPM::strategy.value_driver_tree::sub_link_1_1" title="SDPM::strategy.value_driver_tree::sub_link_1_1" descr="SDPM::strategy.value_driver_tree::sub_link_1_1"/>
          <p:cNvCxnSpPr/>
          <p:nvPr/>
        </p:nvCxnSpPr>
        <p:spPr>
          <a:xfrm>
            <a:off x="6414389" y="3683000"/>
            <a:ext cx="2641155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DPM::strategy.value_driver_tree::driver_2" title="SDPM::strategy.value_driver_tree::driver_2" descr="SDPM::strategy.value_driver_tree::driver_2"/>
          <p:cNvSpPr/>
          <p:nvPr/>
        </p:nvSpPr>
        <p:spPr>
          <a:xfrm>
            <a:off x="3693160" y="4461954"/>
            <a:ext cx="2721229" cy="1380045"/>
          </a:xfrm>
          <a:prstGeom prst="roundRect">
            <a:avLst/>
          </a:prstGeom>
          <a:solidFill>
            <a:srgbClr val="E4EEF2"/>
          </a:solidFill>
          <a:ln w="19050">
            <a:solidFill>
              <a:srgbClr val="0E8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300">
                <a:solidFill>
                  <a:srgbClr val="102A3A"/>
                </a:solidFill>
                <a:latin typeface="Aptos"/>
              </a:rPr>
              <a:t>D03</a:t>
            </a:r>
          </a:p>
          <a:p>
            <a:pPr algn="ctr"/>
            <a:r>
              <a:rPr lang="ja-JP" sz="1300">
                <a:solidFill>
                  <a:srgbClr val="102A3A"/>
                </a:solidFill>
                <a:latin typeface="Yu Gothic UI"/>
              </a:rPr>
              <a:t>販管費</a:t>
            </a:r>
            <a:r>
              <a:rPr sz="1300">
                <a:solidFill>
                  <a:srgbClr val="102A3A"/>
                </a:solidFill>
                <a:latin typeface="Aptos"/>
              </a:rPr>
              <a:t> </a:t>
            </a:r>
            <a:r>
              <a:rPr lang="ja-JP" sz="1300">
                <a:solidFill>
                  <a:srgbClr val="102A3A"/>
                </a:solidFill>
                <a:latin typeface="Yu Gothic UI"/>
              </a:rPr>
              <a:t>横ばい</a:t>
            </a:r>
          </a:p>
        </p:txBody>
      </p:sp>
      <p:cxnSp>
        <p:nvCxnSpPr>
          <p:cNvPr id="20" name="SDPM::strategy.value_driver_tree::root_link_2" title="SDPM::strategy.value_driver_tree::root_link_2" descr="SDPM::strategy.value_driver_tree::root_link_2"/>
          <p:cNvCxnSpPr/>
          <p:nvPr/>
        </p:nvCxnSpPr>
        <p:spPr>
          <a:xfrm>
            <a:off x="2819400" y="3683000"/>
            <a:ext cx="873760" cy="1468945"/>
          </a:xfrm>
          <a:prstGeom prst="line">
            <a:avLst/>
          </a:prstGeom>
          <a:ln w="19050">
            <a:solidFill>
              <a:srgbClr val="0E8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DPM::strategy.value_driver_tree::sub_2_0" title="SDPM::strategy.value_driver_tree::sub_2_0" descr="SDPM::strategy.value_driver_tree::sub_2_0"/>
          <p:cNvSpPr/>
          <p:nvPr/>
        </p:nvSpPr>
        <p:spPr>
          <a:xfrm>
            <a:off x="6503289" y="4461954"/>
            <a:ext cx="2501455" cy="13800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D3.1</a:t>
            </a:r>
          </a:p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営業生産性</a:t>
            </a:r>
          </a:p>
        </p:txBody>
      </p:sp>
      <p:cxnSp>
        <p:nvCxnSpPr>
          <p:cNvPr id="22" name="SDPM::strategy.value_driver_tree::sub_link_2_0" title="SDPM::strategy.value_driver_tree::sub_link_2_0" descr="SDPM::strategy.value_driver_tree::sub_link_2_0"/>
          <p:cNvCxnSpPr/>
          <p:nvPr/>
        </p:nvCxnSpPr>
        <p:spPr>
          <a:xfrm>
            <a:off x="6414389" y="5151945"/>
            <a:ext cx="889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DPM::strategy.value_driver_tree::sub_2_1" title="SDPM::strategy.value_driver_tree::sub_2_1" descr="SDPM::strategy.value_driver_tree::sub_2_1"/>
          <p:cNvSpPr/>
          <p:nvPr/>
        </p:nvSpPr>
        <p:spPr>
          <a:xfrm>
            <a:off x="9055544" y="4461954"/>
            <a:ext cx="2501455" cy="13800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D3.2</a:t>
            </a:r>
          </a:p>
          <a:p>
            <a:pPr algn="ctr"/>
            <a:r>
              <a:rPr sz="1200">
                <a:solidFill>
                  <a:srgbClr val="102A3A"/>
                </a:solidFill>
                <a:latin typeface="Aptos"/>
              </a:rPr>
              <a:t>CS </a:t>
            </a:r>
            <a:r>
              <a:rPr lang="ja-JP" sz="1200">
                <a:solidFill>
                  <a:srgbClr val="102A3A"/>
                </a:solidFill>
                <a:latin typeface="Yu Gothic UI"/>
              </a:rPr>
              <a:t>自動化</a:t>
            </a:r>
          </a:p>
        </p:txBody>
      </p:sp>
      <p:cxnSp>
        <p:nvCxnSpPr>
          <p:cNvPr id="24" name="SDPM::strategy.value_driver_tree::sub_link_2_1" title="SDPM::strategy.value_driver_tree::sub_link_2_1" descr="SDPM::strategy.value_driver_tree::sub_link_2_1"/>
          <p:cNvCxnSpPr/>
          <p:nvPr/>
        </p:nvCxnSpPr>
        <p:spPr>
          <a:xfrm>
            <a:off x="6414389" y="5151945"/>
            <a:ext cx="2641155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Technical / Data — composition, typography and reading path are theme-specific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123B52"/>
                </a:solidFill>
                <a:latin typeface="Yu Gothic UI"/>
              </a:rPr>
              <a:t>Initiative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strategy.initiative_portfolio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strategy.initiative_portfolio::head_ID" title="SDPM::strategy.initiative_portfolio::head_ID" descr="SDPM::strategy.initiative_portfolio::head_ID"/>
          <p:cNvSpPr txBox="1"/>
          <p:nvPr/>
        </p:nvSpPr>
        <p:spPr>
          <a:xfrm>
            <a:off x="635000" y="1524000"/>
            <a:ext cx="86360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ID</a:t>
            </a:r>
          </a:p>
        </p:txBody>
      </p:sp>
      <p:sp>
        <p:nvSpPr>
          <p:cNvPr id="7" name="SDPM::strategy.initiative_portfolio::head_INITIATIVE" title="SDPM::strategy.initiative_portfolio::head_INITIATIVE" descr="SDPM::strategy.initiative_portfolio::head_INITIATIVE"/>
          <p:cNvSpPr txBox="1"/>
          <p:nvPr/>
        </p:nvSpPr>
        <p:spPr>
          <a:xfrm>
            <a:off x="1524000" y="1524000"/>
            <a:ext cx="410210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INITIATIVE</a:t>
            </a:r>
          </a:p>
        </p:txBody>
      </p:sp>
      <p:sp>
        <p:nvSpPr>
          <p:cNvPr id="8" name="SDPM::strategy.initiative_portfolio::head_VALUE" title="SDPM::strategy.initiative_portfolio::head_VALUE" descr="SDPM::strategy.initiative_portfolio::head_VALUE"/>
          <p:cNvSpPr txBox="1"/>
          <p:nvPr/>
        </p:nvSpPr>
        <p:spPr>
          <a:xfrm>
            <a:off x="5651500" y="1524000"/>
            <a:ext cx="151130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VALUE</a:t>
            </a:r>
          </a:p>
        </p:txBody>
      </p:sp>
      <p:sp>
        <p:nvSpPr>
          <p:cNvPr id="9" name="SDPM::strategy.initiative_portfolio::head_EFFORT" title="SDPM::strategy.initiative_portfolio::head_EFFORT" descr="SDPM::strategy.initiative_portfolio::head_EFFORT"/>
          <p:cNvSpPr txBox="1"/>
          <p:nvPr/>
        </p:nvSpPr>
        <p:spPr>
          <a:xfrm>
            <a:off x="7188200" y="1524000"/>
            <a:ext cx="151130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EFFORT</a:t>
            </a:r>
          </a:p>
        </p:txBody>
      </p:sp>
      <p:sp>
        <p:nvSpPr>
          <p:cNvPr id="10" name="SDPM::strategy.initiative_portfolio::head_OWNER" title="SDPM::strategy.initiative_portfolio::head_OWNER" descr="SDPM::strategy.initiative_portfolio::head_OWNER"/>
          <p:cNvSpPr txBox="1"/>
          <p:nvPr/>
        </p:nvSpPr>
        <p:spPr>
          <a:xfrm>
            <a:off x="8724900" y="1524000"/>
            <a:ext cx="151130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OWNER</a:t>
            </a:r>
          </a:p>
        </p:txBody>
      </p:sp>
      <p:sp>
        <p:nvSpPr>
          <p:cNvPr id="11" name="SDPM::strategy.initiative_portfolio::head_STATUS" title="SDPM::strategy.initiative_portfolio::head_STATUS" descr="SDPM::strategy.initiative_portfolio::head_STATUS"/>
          <p:cNvSpPr txBox="1"/>
          <p:nvPr/>
        </p:nvSpPr>
        <p:spPr>
          <a:xfrm>
            <a:off x="10261600" y="1524000"/>
            <a:ext cx="129540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STATUS</a:t>
            </a:r>
          </a:p>
        </p:txBody>
      </p:sp>
      <p:sp>
        <p:nvSpPr>
          <p:cNvPr id="12" name="SDPM::strategy.initiative_portfolio::row_bg_0" title="SDPM::strategy.initiative_portfolio::row_bg_0" descr="SDPM::strategy.initiative_portfolio::row_bg_0"/>
          <p:cNvSpPr/>
          <p:nvPr/>
        </p:nvSpPr>
        <p:spPr>
          <a:xfrm>
            <a:off x="635000" y="1841500"/>
            <a:ext cx="10922000" cy="9810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DPM::strategy.initiative_portfolio::cell_0_0" title="SDPM::strategy.initiative_portfolio::cell_0_0" descr="SDPM::strategy.initiative_portfolio::cell_0_0"/>
          <p:cNvSpPr txBox="1"/>
          <p:nvPr/>
        </p:nvSpPr>
        <p:spPr>
          <a:xfrm>
            <a:off x="673100" y="1841500"/>
            <a:ext cx="7874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0E8AA6"/>
                </a:solidFill>
                <a:latin typeface="Yu Gothic UI"/>
              </a:rPr>
              <a:t>I-01</a:t>
            </a:r>
          </a:p>
        </p:txBody>
      </p:sp>
      <p:sp>
        <p:nvSpPr>
          <p:cNvPr id="14" name="SDPM::strategy.initiative_portfolio::cell_0_1" title="SDPM::strategy.initiative_portfolio::cell_0_1" descr="SDPM::strategy.initiative_portfolio::cell_0_1"/>
          <p:cNvSpPr txBox="1"/>
          <p:nvPr/>
        </p:nvSpPr>
        <p:spPr>
          <a:xfrm>
            <a:off x="1562100" y="1841500"/>
            <a:ext cx="40259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102A3A"/>
                </a:solidFill>
                <a:latin typeface="Yu Gothic UI"/>
              </a:rPr>
              <a:t>オンボーディング再設計</a:t>
            </a:r>
          </a:p>
        </p:txBody>
      </p:sp>
      <p:sp>
        <p:nvSpPr>
          <p:cNvPr id="15" name="SDPM::strategy.initiative_portfolio::cell_0_2" title="SDPM::strategy.initiative_portfolio::cell_0_2" descr="SDPM::strategy.initiative_portfolio::cell_0_2"/>
          <p:cNvSpPr txBox="1"/>
          <p:nvPr/>
        </p:nvSpPr>
        <p:spPr>
          <a:xfrm>
            <a:off x="5689600" y="1841500"/>
            <a:ext cx="14351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0E8AA6"/>
                </a:solidFill>
                <a:latin typeface="Yu Gothic UI"/>
              </a:rPr>
              <a:t>高</a:t>
            </a:r>
          </a:p>
        </p:txBody>
      </p:sp>
      <p:sp>
        <p:nvSpPr>
          <p:cNvPr id="16" name="SDPM::strategy.initiative_portfolio::cell_0_3" title="SDPM::strategy.initiative_portfolio::cell_0_3" descr="SDPM::strategy.initiative_portfolio::cell_0_3"/>
          <p:cNvSpPr txBox="1"/>
          <p:nvPr/>
        </p:nvSpPr>
        <p:spPr>
          <a:xfrm>
            <a:off x="7226300" y="1841500"/>
            <a:ext cx="14351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中</a:t>
            </a:r>
          </a:p>
        </p:txBody>
      </p:sp>
      <p:sp>
        <p:nvSpPr>
          <p:cNvPr id="17" name="SDPM::strategy.initiative_portfolio::cell_0_4" title="SDPM::strategy.initiative_portfolio::cell_0_4" descr="SDPM::strategy.initiative_portfolio::cell_0_4"/>
          <p:cNvSpPr txBox="1"/>
          <p:nvPr/>
        </p:nvSpPr>
        <p:spPr>
          <a:xfrm>
            <a:off x="8763000" y="1841500"/>
            <a:ext cx="14351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102A3A"/>
                </a:solidFill>
                <a:latin typeface="Yu Gothic UI"/>
              </a:rPr>
              <a:t>CX </a:t>
            </a:r>
            <a:r>
              <a:rPr lang="ja-JP" sz="1200">
                <a:solidFill>
                  <a:srgbClr val="102A3A"/>
                </a:solidFill>
                <a:latin typeface="Yu Gothic UI"/>
              </a:rPr>
              <a:t>責任者</a:t>
            </a:r>
          </a:p>
        </p:txBody>
      </p:sp>
      <p:sp>
        <p:nvSpPr>
          <p:cNvPr id="18" name="SDPM::strategy.initiative_portfolio::cell_0_5" title="SDPM::strategy.initiative_portfolio::cell_0_5" descr="SDPM::strategy.initiative_portfolio::cell_0_5"/>
          <p:cNvSpPr txBox="1"/>
          <p:nvPr/>
        </p:nvSpPr>
        <p:spPr>
          <a:xfrm>
            <a:off x="10299700" y="1841500"/>
            <a:ext cx="12192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優先</a:t>
            </a:r>
          </a:p>
        </p:txBody>
      </p:sp>
      <p:sp>
        <p:nvSpPr>
          <p:cNvPr id="19" name="SDPM::strategy.initiative_portfolio::row_bg_1" title="SDPM::strategy.initiative_portfolio::row_bg_1" descr="SDPM::strategy.initiative_portfolio::row_bg_1"/>
          <p:cNvSpPr/>
          <p:nvPr/>
        </p:nvSpPr>
        <p:spPr>
          <a:xfrm>
            <a:off x="635000" y="2847975"/>
            <a:ext cx="10922000" cy="981075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DPM::strategy.initiative_portfolio::cell_1_0" title="SDPM::strategy.initiative_portfolio::cell_1_0" descr="SDPM::strategy.initiative_portfolio::cell_1_0"/>
          <p:cNvSpPr txBox="1"/>
          <p:nvPr/>
        </p:nvSpPr>
        <p:spPr>
          <a:xfrm>
            <a:off x="673100" y="2847975"/>
            <a:ext cx="7874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0E8AA6"/>
                </a:solidFill>
                <a:latin typeface="Yu Gothic UI"/>
              </a:rPr>
              <a:t>I-02</a:t>
            </a:r>
          </a:p>
        </p:txBody>
      </p:sp>
      <p:sp>
        <p:nvSpPr>
          <p:cNvPr id="21" name="SDPM::strategy.initiative_portfolio::cell_1_1" title="SDPM::strategy.initiative_portfolio::cell_1_1" descr="SDPM::strategy.initiative_portfolio::cell_1_1"/>
          <p:cNvSpPr txBox="1"/>
          <p:nvPr/>
        </p:nvSpPr>
        <p:spPr>
          <a:xfrm>
            <a:off x="1562100" y="2847975"/>
            <a:ext cx="40259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102A3A"/>
                </a:solidFill>
                <a:latin typeface="Yu Gothic UI"/>
              </a:rPr>
              <a:t>価格・契約モデル変更</a:t>
            </a:r>
          </a:p>
        </p:txBody>
      </p:sp>
      <p:sp>
        <p:nvSpPr>
          <p:cNvPr id="22" name="SDPM::strategy.initiative_portfolio::cell_1_2" title="SDPM::strategy.initiative_portfolio::cell_1_2" descr="SDPM::strategy.initiative_portfolio::cell_1_2"/>
          <p:cNvSpPr txBox="1"/>
          <p:nvPr/>
        </p:nvSpPr>
        <p:spPr>
          <a:xfrm>
            <a:off x="5689600" y="2847975"/>
            <a:ext cx="14351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0E8AA6"/>
                </a:solidFill>
                <a:latin typeface="Yu Gothic UI"/>
              </a:rPr>
              <a:t>高</a:t>
            </a:r>
          </a:p>
        </p:txBody>
      </p:sp>
      <p:sp>
        <p:nvSpPr>
          <p:cNvPr id="23" name="SDPM::strategy.initiative_portfolio::cell_1_3" title="SDPM::strategy.initiative_portfolio::cell_1_3" descr="SDPM::strategy.initiative_portfolio::cell_1_3"/>
          <p:cNvSpPr txBox="1"/>
          <p:nvPr/>
        </p:nvSpPr>
        <p:spPr>
          <a:xfrm>
            <a:off x="7226300" y="2847975"/>
            <a:ext cx="14351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高</a:t>
            </a:r>
          </a:p>
        </p:txBody>
      </p:sp>
      <p:sp>
        <p:nvSpPr>
          <p:cNvPr id="24" name="SDPM::strategy.initiative_portfolio::cell_1_4" title="SDPM::strategy.initiative_portfolio::cell_1_4" descr="SDPM::strategy.initiative_portfolio::cell_1_4"/>
          <p:cNvSpPr txBox="1"/>
          <p:nvPr/>
        </p:nvSpPr>
        <p:spPr>
          <a:xfrm>
            <a:off x="8763000" y="2847975"/>
            <a:ext cx="14351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事業責任者</a:t>
            </a:r>
          </a:p>
        </p:txBody>
      </p:sp>
      <p:sp>
        <p:nvSpPr>
          <p:cNvPr id="25" name="SDPM::strategy.initiative_portfolio::cell_1_5" title="SDPM::strategy.initiative_portfolio::cell_1_5" descr="SDPM::strategy.initiative_portfolio::cell_1_5"/>
          <p:cNvSpPr txBox="1"/>
          <p:nvPr/>
        </p:nvSpPr>
        <p:spPr>
          <a:xfrm>
            <a:off x="10299700" y="2847975"/>
            <a:ext cx="12192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設計中</a:t>
            </a:r>
          </a:p>
        </p:txBody>
      </p:sp>
      <p:sp>
        <p:nvSpPr>
          <p:cNvPr id="26" name="SDPM::strategy.initiative_portfolio::row_bg_2" title="SDPM::strategy.initiative_portfolio::row_bg_2" descr="SDPM::strategy.initiative_portfolio::row_bg_2"/>
          <p:cNvSpPr/>
          <p:nvPr/>
        </p:nvSpPr>
        <p:spPr>
          <a:xfrm>
            <a:off x="635000" y="3854450"/>
            <a:ext cx="10922000" cy="9810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DPM::strategy.initiative_portfolio::cell_2_0" title="SDPM::strategy.initiative_portfolio::cell_2_0" descr="SDPM::strategy.initiative_portfolio::cell_2_0"/>
          <p:cNvSpPr txBox="1"/>
          <p:nvPr/>
        </p:nvSpPr>
        <p:spPr>
          <a:xfrm>
            <a:off x="673100" y="3854450"/>
            <a:ext cx="7874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0E8AA6"/>
                </a:solidFill>
                <a:latin typeface="Yu Gothic UI"/>
              </a:rPr>
              <a:t>I-03</a:t>
            </a:r>
          </a:p>
        </p:txBody>
      </p:sp>
      <p:sp>
        <p:nvSpPr>
          <p:cNvPr id="28" name="SDPM::strategy.initiative_portfolio::cell_2_1" title="SDPM::strategy.initiative_portfolio::cell_2_1" descr="SDPM::strategy.initiative_portfolio::cell_2_1"/>
          <p:cNvSpPr txBox="1"/>
          <p:nvPr/>
        </p:nvSpPr>
        <p:spPr>
          <a:xfrm>
            <a:off x="1562100" y="3854450"/>
            <a:ext cx="40259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102A3A"/>
                </a:solidFill>
                <a:latin typeface="Yu Gothic UI"/>
              </a:rPr>
              <a:t>顧客データ基盤</a:t>
            </a:r>
          </a:p>
        </p:txBody>
      </p:sp>
      <p:sp>
        <p:nvSpPr>
          <p:cNvPr id="29" name="SDPM::strategy.initiative_portfolio::cell_2_2" title="SDPM::strategy.initiative_portfolio::cell_2_2" descr="SDPM::strategy.initiative_portfolio::cell_2_2"/>
          <p:cNvSpPr txBox="1"/>
          <p:nvPr/>
        </p:nvSpPr>
        <p:spPr>
          <a:xfrm>
            <a:off x="5689600" y="3854450"/>
            <a:ext cx="14351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0E8AA6"/>
                </a:solidFill>
                <a:latin typeface="Yu Gothic UI"/>
              </a:rPr>
              <a:t>中</a:t>
            </a:r>
          </a:p>
        </p:txBody>
      </p:sp>
      <p:sp>
        <p:nvSpPr>
          <p:cNvPr id="30" name="SDPM::strategy.initiative_portfolio::cell_2_3" title="SDPM::strategy.initiative_portfolio::cell_2_3" descr="SDPM::strategy.initiative_portfolio::cell_2_3"/>
          <p:cNvSpPr txBox="1"/>
          <p:nvPr/>
        </p:nvSpPr>
        <p:spPr>
          <a:xfrm>
            <a:off x="7226300" y="3854450"/>
            <a:ext cx="14351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高</a:t>
            </a:r>
          </a:p>
        </p:txBody>
      </p:sp>
      <p:sp>
        <p:nvSpPr>
          <p:cNvPr id="31" name="SDPM::strategy.initiative_portfolio::cell_2_4" title="SDPM::strategy.initiative_portfolio::cell_2_4" descr="SDPM::strategy.initiative_portfolio::cell_2_4"/>
          <p:cNvSpPr txBox="1"/>
          <p:nvPr/>
        </p:nvSpPr>
        <p:spPr>
          <a:xfrm>
            <a:off x="8763000" y="3854450"/>
            <a:ext cx="14351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102A3A"/>
                </a:solidFill>
                <a:latin typeface="Yu Gothic UI"/>
              </a:rPr>
              <a:t>IT </a:t>
            </a:r>
            <a:r>
              <a:rPr lang="ja-JP" sz="1200">
                <a:solidFill>
                  <a:srgbClr val="102A3A"/>
                </a:solidFill>
                <a:latin typeface="Yu Gothic UI"/>
              </a:rPr>
              <a:t>責任者</a:t>
            </a:r>
          </a:p>
        </p:txBody>
      </p:sp>
      <p:sp>
        <p:nvSpPr>
          <p:cNvPr id="32" name="SDPM::strategy.initiative_portfolio::cell_2_5" title="SDPM::strategy.initiative_portfolio::cell_2_5" descr="SDPM::strategy.initiative_portfolio::cell_2_5"/>
          <p:cNvSpPr txBox="1"/>
          <p:nvPr/>
        </p:nvSpPr>
        <p:spPr>
          <a:xfrm>
            <a:off x="10299700" y="3854450"/>
            <a:ext cx="12192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準備</a:t>
            </a:r>
          </a:p>
        </p:txBody>
      </p:sp>
      <p:sp>
        <p:nvSpPr>
          <p:cNvPr id="33" name="SDPM::strategy.initiative_portfolio::row_bg_3" title="SDPM::strategy.initiative_portfolio::row_bg_3" descr="SDPM::strategy.initiative_portfolio::row_bg_3"/>
          <p:cNvSpPr/>
          <p:nvPr/>
        </p:nvSpPr>
        <p:spPr>
          <a:xfrm>
            <a:off x="635000" y="4860925"/>
            <a:ext cx="10922000" cy="981075"/>
          </a:xfrm>
          <a:prstGeom prst="roundRect">
            <a:avLst/>
          </a:prstGeom>
          <a:solidFill>
            <a:srgbClr val="E4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DPM::strategy.initiative_portfolio::cell_3_0" title="SDPM::strategy.initiative_portfolio::cell_3_0" descr="SDPM::strategy.initiative_portfolio::cell_3_0"/>
          <p:cNvSpPr txBox="1"/>
          <p:nvPr/>
        </p:nvSpPr>
        <p:spPr>
          <a:xfrm>
            <a:off x="673100" y="4860925"/>
            <a:ext cx="7874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0E8AA6"/>
                </a:solidFill>
                <a:latin typeface="Yu Gothic UI"/>
              </a:rPr>
              <a:t>I-04</a:t>
            </a:r>
          </a:p>
        </p:txBody>
      </p:sp>
      <p:sp>
        <p:nvSpPr>
          <p:cNvPr id="35" name="SDPM::strategy.initiative_portfolio::cell_3_1" title="SDPM::strategy.initiative_portfolio::cell_3_1" descr="SDPM::strategy.initiative_portfolio::cell_3_1"/>
          <p:cNvSpPr txBox="1"/>
          <p:nvPr/>
        </p:nvSpPr>
        <p:spPr>
          <a:xfrm>
            <a:off x="1562100" y="4860925"/>
            <a:ext cx="40259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102A3A"/>
                </a:solidFill>
                <a:latin typeface="Yu Gothic UI"/>
              </a:rPr>
              <a:t>部門展開プレイブック</a:t>
            </a:r>
          </a:p>
        </p:txBody>
      </p:sp>
      <p:sp>
        <p:nvSpPr>
          <p:cNvPr id="36" name="SDPM::strategy.initiative_portfolio::cell_3_2" title="SDPM::strategy.initiative_portfolio::cell_3_2" descr="SDPM::strategy.initiative_portfolio::cell_3_2"/>
          <p:cNvSpPr txBox="1"/>
          <p:nvPr/>
        </p:nvSpPr>
        <p:spPr>
          <a:xfrm>
            <a:off x="5689600" y="4860925"/>
            <a:ext cx="14351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0E8AA6"/>
                </a:solidFill>
                <a:latin typeface="Yu Gothic UI"/>
              </a:rPr>
              <a:t>中</a:t>
            </a:r>
          </a:p>
        </p:txBody>
      </p:sp>
      <p:sp>
        <p:nvSpPr>
          <p:cNvPr id="37" name="SDPM::strategy.initiative_portfolio::cell_3_3" title="SDPM::strategy.initiative_portfolio::cell_3_3" descr="SDPM::strategy.initiative_portfolio::cell_3_3"/>
          <p:cNvSpPr txBox="1"/>
          <p:nvPr/>
        </p:nvSpPr>
        <p:spPr>
          <a:xfrm>
            <a:off x="7226300" y="4860925"/>
            <a:ext cx="14351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中</a:t>
            </a:r>
          </a:p>
        </p:txBody>
      </p:sp>
      <p:sp>
        <p:nvSpPr>
          <p:cNvPr id="38" name="SDPM::strategy.initiative_portfolio::cell_3_4" title="SDPM::strategy.initiative_portfolio::cell_3_4" descr="SDPM::strategy.initiative_portfolio::cell_3_4"/>
          <p:cNvSpPr txBox="1"/>
          <p:nvPr/>
        </p:nvSpPr>
        <p:spPr>
          <a:xfrm>
            <a:off x="8763000" y="4860925"/>
            <a:ext cx="14351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営業責任者</a:t>
            </a:r>
          </a:p>
        </p:txBody>
      </p:sp>
      <p:sp>
        <p:nvSpPr>
          <p:cNvPr id="39" name="SDPM::strategy.initiative_portfolio::cell_3_5" title="SDPM::strategy.initiative_portfolio::cell_3_5" descr="SDPM::strategy.initiative_portfolio::cell_3_5"/>
          <p:cNvSpPr txBox="1"/>
          <p:nvPr/>
        </p:nvSpPr>
        <p:spPr>
          <a:xfrm>
            <a:off x="10299700" y="4860925"/>
            <a:ext cx="1219200" cy="98107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102A3A"/>
                </a:solidFill>
                <a:latin typeface="Yu Gothic UI"/>
              </a:rPr>
              <a:t>候補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Technical / Data — composition, typography and reading path are theme-specific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123B52"/>
                </a:solidFill>
                <a:latin typeface="Yu Gothic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execution.roadmap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execution.roadmap::head_0" title="SDPM::execution.roadmap::head_0" descr="SDPM::execution.roadmap::head_0"/>
          <p:cNvSpPr/>
          <p:nvPr/>
        </p:nvSpPr>
        <p:spPr>
          <a:xfrm>
            <a:off x="635000" y="1524000"/>
            <a:ext cx="2692400" cy="29210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P01  0-30 </a:t>
            </a:r>
            <a:r>
              <a:rPr lang="ja-JP" sz="1200">
                <a:solidFill>
                  <a:srgbClr val="FFFFFF"/>
                </a:solidFill>
                <a:latin typeface="Yu Gothic UI"/>
              </a:rPr>
              <a:t>日</a:t>
            </a:r>
          </a:p>
        </p:txBody>
      </p:sp>
      <p:sp>
        <p:nvSpPr>
          <p:cNvPr id="7" name="SDPM::execution.roadmap::body_0" title="SDPM::execution.roadmap::body_0" descr="SDPM::execution.roadmap::body_0"/>
          <p:cNvSpPr/>
          <p:nvPr/>
        </p:nvSpPr>
        <p:spPr>
          <a:xfrm>
            <a:off x="635000" y="1866900"/>
            <a:ext cx="2692400" cy="3975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DPM::execution.roadmap::title_0" title="SDPM::execution.roadmap::title_0" descr="SDPM::execution.roadmap::title_0"/>
          <p:cNvSpPr txBox="1"/>
          <p:nvPr/>
        </p:nvSpPr>
        <p:spPr>
          <a:xfrm>
            <a:off x="723900" y="1968500"/>
            <a:ext cx="251460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500">
                <a:solidFill>
                  <a:srgbClr val="102A3A"/>
                </a:solidFill>
                <a:latin typeface="Yu Gothic UI"/>
              </a:rPr>
              <a:t>設計</a:t>
            </a:r>
          </a:p>
        </p:txBody>
      </p:sp>
      <p:sp>
        <p:nvSpPr>
          <p:cNvPr id="9" name="SDPM::execution.roadmap::item_0_0" title="SDPM::execution.roadmap::item_0_0" descr="SDPM::execution.roadmap::item_0_0"/>
          <p:cNvSpPr txBox="1"/>
          <p:nvPr/>
        </p:nvSpPr>
        <p:spPr>
          <a:xfrm>
            <a:off x="723900" y="2425700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1.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顧客課題定義</a:t>
            </a:r>
          </a:p>
        </p:txBody>
      </p:sp>
      <p:sp>
        <p:nvSpPr>
          <p:cNvPr id="10" name="SDPM::execution.roadmap::item_0_1" title="SDPM::execution.roadmap::item_0_1" descr="SDPM::execution.roadmap::item_0_1"/>
          <p:cNvSpPr txBox="1"/>
          <p:nvPr/>
        </p:nvSpPr>
        <p:spPr>
          <a:xfrm>
            <a:off x="723900" y="2717800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2.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成果</a:t>
            </a:r>
            <a:r>
              <a:rPr sz="1200">
                <a:solidFill>
                  <a:srgbClr val="60758A"/>
                </a:solidFill>
                <a:latin typeface="Yu Gothic UI"/>
              </a:rPr>
              <a:t> KPI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設定</a:t>
            </a:r>
          </a:p>
        </p:txBody>
      </p:sp>
      <p:cxnSp>
        <p:nvCxnSpPr>
          <p:cNvPr id="11" name="SDPM::execution.roadmap::link_0" title="SDPM::execution.roadmap::link_0" descr="SDPM::execution.roadmap::link_0"/>
          <p:cNvCxnSpPr/>
          <p:nvPr/>
        </p:nvCxnSpPr>
        <p:spPr>
          <a:xfrm>
            <a:off x="3327400" y="3683000"/>
            <a:ext cx="50800" cy="0"/>
          </a:xfrm>
          <a:prstGeom prst="line">
            <a:avLst/>
          </a:prstGeom>
          <a:ln w="25400">
            <a:solidFill>
              <a:srgbClr val="0E8A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DPM::execution.roadmap::head_1" title="SDPM::execution.roadmap::head_1" descr="SDPM::execution.roadmap::head_1"/>
          <p:cNvSpPr/>
          <p:nvPr/>
        </p:nvSpPr>
        <p:spPr>
          <a:xfrm>
            <a:off x="3378200" y="1524000"/>
            <a:ext cx="2692400" cy="292100"/>
          </a:xfrm>
          <a:prstGeom prst="round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P02  31-90 </a:t>
            </a:r>
            <a:r>
              <a:rPr lang="ja-JP" sz="1200">
                <a:solidFill>
                  <a:srgbClr val="FFFFFF"/>
                </a:solidFill>
                <a:latin typeface="Yu Gothic UI"/>
              </a:rPr>
              <a:t>日</a:t>
            </a:r>
          </a:p>
        </p:txBody>
      </p:sp>
      <p:sp>
        <p:nvSpPr>
          <p:cNvPr id="13" name="SDPM::execution.roadmap::body_1" title="SDPM::execution.roadmap::body_1" descr="SDPM::execution.roadmap::body_1"/>
          <p:cNvSpPr/>
          <p:nvPr/>
        </p:nvSpPr>
        <p:spPr>
          <a:xfrm>
            <a:off x="3378200" y="1866900"/>
            <a:ext cx="2692400" cy="3975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DPM::execution.roadmap::title_1" title="SDPM::execution.roadmap::title_1" descr="SDPM::execution.roadmap::title_1"/>
          <p:cNvSpPr txBox="1"/>
          <p:nvPr/>
        </p:nvSpPr>
        <p:spPr>
          <a:xfrm>
            <a:off x="3467100" y="1968500"/>
            <a:ext cx="251460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500">
                <a:solidFill>
                  <a:srgbClr val="102A3A"/>
                </a:solidFill>
                <a:latin typeface="Yu Gothic UI"/>
              </a:rPr>
              <a:t>パイロット</a:t>
            </a:r>
          </a:p>
        </p:txBody>
      </p:sp>
      <p:sp>
        <p:nvSpPr>
          <p:cNvPr id="15" name="SDPM::execution.roadmap::item_1_0" title="SDPM::execution.roadmap::item_1_0" descr="SDPM::execution.roadmap::item_1_0"/>
          <p:cNvSpPr txBox="1"/>
          <p:nvPr/>
        </p:nvSpPr>
        <p:spPr>
          <a:xfrm>
            <a:off x="3467100" y="2425700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1.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重点顧客で実装</a:t>
            </a:r>
          </a:p>
        </p:txBody>
      </p:sp>
      <p:sp>
        <p:nvSpPr>
          <p:cNvPr id="16" name="SDPM::execution.roadmap::item_1_1" title="SDPM::execution.roadmap::item_1_1" descr="SDPM::execution.roadmap::item_1_1"/>
          <p:cNvSpPr txBox="1"/>
          <p:nvPr/>
        </p:nvSpPr>
        <p:spPr>
          <a:xfrm>
            <a:off x="3467100" y="2717800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2.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効果測定</a:t>
            </a:r>
          </a:p>
        </p:txBody>
      </p:sp>
      <p:cxnSp>
        <p:nvCxnSpPr>
          <p:cNvPr id="17" name="SDPM::execution.roadmap::link_1" title="SDPM::execution.roadmap::link_1" descr="SDPM::execution.roadmap::link_1"/>
          <p:cNvCxnSpPr/>
          <p:nvPr/>
        </p:nvCxnSpPr>
        <p:spPr>
          <a:xfrm>
            <a:off x="6070600" y="3683000"/>
            <a:ext cx="50800" cy="0"/>
          </a:xfrm>
          <a:prstGeom prst="line">
            <a:avLst/>
          </a:prstGeom>
          <a:ln w="25400">
            <a:solidFill>
              <a:srgbClr val="0E8A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DPM::execution.roadmap::head_2" title="SDPM::execution.roadmap::head_2" descr="SDPM::execution.roadmap::head_2"/>
          <p:cNvSpPr/>
          <p:nvPr/>
        </p:nvSpPr>
        <p:spPr>
          <a:xfrm>
            <a:off x="6121400" y="1524000"/>
            <a:ext cx="2692400" cy="292100"/>
          </a:xfrm>
          <a:prstGeom prst="round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P03  4-6 </a:t>
            </a:r>
            <a:r>
              <a:rPr lang="ja-JP" sz="1200">
                <a:solidFill>
                  <a:srgbClr val="FFFFFF"/>
                </a:solidFill>
                <a:latin typeface="Yu Gothic UI"/>
              </a:rPr>
              <a:t>か月</a:t>
            </a:r>
          </a:p>
        </p:txBody>
      </p:sp>
      <p:sp>
        <p:nvSpPr>
          <p:cNvPr id="19" name="SDPM::execution.roadmap::body_2" title="SDPM::execution.roadmap::body_2" descr="SDPM::execution.roadmap::body_2"/>
          <p:cNvSpPr/>
          <p:nvPr/>
        </p:nvSpPr>
        <p:spPr>
          <a:xfrm>
            <a:off x="6121400" y="1866900"/>
            <a:ext cx="2692400" cy="3975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DPM::execution.roadmap::title_2" title="SDPM::execution.roadmap::title_2" descr="SDPM::execution.roadmap::title_2"/>
          <p:cNvSpPr txBox="1"/>
          <p:nvPr/>
        </p:nvSpPr>
        <p:spPr>
          <a:xfrm>
            <a:off x="6210300" y="1968500"/>
            <a:ext cx="251460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500">
                <a:solidFill>
                  <a:srgbClr val="102A3A"/>
                </a:solidFill>
                <a:latin typeface="Yu Gothic UI"/>
              </a:rPr>
              <a:t>標準化</a:t>
            </a:r>
          </a:p>
        </p:txBody>
      </p:sp>
      <p:sp>
        <p:nvSpPr>
          <p:cNvPr id="21" name="SDPM::execution.roadmap::item_2_0" title="SDPM::execution.roadmap::item_2_0" descr="SDPM::execution.roadmap::item_2_0"/>
          <p:cNvSpPr txBox="1"/>
          <p:nvPr/>
        </p:nvSpPr>
        <p:spPr>
          <a:xfrm>
            <a:off x="6210300" y="2425700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1.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業務標準化</a:t>
            </a:r>
          </a:p>
        </p:txBody>
      </p:sp>
      <p:sp>
        <p:nvSpPr>
          <p:cNvPr id="22" name="SDPM::execution.roadmap::item_2_1" title="SDPM::execution.roadmap::item_2_1" descr="SDPM::execution.roadmap::item_2_1"/>
          <p:cNvSpPr txBox="1"/>
          <p:nvPr/>
        </p:nvSpPr>
        <p:spPr>
          <a:xfrm>
            <a:off x="6210300" y="2717800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2.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教育・データ整備</a:t>
            </a:r>
          </a:p>
        </p:txBody>
      </p:sp>
      <p:cxnSp>
        <p:nvCxnSpPr>
          <p:cNvPr id="23" name="SDPM::execution.roadmap::link_2" title="SDPM::execution.roadmap::link_2" descr="SDPM::execution.roadmap::link_2"/>
          <p:cNvCxnSpPr/>
          <p:nvPr/>
        </p:nvCxnSpPr>
        <p:spPr>
          <a:xfrm>
            <a:off x="8813800" y="3683000"/>
            <a:ext cx="50800" cy="0"/>
          </a:xfrm>
          <a:prstGeom prst="line">
            <a:avLst/>
          </a:prstGeom>
          <a:ln w="25400">
            <a:solidFill>
              <a:srgbClr val="0E8A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DPM::execution.roadmap::head_3" title="SDPM::execution.roadmap::head_3" descr="SDPM::execution.roadmap::head_3"/>
          <p:cNvSpPr/>
          <p:nvPr/>
        </p:nvSpPr>
        <p:spPr>
          <a:xfrm>
            <a:off x="8864600" y="1524000"/>
            <a:ext cx="2692400" cy="292100"/>
          </a:xfrm>
          <a:prstGeom prst="round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P04  7-12 </a:t>
            </a:r>
            <a:r>
              <a:rPr lang="ja-JP" sz="1200">
                <a:solidFill>
                  <a:srgbClr val="FFFFFF"/>
                </a:solidFill>
                <a:latin typeface="Yu Gothic UI"/>
              </a:rPr>
              <a:t>か月</a:t>
            </a:r>
          </a:p>
        </p:txBody>
      </p:sp>
      <p:sp>
        <p:nvSpPr>
          <p:cNvPr id="25" name="SDPM::execution.roadmap::body_3" title="SDPM::execution.roadmap::body_3" descr="SDPM::execution.roadmap::body_3"/>
          <p:cNvSpPr/>
          <p:nvPr/>
        </p:nvSpPr>
        <p:spPr>
          <a:xfrm>
            <a:off x="8864600" y="1866900"/>
            <a:ext cx="2692400" cy="3975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DPM::execution.roadmap::title_3" title="SDPM::execution.roadmap::title_3" descr="SDPM::execution.roadmap::title_3"/>
          <p:cNvSpPr txBox="1"/>
          <p:nvPr/>
        </p:nvSpPr>
        <p:spPr>
          <a:xfrm>
            <a:off x="8953500" y="1968500"/>
            <a:ext cx="251460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500">
                <a:solidFill>
                  <a:srgbClr val="102A3A"/>
                </a:solidFill>
                <a:latin typeface="Yu Gothic UI"/>
              </a:rPr>
              <a:t>展開</a:t>
            </a:r>
          </a:p>
        </p:txBody>
      </p:sp>
      <p:sp>
        <p:nvSpPr>
          <p:cNvPr id="27" name="SDPM::execution.roadmap::item_3_0" title="SDPM::execution.roadmap::item_3_0" descr="SDPM::execution.roadmap::item_3_0"/>
          <p:cNvSpPr txBox="1"/>
          <p:nvPr/>
        </p:nvSpPr>
        <p:spPr>
          <a:xfrm>
            <a:off x="8953500" y="2425700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1.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全社展開</a:t>
            </a:r>
          </a:p>
        </p:txBody>
      </p:sp>
      <p:sp>
        <p:nvSpPr>
          <p:cNvPr id="28" name="SDPM::execution.roadmap::item_3_1" title="SDPM::execution.roadmap::item_3_1" descr="SDPM::execution.roadmap::item_3_1"/>
          <p:cNvSpPr txBox="1"/>
          <p:nvPr/>
        </p:nvSpPr>
        <p:spPr>
          <a:xfrm>
            <a:off x="8953500" y="2717800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2. </a:t>
            </a:r>
            <a:r>
              <a:rPr lang="ja-JP" sz="1200">
                <a:solidFill>
                  <a:srgbClr val="60758A"/>
                </a:solidFill>
                <a:latin typeface="Yu Gothic UI"/>
              </a:rPr>
              <a:t>収益モデル更新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Technical / Data — composition, typography and reading path are theme-specific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123B52"/>
                </a:solidFill>
                <a:latin typeface="Yu Gothic UI"/>
              </a:rPr>
              <a:t>Gantt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execution.gantt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execution.gantt::head_task" title="SDPM::execution.gantt::head_task" descr="SDPM::execution.gantt::head_task"/>
          <p:cNvSpPr/>
          <p:nvPr/>
        </p:nvSpPr>
        <p:spPr>
          <a:xfrm>
            <a:off x="635000" y="1524000"/>
            <a:ext cx="2839720" cy="60452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TASK / MODULE</a:t>
            </a:r>
          </a:p>
        </p:txBody>
      </p:sp>
      <p:sp>
        <p:nvSpPr>
          <p:cNvPr id="7" name="SDPM::execution.gantt::period_0" title="SDPM::execution.gantt::period_0" descr="SDPM::execution.gantt::period_0"/>
          <p:cNvSpPr/>
          <p:nvPr/>
        </p:nvSpPr>
        <p:spPr>
          <a:xfrm>
            <a:off x="3474720" y="1524000"/>
            <a:ext cx="2015807" cy="604520"/>
          </a:xfrm>
          <a:prstGeom prst="roundRect">
            <a:avLst/>
          </a:prstGeom>
          <a:solidFill>
            <a:srgbClr val="123B5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Q1</a:t>
            </a:r>
          </a:p>
        </p:txBody>
      </p:sp>
      <p:sp>
        <p:nvSpPr>
          <p:cNvPr id="8" name="SDPM::execution.gantt::period_1" title="SDPM::execution.gantt::period_1" descr="SDPM::execution.gantt::period_1"/>
          <p:cNvSpPr/>
          <p:nvPr/>
        </p:nvSpPr>
        <p:spPr>
          <a:xfrm>
            <a:off x="5496877" y="1524000"/>
            <a:ext cx="2015807" cy="604520"/>
          </a:xfrm>
          <a:prstGeom prst="roundRect">
            <a:avLst/>
          </a:prstGeom>
          <a:solidFill>
            <a:srgbClr val="123B5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Q2</a:t>
            </a:r>
          </a:p>
        </p:txBody>
      </p:sp>
      <p:sp>
        <p:nvSpPr>
          <p:cNvPr id="9" name="SDPM::execution.gantt::period_2" title="SDPM::execution.gantt::period_2" descr="SDPM::execution.gantt::period_2"/>
          <p:cNvSpPr/>
          <p:nvPr/>
        </p:nvSpPr>
        <p:spPr>
          <a:xfrm>
            <a:off x="7519034" y="1524000"/>
            <a:ext cx="2015807" cy="604520"/>
          </a:xfrm>
          <a:prstGeom prst="roundRect">
            <a:avLst/>
          </a:prstGeom>
          <a:solidFill>
            <a:srgbClr val="123B5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Q3</a:t>
            </a:r>
          </a:p>
        </p:txBody>
      </p:sp>
      <p:sp>
        <p:nvSpPr>
          <p:cNvPr id="10" name="SDPM::execution.gantt::period_3" title="SDPM::execution.gantt::period_3" descr="SDPM::execution.gantt::period_3"/>
          <p:cNvSpPr/>
          <p:nvPr/>
        </p:nvSpPr>
        <p:spPr>
          <a:xfrm>
            <a:off x="9541192" y="1524000"/>
            <a:ext cx="2015807" cy="604520"/>
          </a:xfrm>
          <a:prstGeom prst="roundRect">
            <a:avLst/>
          </a:prstGeom>
          <a:solidFill>
            <a:srgbClr val="123B5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Q4</a:t>
            </a:r>
          </a:p>
        </p:txBody>
      </p:sp>
      <p:sp>
        <p:nvSpPr>
          <p:cNvPr id="11" name="SDPM::execution.gantt::label_0" title="SDPM::execution.gantt::label_0" descr="SDPM::execution.gantt::label_0"/>
          <p:cNvSpPr/>
          <p:nvPr/>
        </p:nvSpPr>
        <p:spPr>
          <a:xfrm>
            <a:off x="635000" y="2141220"/>
            <a:ext cx="2839720" cy="91566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63500" rIns="63500" bIns="63500"/>
          <a:lstStyle/>
          <a:p>
            <a:pPr algn="l"/>
            <a:r>
              <a:rPr sz="1200">
                <a:solidFill>
                  <a:srgbClr val="102A3A"/>
                </a:solidFill>
                <a:latin typeface="Aptos"/>
              </a:rPr>
              <a:t>T01  </a:t>
            </a:r>
            <a:r>
              <a:rPr lang="ja-JP" sz="1200">
                <a:solidFill>
                  <a:srgbClr val="102A3A"/>
                </a:solidFill>
                <a:latin typeface="Yu Gothic UI"/>
              </a:rPr>
              <a:t>オンボーディング</a:t>
            </a:r>
          </a:p>
        </p:txBody>
      </p:sp>
      <p:sp>
        <p:nvSpPr>
          <p:cNvPr id="12" name="SDPM::execution.gantt::cell_0_0" title="SDPM::execution.gantt::cell_0_0" descr="SDPM::execution.gantt::cell_0_0"/>
          <p:cNvSpPr/>
          <p:nvPr/>
        </p:nvSpPr>
        <p:spPr>
          <a:xfrm>
            <a:off x="3474720" y="2141220"/>
            <a:ext cx="2015807" cy="915669"/>
          </a:xfrm>
          <a:prstGeom prst="rect">
            <a:avLst/>
          </a:prstGeom>
          <a:solidFill>
            <a:srgbClr val="FFFFFF"/>
          </a:solidFill>
          <a:ln w="762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DPM::execution.gantt::cell_0_1" title="SDPM::execution.gantt::cell_0_1" descr="SDPM::execution.gantt::cell_0_1"/>
          <p:cNvSpPr/>
          <p:nvPr/>
        </p:nvSpPr>
        <p:spPr>
          <a:xfrm>
            <a:off x="5496877" y="2141220"/>
            <a:ext cx="2015807" cy="915669"/>
          </a:xfrm>
          <a:prstGeom prst="rect">
            <a:avLst/>
          </a:prstGeom>
          <a:solidFill>
            <a:srgbClr val="FFFFFF"/>
          </a:solidFill>
          <a:ln w="762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DPM::execution.gantt::cell_0_2" title="SDPM::execution.gantt::cell_0_2" descr="SDPM::execution.gantt::cell_0_2"/>
          <p:cNvSpPr/>
          <p:nvPr/>
        </p:nvSpPr>
        <p:spPr>
          <a:xfrm>
            <a:off x="7519034" y="2141220"/>
            <a:ext cx="2015807" cy="915669"/>
          </a:xfrm>
          <a:prstGeom prst="rect">
            <a:avLst/>
          </a:prstGeom>
          <a:solidFill>
            <a:srgbClr val="FFFFFF"/>
          </a:solidFill>
          <a:ln w="762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DPM::execution.gantt::cell_0_3" title="SDPM::execution.gantt::cell_0_3" descr="SDPM::execution.gantt::cell_0_3"/>
          <p:cNvSpPr/>
          <p:nvPr/>
        </p:nvSpPr>
        <p:spPr>
          <a:xfrm>
            <a:off x="9541192" y="2141220"/>
            <a:ext cx="2015807" cy="915669"/>
          </a:xfrm>
          <a:prstGeom prst="rect">
            <a:avLst/>
          </a:prstGeom>
          <a:solidFill>
            <a:srgbClr val="FFFFFF"/>
          </a:solidFill>
          <a:ln w="762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DPM::execution.gantt::bar_0" title="SDPM::execution.gantt::bar_0" descr="SDPM::execution.gantt::bar_0"/>
          <p:cNvSpPr/>
          <p:nvPr/>
        </p:nvSpPr>
        <p:spPr>
          <a:xfrm>
            <a:off x="3493770" y="2397633"/>
            <a:ext cx="4003040" cy="402907"/>
          </a:xfrm>
          <a:prstGeom prst="rect">
            <a:avLst/>
          </a:prstGeom>
          <a:solidFill>
            <a:srgbClr val="0E8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DPM::execution.gantt::milestone_0" title="SDPM::execution.gantt::milestone_0" descr="SDPM::execution.gantt::milestone_0"/>
          <p:cNvSpPr/>
          <p:nvPr/>
        </p:nvSpPr>
        <p:spPr>
          <a:xfrm>
            <a:off x="6461125" y="2554605"/>
            <a:ext cx="88900" cy="88900"/>
          </a:xfrm>
          <a:prstGeom prst="diamond">
            <a:avLst/>
          </a:prstGeom>
          <a:solidFill>
            <a:srgbClr val="C97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DPM::execution.gantt::label_1" title="SDPM::execution.gantt::label_1" descr="SDPM::execution.gantt::label_1"/>
          <p:cNvSpPr/>
          <p:nvPr/>
        </p:nvSpPr>
        <p:spPr>
          <a:xfrm>
            <a:off x="635000" y="3069590"/>
            <a:ext cx="2839720" cy="915669"/>
          </a:xfrm>
          <a:prstGeom prst="roundRect">
            <a:avLst/>
          </a:prstGeom>
          <a:solidFill>
            <a:srgbClr val="E4EEF2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63500" rIns="63500" bIns="63500"/>
          <a:lstStyle/>
          <a:p>
            <a:pPr algn="l"/>
            <a:r>
              <a:rPr sz="1200">
                <a:solidFill>
                  <a:srgbClr val="102A3A"/>
                </a:solidFill>
                <a:latin typeface="Aptos"/>
              </a:rPr>
              <a:t>T02  </a:t>
            </a:r>
            <a:r>
              <a:rPr lang="ja-JP" sz="1200">
                <a:solidFill>
                  <a:srgbClr val="102A3A"/>
                </a:solidFill>
                <a:latin typeface="Yu Gothic UI"/>
              </a:rPr>
              <a:t>価格・契約</a:t>
            </a:r>
          </a:p>
        </p:txBody>
      </p:sp>
      <p:sp>
        <p:nvSpPr>
          <p:cNvPr id="19" name="SDPM::execution.gantt::cell_1_0" title="SDPM::execution.gantt::cell_1_0" descr="SDPM::execution.gantt::cell_1_0"/>
          <p:cNvSpPr/>
          <p:nvPr/>
        </p:nvSpPr>
        <p:spPr>
          <a:xfrm>
            <a:off x="3474720" y="3069590"/>
            <a:ext cx="2015807" cy="915669"/>
          </a:xfrm>
          <a:prstGeom prst="rect">
            <a:avLst/>
          </a:prstGeom>
          <a:solidFill>
            <a:srgbClr val="E4EEF2"/>
          </a:solidFill>
          <a:ln w="762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DPM::execution.gantt::cell_1_1" title="SDPM::execution.gantt::cell_1_1" descr="SDPM::execution.gantt::cell_1_1"/>
          <p:cNvSpPr/>
          <p:nvPr/>
        </p:nvSpPr>
        <p:spPr>
          <a:xfrm>
            <a:off x="5496877" y="3069590"/>
            <a:ext cx="2015807" cy="915669"/>
          </a:xfrm>
          <a:prstGeom prst="rect">
            <a:avLst/>
          </a:prstGeom>
          <a:solidFill>
            <a:srgbClr val="E4EEF2"/>
          </a:solidFill>
          <a:ln w="762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DPM::execution.gantt::cell_1_2" title="SDPM::execution.gantt::cell_1_2" descr="SDPM::execution.gantt::cell_1_2"/>
          <p:cNvSpPr/>
          <p:nvPr/>
        </p:nvSpPr>
        <p:spPr>
          <a:xfrm>
            <a:off x="7519034" y="3069590"/>
            <a:ext cx="2015807" cy="915669"/>
          </a:xfrm>
          <a:prstGeom prst="rect">
            <a:avLst/>
          </a:prstGeom>
          <a:solidFill>
            <a:srgbClr val="E4EEF2"/>
          </a:solidFill>
          <a:ln w="762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DPM::execution.gantt::cell_1_3" title="SDPM::execution.gantt::cell_1_3" descr="SDPM::execution.gantt::cell_1_3"/>
          <p:cNvSpPr/>
          <p:nvPr/>
        </p:nvSpPr>
        <p:spPr>
          <a:xfrm>
            <a:off x="9541192" y="3069590"/>
            <a:ext cx="2015807" cy="915669"/>
          </a:xfrm>
          <a:prstGeom prst="rect">
            <a:avLst/>
          </a:prstGeom>
          <a:solidFill>
            <a:srgbClr val="E4EEF2"/>
          </a:solidFill>
          <a:ln w="762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DPM::execution.gantt::bar_1" title="SDPM::execution.gantt::bar_1" descr="SDPM::execution.gantt::bar_1"/>
          <p:cNvSpPr/>
          <p:nvPr/>
        </p:nvSpPr>
        <p:spPr>
          <a:xfrm>
            <a:off x="3493770" y="3326003"/>
            <a:ext cx="6023610" cy="402907"/>
          </a:xfrm>
          <a:prstGeom prst="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DPM::execution.gantt::label_2" title="SDPM::execution.gantt::label_2" descr="SDPM::execution.gantt::label_2"/>
          <p:cNvSpPr/>
          <p:nvPr/>
        </p:nvSpPr>
        <p:spPr>
          <a:xfrm>
            <a:off x="635000" y="3997960"/>
            <a:ext cx="2839720" cy="91566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63500" rIns="63500" bIns="63500"/>
          <a:lstStyle/>
          <a:p>
            <a:pPr algn="l"/>
            <a:r>
              <a:rPr sz="1200">
                <a:solidFill>
                  <a:srgbClr val="102A3A"/>
                </a:solidFill>
                <a:latin typeface="Aptos"/>
              </a:rPr>
              <a:t>T03  </a:t>
            </a:r>
            <a:r>
              <a:rPr lang="ja-JP" sz="1200">
                <a:solidFill>
                  <a:srgbClr val="102A3A"/>
                </a:solidFill>
                <a:latin typeface="Yu Gothic UI"/>
              </a:rPr>
              <a:t>顧客データ</a:t>
            </a:r>
          </a:p>
        </p:txBody>
      </p:sp>
      <p:sp>
        <p:nvSpPr>
          <p:cNvPr id="25" name="SDPM::execution.gantt::cell_2_0" title="SDPM::execution.gantt::cell_2_0" descr="SDPM::execution.gantt::cell_2_0"/>
          <p:cNvSpPr/>
          <p:nvPr/>
        </p:nvSpPr>
        <p:spPr>
          <a:xfrm>
            <a:off x="3474720" y="3997960"/>
            <a:ext cx="2015807" cy="915669"/>
          </a:xfrm>
          <a:prstGeom prst="rect">
            <a:avLst/>
          </a:prstGeom>
          <a:solidFill>
            <a:srgbClr val="FFFFFF"/>
          </a:solidFill>
          <a:ln w="762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DPM::execution.gantt::cell_2_1" title="SDPM::execution.gantt::cell_2_1" descr="SDPM::execution.gantt::cell_2_1"/>
          <p:cNvSpPr/>
          <p:nvPr/>
        </p:nvSpPr>
        <p:spPr>
          <a:xfrm>
            <a:off x="5496877" y="3997960"/>
            <a:ext cx="2015807" cy="915669"/>
          </a:xfrm>
          <a:prstGeom prst="rect">
            <a:avLst/>
          </a:prstGeom>
          <a:solidFill>
            <a:srgbClr val="FFFFFF"/>
          </a:solidFill>
          <a:ln w="762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DPM::execution.gantt::cell_2_2" title="SDPM::execution.gantt::cell_2_2" descr="SDPM::execution.gantt::cell_2_2"/>
          <p:cNvSpPr/>
          <p:nvPr/>
        </p:nvSpPr>
        <p:spPr>
          <a:xfrm>
            <a:off x="7519034" y="3997960"/>
            <a:ext cx="2015807" cy="915669"/>
          </a:xfrm>
          <a:prstGeom prst="rect">
            <a:avLst/>
          </a:prstGeom>
          <a:solidFill>
            <a:srgbClr val="FFFFFF"/>
          </a:solidFill>
          <a:ln w="762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DPM::execution.gantt::cell_2_3" title="SDPM::execution.gantt::cell_2_3" descr="SDPM::execution.gantt::cell_2_3"/>
          <p:cNvSpPr/>
          <p:nvPr/>
        </p:nvSpPr>
        <p:spPr>
          <a:xfrm>
            <a:off x="9541192" y="3997960"/>
            <a:ext cx="2015807" cy="915669"/>
          </a:xfrm>
          <a:prstGeom prst="rect">
            <a:avLst/>
          </a:prstGeom>
          <a:solidFill>
            <a:srgbClr val="FFFFFF"/>
          </a:solidFill>
          <a:ln w="762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DPM::execution.gantt::bar_2" title="SDPM::execution.gantt::bar_2" descr="SDPM::execution.gantt::bar_2"/>
          <p:cNvSpPr/>
          <p:nvPr/>
        </p:nvSpPr>
        <p:spPr>
          <a:xfrm>
            <a:off x="5514340" y="4254373"/>
            <a:ext cx="6023610" cy="402907"/>
          </a:xfrm>
          <a:prstGeom prst="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DPM::execution.gantt::label_3" title="SDPM::execution.gantt::label_3" descr="SDPM::execution.gantt::label_3"/>
          <p:cNvSpPr/>
          <p:nvPr/>
        </p:nvSpPr>
        <p:spPr>
          <a:xfrm>
            <a:off x="635000" y="4926330"/>
            <a:ext cx="2839720" cy="915669"/>
          </a:xfrm>
          <a:prstGeom prst="roundRect">
            <a:avLst/>
          </a:prstGeom>
          <a:solidFill>
            <a:srgbClr val="E4EEF2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tIns="63500" rIns="63500" bIns="63500"/>
          <a:lstStyle/>
          <a:p>
            <a:pPr algn="l"/>
            <a:r>
              <a:rPr sz="1200">
                <a:solidFill>
                  <a:srgbClr val="102A3A"/>
                </a:solidFill>
                <a:latin typeface="Aptos"/>
              </a:rPr>
              <a:t>T04  </a:t>
            </a:r>
            <a:r>
              <a:rPr lang="ja-JP" sz="1200">
                <a:solidFill>
                  <a:srgbClr val="102A3A"/>
                </a:solidFill>
                <a:latin typeface="Yu Gothic UI"/>
              </a:rPr>
              <a:t>全社展開</a:t>
            </a:r>
          </a:p>
        </p:txBody>
      </p:sp>
      <p:sp>
        <p:nvSpPr>
          <p:cNvPr id="31" name="SDPM::execution.gantt::cell_3_0" title="SDPM::execution.gantt::cell_3_0" descr="SDPM::execution.gantt::cell_3_0"/>
          <p:cNvSpPr/>
          <p:nvPr/>
        </p:nvSpPr>
        <p:spPr>
          <a:xfrm>
            <a:off x="3474720" y="4926330"/>
            <a:ext cx="2015807" cy="915669"/>
          </a:xfrm>
          <a:prstGeom prst="rect">
            <a:avLst/>
          </a:prstGeom>
          <a:solidFill>
            <a:srgbClr val="E4EEF2"/>
          </a:solidFill>
          <a:ln w="762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DPM::execution.gantt::cell_3_1" title="SDPM::execution.gantt::cell_3_1" descr="SDPM::execution.gantt::cell_3_1"/>
          <p:cNvSpPr/>
          <p:nvPr/>
        </p:nvSpPr>
        <p:spPr>
          <a:xfrm>
            <a:off x="5496877" y="4926330"/>
            <a:ext cx="2015807" cy="915669"/>
          </a:xfrm>
          <a:prstGeom prst="rect">
            <a:avLst/>
          </a:prstGeom>
          <a:solidFill>
            <a:srgbClr val="E4EEF2"/>
          </a:solidFill>
          <a:ln w="762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DPM::execution.gantt::cell_3_2" title="SDPM::execution.gantt::cell_3_2" descr="SDPM::execution.gantt::cell_3_2"/>
          <p:cNvSpPr/>
          <p:nvPr/>
        </p:nvSpPr>
        <p:spPr>
          <a:xfrm>
            <a:off x="7519034" y="4926330"/>
            <a:ext cx="2015807" cy="915669"/>
          </a:xfrm>
          <a:prstGeom prst="rect">
            <a:avLst/>
          </a:prstGeom>
          <a:solidFill>
            <a:srgbClr val="E4EEF2"/>
          </a:solidFill>
          <a:ln w="762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DPM::execution.gantt::cell_3_3" title="SDPM::execution.gantt::cell_3_3" descr="SDPM::execution.gantt::cell_3_3"/>
          <p:cNvSpPr/>
          <p:nvPr/>
        </p:nvSpPr>
        <p:spPr>
          <a:xfrm>
            <a:off x="9541192" y="4926330"/>
            <a:ext cx="2015807" cy="915669"/>
          </a:xfrm>
          <a:prstGeom prst="rect">
            <a:avLst/>
          </a:prstGeom>
          <a:solidFill>
            <a:srgbClr val="E4EEF2"/>
          </a:solidFill>
          <a:ln w="762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DPM::execution.gantt::bar_3" title="SDPM::execution.gantt::bar_3" descr="SDPM::execution.gantt::bar_3"/>
          <p:cNvSpPr/>
          <p:nvPr/>
        </p:nvSpPr>
        <p:spPr>
          <a:xfrm>
            <a:off x="7534909" y="5182743"/>
            <a:ext cx="4003040" cy="402907"/>
          </a:xfrm>
          <a:prstGeom prst="rect">
            <a:avLst/>
          </a:prstGeom>
          <a:solidFill>
            <a:srgbClr val="41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DPM::execution.gantt::milestone_3" title="SDPM::execution.gantt::milestone_3" descr="SDPM::execution.gantt::milestone_3"/>
          <p:cNvSpPr/>
          <p:nvPr/>
        </p:nvSpPr>
        <p:spPr>
          <a:xfrm>
            <a:off x="10502265" y="5339715"/>
            <a:ext cx="88900" cy="88900"/>
          </a:xfrm>
          <a:prstGeom prst="diamond">
            <a:avLst/>
          </a:prstGeom>
          <a:solidFill>
            <a:srgbClr val="C97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Technical / Data — composition, typography and reading path are theme-specific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123B52"/>
                </a:solidFill>
                <a:latin typeface="Yu Gothic UI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execution.governance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execution.governance::code_0" title="SDPM::execution.governance::code_0" descr="SDPM::execution.governance::code_0"/>
          <p:cNvSpPr txBox="1"/>
          <p:nvPr/>
        </p:nvSpPr>
        <p:spPr>
          <a:xfrm>
            <a:off x="635000" y="1524000"/>
            <a:ext cx="1529080" cy="138004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60758A"/>
                </a:solidFill>
                <a:latin typeface="Yu Gothic UI"/>
              </a:rPr>
              <a:t>GOV-01</a:t>
            </a:r>
          </a:p>
        </p:txBody>
      </p:sp>
      <p:sp>
        <p:nvSpPr>
          <p:cNvPr id="7" name="SDPM::execution.governance::node_0" title="SDPM::execution.governance::node_0" descr="SDPM::execution.governance::node_0"/>
          <p:cNvSpPr/>
          <p:nvPr/>
        </p:nvSpPr>
        <p:spPr>
          <a:xfrm>
            <a:off x="2819400" y="1524000"/>
            <a:ext cx="5242560" cy="1380045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500">
                <a:solidFill>
                  <a:srgbClr val="FFFFFF"/>
                </a:solidFill>
                <a:latin typeface="Aptos"/>
              </a:rPr>
              <a:t>Steering Committee</a:t>
            </a:r>
          </a:p>
        </p:txBody>
      </p:sp>
      <p:sp>
        <p:nvSpPr>
          <p:cNvPr id="8" name="SDPM::execution.governance::detail_0" title="SDPM::execution.governance::detail_0" descr="SDPM::execution.governance::detail_0"/>
          <p:cNvSpPr txBox="1"/>
          <p:nvPr/>
        </p:nvSpPr>
        <p:spPr>
          <a:xfrm>
            <a:off x="8498840" y="1524000"/>
            <a:ext cx="3058160" cy="138004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200">
                <a:solidFill>
                  <a:srgbClr val="60758A"/>
                </a:solidFill>
                <a:latin typeface="Yu Gothic UI"/>
              </a:rPr>
              <a:t>月次・投資判断</a:t>
            </a:r>
          </a:p>
        </p:txBody>
      </p:sp>
      <p:cxnSp>
        <p:nvCxnSpPr>
          <p:cNvPr id="9" name="SDPM::execution.governance::link_0" title="SDPM::execution.governance::link_0" descr="SDPM::execution.governance::link_0"/>
          <p:cNvCxnSpPr/>
          <p:nvPr/>
        </p:nvCxnSpPr>
        <p:spPr>
          <a:xfrm>
            <a:off x="5877560" y="2904045"/>
            <a:ext cx="0" cy="88900"/>
          </a:xfrm>
          <a:prstGeom prst="line">
            <a:avLst/>
          </a:prstGeom>
          <a:ln w="19050">
            <a:solidFill>
              <a:srgbClr val="0E8A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DPM::execution.governance::code_1" title="SDPM::execution.governance::code_1" descr="SDPM::execution.governance::code_1"/>
          <p:cNvSpPr txBox="1"/>
          <p:nvPr/>
        </p:nvSpPr>
        <p:spPr>
          <a:xfrm>
            <a:off x="635000" y="2992945"/>
            <a:ext cx="1529080" cy="138004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60758A"/>
                </a:solidFill>
                <a:latin typeface="Yu Gothic UI"/>
              </a:rPr>
              <a:t>GOV-02</a:t>
            </a:r>
          </a:p>
        </p:txBody>
      </p:sp>
      <p:sp>
        <p:nvSpPr>
          <p:cNvPr id="11" name="SDPM::execution.governance::node_1" title="SDPM::execution.governance::node_1" descr="SDPM::execution.governance::node_1"/>
          <p:cNvSpPr/>
          <p:nvPr/>
        </p:nvSpPr>
        <p:spPr>
          <a:xfrm>
            <a:off x="2819400" y="2992945"/>
            <a:ext cx="5242560" cy="1380045"/>
          </a:xfrm>
          <a:prstGeom prst="roundRect">
            <a:avLst/>
          </a:prstGeom>
          <a:solidFill>
            <a:srgbClr val="0E8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500">
                <a:solidFill>
                  <a:srgbClr val="FFFFFF"/>
                </a:solidFill>
                <a:latin typeface="Aptos"/>
              </a:rPr>
              <a:t>Program Office</a:t>
            </a:r>
          </a:p>
        </p:txBody>
      </p:sp>
      <p:sp>
        <p:nvSpPr>
          <p:cNvPr id="12" name="SDPM::execution.governance::detail_1" title="SDPM::execution.governance::detail_1" descr="SDPM::execution.governance::detail_1"/>
          <p:cNvSpPr txBox="1"/>
          <p:nvPr/>
        </p:nvSpPr>
        <p:spPr>
          <a:xfrm>
            <a:off x="8498840" y="2992945"/>
            <a:ext cx="3058160" cy="138004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200">
                <a:solidFill>
                  <a:srgbClr val="60758A"/>
                </a:solidFill>
                <a:latin typeface="Yu Gothic UI"/>
              </a:rPr>
              <a:t>週次・横断課題</a:t>
            </a:r>
          </a:p>
        </p:txBody>
      </p:sp>
      <p:cxnSp>
        <p:nvCxnSpPr>
          <p:cNvPr id="13" name="SDPM::execution.governance::link_1" title="SDPM::execution.governance::link_1" descr="SDPM::execution.governance::link_1"/>
          <p:cNvCxnSpPr/>
          <p:nvPr/>
        </p:nvCxnSpPr>
        <p:spPr>
          <a:xfrm>
            <a:off x="5877560" y="4373054"/>
            <a:ext cx="0" cy="88900"/>
          </a:xfrm>
          <a:prstGeom prst="line">
            <a:avLst/>
          </a:prstGeom>
          <a:ln w="19050">
            <a:solidFill>
              <a:srgbClr val="0E8A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DPM::execution.governance::code_2" title="SDPM::execution.governance::code_2" descr="SDPM::execution.governance::code_2"/>
          <p:cNvSpPr txBox="1"/>
          <p:nvPr/>
        </p:nvSpPr>
        <p:spPr>
          <a:xfrm>
            <a:off x="635000" y="4461954"/>
            <a:ext cx="1529080" cy="138004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60758A"/>
                </a:solidFill>
                <a:latin typeface="Yu Gothic UI"/>
              </a:rPr>
              <a:t>GOV-03</a:t>
            </a:r>
          </a:p>
        </p:txBody>
      </p:sp>
      <p:sp>
        <p:nvSpPr>
          <p:cNvPr id="15" name="SDPM::execution.governance::node_2" title="SDPM::execution.governance::node_2" descr="SDPM::execution.governance::node_2"/>
          <p:cNvSpPr/>
          <p:nvPr/>
        </p:nvSpPr>
        <p:spPr>
          <a:xfrm>
            <a:off x="2819400" y="4461954"/>
            <a:ext cx="5242560" cy="13800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1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500">
                <a:solidFill>
                  <a:srgbClr val="102A3A"/>
                </a:solidFill>
                <a:latin typeface="Aptos"/>
              </a:rPr>
              <a:t>Workstreams</a:t>
            </a:r>
          </a:p>
        </p:txBody>
      </p:sp>
      <p:sp>
        <p:nvSpPr>
          <p:cNvPr id="16" name="SDPM::execution.governance::detail_2" title="SDPM::execution.governance::detail_2" descr="SDPM::execution.governance::detail_2"/>
          <p:cNvSpPr txBox="1"/>
          <p:nvPr/>
        </p:nvSpPr>
        <p:spPr>
          <a:xfrm>
            <a:off x="8498840" y="4461954"/>
            <a:ext cx="3058160" cy="138004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200">
                <a:solidFill>
                  <a:srgbClr val="60758A"/>
                </a:solidFill>
                <a:latin typeface="Yu Gothic UI"/>
              </a:rPr>
              <a:t>日次・実行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Technical / Data — composition, typography and reading path are theme-specific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123B52"/>
                </a:solidFill>
                <a:latin typeface="Yu Gothic UI"/>
              </a:rPr>
              <a:t>KPI Cascade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execution.kpi_cascade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execution.kpi_cascade::top" title="SDPM::execution.kpi_cascade::top" descr="SDPM::execution.kpi_cascade::top"/>
          <p:cNvSpPr/>
          <p:nvPr/>
        </p:nvSpPr>
        <p:spPr>
          <a:xfrm>
            <a:off x="4130040" y="1524000"/>
            <a:ext cx="3931920" cy="77724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sz="1600">
                <a:solidFill>
                  <a:srgbClr val="FFFFFF"/>
                </a:solidFill>
                <a:latin typeface="Aptos"/>
              </a:rPr>
              <a:t>+10%</a:t>
            </a:r>
          </a:p>
          <a:p>
            <a:pPr algn="ctr"/>
            <a:r>
              <a:rPr lang="ja-JP" sz="1600">
                <a:solidFill>
                  <a:srgbClr val="FFFFFF"/>
                </a:solidFill>
                <a:latin typeface="Yu Gothic UI"/>
              </a:rPr>
              <a:t>営業利益</a:t>
            </a:r>
          </a:p>
        </p:txBody>
      </p:sp>
      <p:sp>
        <p:nvSpPr>
          <p:cNvPr id="7" name="SDPM::execution.kpi_cascade::cell_0_0" title="SDPM::execution.kpi_cascade::cell_0_0" descr="SDPM::execution.kpi_cascade::cell_0_0"/>
          <p:cNvSpPr/>
          <p:nvPr/>
        </p:nvSpPr>
        <p:spPr>
          <a:xfrm>
            <a:off x="635000" y="2440940"/>
            <a:ext cx="5429250" cy="16179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8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DPM::execution.kpi_cascade::code_0_0" title="SDPM::execution.kpi_cascade::code_0_0" descr="SDPM::execution.kpi_cascade::code_0_0"/>
          <p:cNvSpPr txBox="1"/>
          <p:nvPr/>
        </p:nvSpPr>
        <p:spPr>
          <a:xfrm>
            <a:off x="698500" y="2491740"/>
            <a:ext cx="5302250" cy="114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K1.1</a:t>
            </a:r>
          </a:p>
        </p:txBody>
      </p:sp>
      <p:sp>
        <p:nvSpPr>
          <p:cNvPr id="9" name="SDPM::execution.kpi_cascade::value_0_0" title="SDPM::execution.kpi_cascade::value_0_0" descr="SDPM::execution.kpi_cascade::value_0_0"/>
          <p:cNvSpPr txBox="1"/>
          <p:nvPr/>
        </p:nvSpPr>
        <p:spPr>
          <a:xfrm>
            <a:off x="698500" y="2618740"/>
            <a:ext cx="530225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100">
                <a:solidFill>
                  <a:srgbClr val="0E8AA6"/>
                </a:solidFill>
                <a:latin typeface="Yu Gothic UI"/>
              </a:rPr>
              <a:t>+8%</a:t>
            </a:r>
          </a:p>
        </p:txBody>
      </p:sp>
      <p:sp>
        <p:nvSpPr>
          <p:cNvPr id="10" name="SDPM::execution.kpi_cascade::label_0_0" title="SDPM::execution.kpi_cascade::label_0_0" descr="SDPM::execution.kpi_cascade::label_0_0"/>
          <p:cNvSpPr txBox="1"/>
          <p:nvPr/>
        </p:nvSpPr>
        <p:spPr>
          <a:xfrm>
            <a:off x="698500" y="2860040"/>
            <a:ext cx="5302250" cy="114808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0758A"/>
                </a:solidFill>
                <a:latin typeface="Yu Gothic UI"/>
              </a:rPr>
              <a:t>売上</a:t>
            </a:r>
          </a:p>
        </p:txBody>
      </p:sp>
      <p:cxnSp>
        <p:nvCxnSpPr>
          <p:cNvPr id="11" name="SDPM::execution.kpi_cascade::link_0_0" title="SDPM::execution.kpi_cascade::link_0_0" descr="SDPM::execution.kpi_cascade::link_0_0"/>
          <p:cNvCxnSpPr/>
          <p:nvPr/>
        </p:nvCxnSpPr>
        <p:spPr>
          <a:xfrm flipH="1">
            <a:off x="3349625" y="2301240"/>
            <a:ext cx="2746375" cy="13970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DPM::execution.kpi_cascade::cell_0_1" title="SDPM::execution.kpi_cascade::cell_0_1" descr="SDPM::execution.kpi_cascade::cell_0_1"/>
          <p:cNvSpPr/>
          <p:nvPr/>
        </p:nvSpPr>
        <p:spPr>
          <a:xfrm>
            <a:off x="6127750" y="2440940"/>
            <a:ext cx="5429250" cy="16179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8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DPM::execution.kpi_cascade::code_0_1" title="SDPM::execution.kpi_cascade::code_0_1" descr="SDPM::execution.kpi_cascade::code_0_1"/>
          <p:cNvSpPr txBox="1"/>
          <p:nvPr/>
        </p:nvSpPr>
        <p:spPr>
          <a:xfrm>
            <a:off x="6191250" y="2491740"/>
            <a:ext cx="5302250" cy="114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K1.2</a:t>
            </a:r>
          </a:p>
        </p:txBody>
      </p:sp>
      <p:sp>
        <p:nvSpPr>
          <p:cNvPr id="14" name="SDPM::execution.kpi_cascade::value_0_1" title="SDPM::execution.kpi_cascade::value_0_1" descr="SDPM::execution.kpi_cascade::value_0_1"/>
          <p:cNvSpPr txBox="1"/>
          <p:nvPr/>
        </p:nvSpPr>
        <p:spPr>
          <a:xfrm>
            <a:off x="6191250" y="2618740"/>
            <a:ext cx="530225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100">
                <a:solidFill>
                  <a:srgbClr val="0E8AA6"/>
                </a:solidFill>
                <a:latin typeface="Yu Gothic UI"/>
              </a:rPr>
              <a:t>+2pt</a:t>
            </a:r>
          </a:p>
        </p:txBody>
      </p:sp>
      <p:sp>
        <p:nvSpPr>
          <p:cNvPr id="15" name="SDPM::execution.kpi_cascade::label_0_1" title="SDPM::execution.kpi_cascade::label_0_1" descr="SDPM::execution.kpi_cascade::label_0_1"/>
          <p:cNvSpPr txBox="1"/>
          <p:nvPr/>
        </p:nvSpPr>
        <p:spPr>
          <a:xfrm>
            <a:off x="6191250" y="2860040"/>
            <a:ext cx="5302250" cy="114808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0758A"/>
                </a:solidFill>
                <a:latin typeface="Yu Gothic UI"/>
              </a:rPr>
              <a:t>粗利率</a:t>
            </a:r>
          </a:p>
        </p:txBody>
      </p:sp>
      <p:cxnSp>
        <p:nvCxnSpPr>
          <p:cNvPr id="16" name="SDPM::execution.kpi_cascade::link_0_1" title="SDPM::execution.kpi_cascade::link_0_1" descr="SDPM::execution.kpi_cascade::link_0_1"/>
          <p:cNvCxnSpPr/>
          <p:nvPr/>
        </p:nvCxnSpPr>
        <p:spPr>
          <a:xfrm>
            <a:off x="6096000" y="2301240"/>
            <a:ext cx="2746375" cy="13970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DPM::execution.kpi_cascade::cell_1_0" title="SDPM::execution.kpi_cascade::cell_1_0" descr="SDPM::execution.kpi_cascade::cell_1_0"/>
          <p:cNvSpPr/>
          <p:nvPr/>
        </p:nvSpPr>
        <p:spPr>
          <a:xfrm>
            <a:off x="635000" y="4160520"/>
            <a:ext cx="3598354" cy="15671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DPM::execution.kpi_cascade::code_1_0" title="SDPM::execution.kpi_cascade::code_1_0" descr="SDPM::execution.kpi_cascade::code_1_0"/>
          <p:cNvSpPr txBox="1"/>
          <p:nvPr/>
        </p:nvSpPr>
        <p:spPr>
          <a:xfrm>
            <a:off x="698500" y="4211320"/>
            <a:ext cx="3471354" cy="114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K2.1</a:t>
            </a:r>
          </a:p>
        </p:txBody>
      </p:sp>
      <p:sp>
        <p:nvSpPr>
          <p:cNvPr id="19" name="SDPM::execution.kpi_cascade::value_1_0" title="SDPM::execution.kpi_cascade::value_1_0" descr="SDPM::execution.kpi_cascade::value_1_0"/>
          <p:cNvSpPr txBox="1"/>
          <p:nvPr/>
        </p:nvSpPr>
        <p:spPr>
          <a:xfrm>
            <a:off x="698500" y="4338320"/>
            <a:ext cx="3471354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100">
                <a:solidFill>
                  <a:srgbClr val="4169A1"/>
                </a:solidFill>
                <a:latin typeface="Yu Gothic UI"/>
              </a:rPr>
              <a:t>+5%</a:t>
            </a:r>
          </a:p>
        </p:txBody>
      </p:sp>
      <p:sp>
        <p:nvSpPr>
          <p:cNvPr id="20" name="SDPM::execution.kpi_cascade::label_1_0" title="SDPM::execution.kpi_cascade::label_1_0" descr="SDPM::execution.kpi_cascade::label_1_0"/>
          <p:cNvSpPr txBox="1"/>
          <p:nvPr/>
        </p:nvSpPr>
        <p:spPr>
          <a:xfrm>
            <a:off x="698500" y="4579620"/>
            <a:ext cx="3471354" cy="109728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0758A"/>
                </a:solidFill>
                <a:latin typeface="Yu Gothic UI"/>
              </a:rPr>
              <a:t>顧客数</a:t>
            </a:r>
          </a:p>
        </p:txBody>
      </p:sp>
      <p:cxnSp>
        <p:nvCxnSpPr>
          <p:cNvPr id="21" name="SDPM::execution.kpi_cascade::link_1_0" title="SDPM::execution.kpi_cascade::link_1_0" descr="SDPM::execution.kpi_cascade::link_1_0"/>
          <p:cNvCxnSpPr/>
          <p:nvPr/>
        </p:nvCxnSpPr>
        <p:spPr>
          <a:xfrm>
            <a:off x="2434145" y="4020820"/>
            <a:ext cx="0" cy="13970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DPM::execution.kpi_cascade::cell_1_1" title="SDPM::execution.kpi_cascade::cell_1_1" descr="SDPM::execution.kpi_cascade::cell_1_1"/>
          <p:cNvSpPr/>
          <p:nvPr/>
        </p:nvSpPr>
        <p:spPr>
          <a:xfrm>
            <a:off x="4296854" y="4160520"/>
            <a:ext cx="3598354" cy="15671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DPM::execution.kpi_cascade::code_1_1" title="SDPM::execution.kpi_cascade::code_1_1" descr="SDPM::execution.kpi_cascade::code_1_1"/>
          <p:cNvSpPr txBox="1"/>
          <p:nvPr/>
        </p:nvSpPr>
        <p:spPr>
          <a:xfrm>
            <a:off x="4360354" y="4211320"/>
            <a:ext cx="3471354" cy="114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K2.2</a:t>
            </a:r>
          </a:p>
        </p:txBody>
      </p:sp>
      <p:sp>
        <p:nvSpPr>
          <p:cNvPr id="24" name="SDPM::execution.kpi_cascade::value_1_1" title="SDPM::execution.kpi_cascade::value_1_1" descr="SDPM::execution.kpi_cascade::value_1_1"/>
          <p:cNvSpPr txBox="1"/>
          <p:nvPr/>
        </p:nvSpPr>
        <p:spPr>
          <a:xfrm>
            <a:off x="4360354" y="4338320"/>
            <a:ext cx="3471354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100">
                <a:solidFill>
                  <a:srgbClr val="4169A1"/>
                </a:solidFill>
                <a:latin typeface="Yu Gothic UI"/>
              </a:rPr>
              <a:t>+3%</a:t>
            </a:r>
          </a:p>
        </p:txBody>
      </p:sp>
      <p:sp>
        <p:nvSpPr>
          <p:cNvPr id="25" name="SDPM::execution.kpi_cascade::label_1_1" title="SDPM::execution.kpi_cascade::label_1_1" descr="SDPM::execution.kpi_cascade::label_1_1"/>
          <p:cNvSpPr txBox="1"/>
          <p:nvPr/>
        </p:nvSpPr>
        <p:spPr>
          <a:xfrm>
            <a:off x="4360354" y="4579620"/>
            <a:ext cx="3471354" cy="109728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0758A"/>
                </a:solidFill>
                <a:latin typeface="Yu Gothic UI"/>
              </a:rPr>
              <a:t>単価</a:t>
            </a:r>
          </a:p>
        </p:txBody>
      </p:sp>
      <p:cxnSp>
        <p:nvCxnSpPr>
          <p:cNvPr id="26" name="SDPM::execution.kpi_cascade::link_1_1" title="SDPM::execution.kpi_cascade::link_1_1" descr="SDPM::execution.kpi_cascade::link_1_1"/>
          <p:cNvCxnSpPr/>
          <p:nvPr/>
        </p:nvCxnSpPr>
        <p:spPr>
          <a:xfrm>
            <a:off x="6096000" y="4020820"/>
            <a:ext cx="0" cy="13970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DPM::execution.kpi_cascade::cell_1_2" title="SDPM::execution.kpi_cascade::cell_1_2" descr="SDPM::execution.kpi_cascade::cell_1_2"/>
          <p:cNvSpPr/>
          <p:nvPr/>
        </p:nvSpPr>
        <p:spPr>
          <a:xfrm>
            <a:off x="7958645" y="4160520"/>
            <a:ext cx="3598354" cy="15671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DPM::execution.kpi_cascade::code_1_2" title="SDPM::execution.kpi_cascade::code_1_2" descr="SDPM::execution.kpi_cascade::code_1_2"/>
          <p:cNvSpPr txBox="1"/>
          <p:nvPr/>
        </p:nvSpPr>
        <p:spPr>
          <a:xfrm>
            <a:off x="8022145" y="4211320"/>
            <a:ext cx="3471354" cy="114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K2.3</a:t>
            </a:r>
          </a:p>
        </p:txBody>
      </p:sp>
      <p:sp>
        <p:nvSpPr>
          <p:cNvPr id="29" name="SDPM::execution.kpi_cascade::value_1_2" title="SDPM::execution.kpi_cascade::value_1_2" descr="SDPM::execution.kpi_cascade::value_1_2"/>
          <p:cNvSpPr txBox="1"/>
          <p:nvPr/>
        </p:nvSpPr>
        <p:spPr>
          <a:xfrm>
            <a:off x="8022145" y="4338320"/>
            <a:ext cx="3471354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2100">
                <a:solidFill>
                  <a:srgbClr val="4169A1"/>
                </a:solidFill>
                <a:latin typeface="Yu Gothic UI"/>
              </a:rPr>
              <a:t>-5%</a:t>
            </a:r>
          </a:p>
        </p:txBody>
      </p:sp>
      <p:sp>
        <p:nvSpPr>
          <p:cNvPr id="30" name="SDPM::execution.kpi_cascade::label_1_2" title="SDPM::execution.kpi_cascade::label_1_2" descr="SDPM::execution.kpi_cascade::label_1_2"/>
          <p:cNvSpPr txBox="1"/>
          <p:nvPr/>
        </p:nvSpPr>
        <p:spPr>
          <a:xfrm>
            <a:off x="8022145" y="4579620"/>
            <a:ext cx="3471354" cy="109728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0758A"/>
                </a:solidFill>
                <a:latin typeface="Yu Gothic UI"/>
              </a:rPr>
              <a:t>離反率</a:t>
            </a:r>
          </a:p>
        </p:txBody>
      </p:sp>
      <p:cxnSp>
        <p:nvCxnSpPr>
          <p:cNvPr id="31" name="SDPM::execution.kpi_cascade::link_1_2" title="SDPM::execution.kpi_cascade::link_1_2" descr="SDPM::execution.kpi_cascade::link_1_2"/>
          <p:cNvCxnSpPr/>
          <p:nvPr/>
        </p:nvCxnSpPr>
        <p:spPr>
          <a:xfrm>
            <a:off x="9757854" y="4020820"/>
            <a:ext cx="0" cy="13970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Technical / Data — composition, typography and reading path are theme-specific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41300"/>
            <a:ext cx="4445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TECHNICAL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495300"/>
            <a:ext cx="10922000" cy="660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400">
                <a:solidFill>
                  <a:srgbClr val="123B52"/>
                </a:solidFill>
                <a:latin typeface="Yu Gothic UI"/>
              </a:rPr>
              <a:t>Decision /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098550"/>
            <a:ext cx="6350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narrative.recommendation_actions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5000" y="1314450"/>
            <a:ext cx="10922000" cy="0"/>
          </a:xfrm>
          <a:prstGeom prst="line">
            <a:avLst/>
          </a:prstGeom>
          <a:ln w="12700">
            <a:solidFill>
              <a:srgbClr val="B9CB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DPM::narrative.recommendation_actions::rec_bg" title="SDPM::narrative.recommendation_actions::rec_bg" descr="SDPM::narrative.recommendation_actions::rec_bg"/>
          <p:cNvSpPr/>
          <p:nvPr/>
        </p:nvSpPr>
        <p:spPr>
          <a:xfrm>
            <a:off x="635000" y="1524000"/>
            <a:ext cx="6261100" cy="4318000"/>
          </a:xfrm>
          <a:prstGeom prst="round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DPM::narrative.recommendation_actions::label" title="SDPM::narrative.recommendation_actions::label" descr="SDPM::narrative.recommendation_actions::label"/>
          <p:cNvSpPr txBox="1"/>
          <p:nvPr/>
        </p:nvSpPr>
        <p:spPr>
          <a:xfrm>
            <a:off x="762000" y="1625600"/>
            <a:ext cx="60071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0E8AA6"/>
                </a:solidFill>
                <a:latin typeface="Yu Gothic UI"/>
              </a:rPr>
              <a:t>DECISION PACKAGE</a:t>
            </a:r>
          </a:p>
        </p:txBody>
      </p:sp>
      <p:sp>
        <p:nvSpPr>
          <p:cNvPr id="8" name="SDPM::narrative.recommendation_actions::recommendation" title="SDPM::narrative.recommendation_actions::recommendation" descr="SDPM::narrative.recommendation_actions::recommendation"/>
          <p:cNvSpPr txBox="1"/>
          <p:nvPr/>
        </p:nvSpPr>
        <p:spPr>
          <a:xfrm>
            <a:off x="774700" y="1866900"/>
            <a:ext cx="5981700" cy="3467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2400">
                <a:solidFill>
                  <a:srgbClr val="FFFFFF"/>
                </a:solidFill>
                <a:latin typeface="Yu Gothic UI"/>
              </a:rPr>
              <a:t>市場</a:t>
            </a:r>
            <a:r>
              <a:rPr sz="2400">
                <a:solidFill>
                  <a:srgbClr val="FFFFFF"/>
                </a:solidFill>
                <a:latin typeface="Yu Gothic UI"/>
              </a:rPr>
              <a:t> A </a:t>
            </a:r>
            <a:r>
              <a:rPr lang="ja-JP" sz="2400">
                <a:solidFill>
                  <a:srgbClr val="FFFFFF"/>
                </a:solidFill>
                <a:latin typeface="Yu Gothic UI"/>
              </a:rPr>
              <a:t>の重点顧客に集中し、成果連動型の価値提案とオンボーディングを</a:t>
            </a:r>
            <a:r>
              <a:rPr sz="2400">
                <a:solidFill>
                  <a:srgbClr val="FFFFFF"/>
                </a:solidFill>
                <a:latin typeface="Yu Gothic UI"/>
              </a:rPr>
              <a:t> 90 </a:t>
            </a:r>
            <a:r>
              <a:rPr lang="ja-JP" sz="2400">
                <a:solidFill>
                  <a:srgbClr val="FFFFFF"/>
                </a:solidFill>
                <a:latin typeface="Yu Gothic UI"/>
              </a:rPr>
              <a:t>日で検証する</a:t>
            </a:r>
          </a:p>
        </p:txBody>
      </p:sp>
      <p:sp>
        <p:nvSpPr>
          <p:cNvPr id="9" name="SDPM::narrative.recommendation_actions::decision" title="SDPM::narrative.recommendation_actions::decision" descr="SDPM::narrative.recommendation_actions::decision"/>
          <p:cNvSpPr txBox="1"/>
          <p:nvPr/>
        </p:nvSpPr>
        <p:spPr>
          <a:xfrm>
            <a:off x="774700" y="5448300"/>
            <a:ext cx="5981700" cy="292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0E8AA6"/>
                </a:solidFill>
                <a:latin typeface="Yu Gothic UI"/>
              </a:rPr>
              <a:t>本日の判断：</a:t>
            </a:r>
            <a:r>
              <a:rPr sz="1200">
                <a:solidFill>
                  <a:srgbClr val="0E8AA6"/>
                </a:solidFill>
                <a:latin typeface="Yu Gothic UI"/>
              </a:rPr>
              <a:t> 90 </a:t>
            </a:r>
            <a:r>
              <a:rPr lang="ja-JP" sz="1200">
                <a:solidFill>
                  <a:srgbClr val="0E8AA6"/>
                </a:solidFill>
                <a:latin typeface="Yu Gothic UI"/>
              </a:rPr>
              <a:t>日パイロットを承認するか</a:t>
            </a:r>
          </a:p>
        </p:txBody>
      </p:sp>
      <p:sp>
        <p:nvSpPr>
          <p:cNvPr id="10" name="SDPM::narrative.recommendation_actions::action_bg_0" title="SDPM::narrative.recommendation_actions::action_bg_0" descr="SDPM::narrative.recommendation_actions::action_bg_0"/>
          <p:cNvSpPr/>
          <p:nvPr/>
        </p:nvSpPr>
        <p:spPr>
          <a:xfrm>
            <a:off x="7023100" y="1524000"/>
            <a:ext cx="4533900" cy="1405445"/>
          </a:xfrm>
          <a:prstGeom prst="roundRect">
            <a:avLst/>
          </a:prstGeom>
          <a:solidFill>
            <a:srgbClr val="E4EEF2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DPM::narrative.recommendation_actions::index_0" title="SDPM::narrative.recommendation_actions::index_0" descr="SDPM::narrative.recommendation_actions::index_0"/>
          <p:cNvSpPr txBox="1"/>
          <p:nvPr/>
        </p:nvSpPr>
        <p:spPr>
          <a:xfrm>
            <a:off x="7099300" y="1524000"/>
            <a:ext cx="634746" cy="140544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0E8AA6"/>
                </a:solidFill>
                <a:latin typeface="Yu Gothic UI"/>
              </a:rPr>
              <a:t>A01</a:t>
            </a:r>
          </a:p>
        </p:txBody>
      </p:sp>
      <p:sp>
        <p:nvSpPr>
          <p:cNvPr id="12" name="SDPM::narrative.recommendation_actions::action_0" title="SDPM::narrative.recommendation_actions::action_0" descr="SDPM::narrative.recommendation_actions::action_0"/>
          <p:cNvSpPr txBox="1"/>
          <p:nvPr/>
        </p:nvSpPr>
        <p:spPr>
          <a:xfrm>
            <a:off x="7839202" y="1524000"/>
            <a:ext cx="3536441" cy="140544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02A3A"/>
                </a:solidFill>
                <a:latin typeface="Yu Gothic UI"/>
              </a:rPr>
              <a:t>対象顧客</a:t>
            </a:r>
            <a:r>
              <a:rPr sz="1300">
                <a:solidFill>
                  <a:srgbClr val="102A3A"/>
                </a:solidFill>
                <a:latin typeface="Yu Gothic UI"/>
              </a:rPr>
              <a:t> 10 </a:t>
            </a:r>
            <a:r>
              <a:rPr lang="ja-JP" sz="1300">
                <a:solidFill>
                  <a:srgbClr val="102A3A"/>
                </a:solidFill>
                <a:latin typeface="Yu Gothic UI"/>
              </a:rPr>
              <a:t>社と責任者を確定</a:t>
            </a:r>
          </a:p>
        </p:txBody>
      </p:sp>
      <p:sp>
        <p:nvSpPr>
          <p:cNvPr id="13" name="SDPM::narrative.recommendation_actions::action_bg_1" title="SDPM::narrative.recommendation_actions::action_bg_1" descr="SDPM::narrative.recommendation_actions::action_bg_1"/>
          <p:cNvSpPr/>
          <p:nvPr/>
        </p:nvSpPr>
        <p:spPr>
          <a:xfrm>
            <a:off x="7023100" y="2980245"/>
            <a:ext cx="4533900" cy="1405445"/>
          </a:xfrm>
          <a:prstGeom prst="roundRect">
            <a:avLst/>
          </a:prstGeom>
          <a:solidFill>
            <a:srgbClr val="E4EEF2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DPM::narrative.recommendation_actions::index_1" title="SDPM::narrative.recommendation_actions::index_1" descr="SDPM::narrative.recommendation_actions::index_1"/>
          <p:cNvSpPr txBox="1"/>
          <p:nvPr/>
        </p:nvSpPr>
        <p:spPr>
          <a:xfrm>
            <a:off x="7099300" y="2980245"/>
            <a:ext cx="634746" cy="140544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0E8AA6"/>
                </a:solidFill>
                <a:latin typeface="Yu Gothic UI"/>
              </a:rPr>
              <a:t>A02</a:t>
            </a:r>
          </a:p>
        </p:txBody>
      </p:sp>
      <p:sp>
        <p:nvSpPr>
          <p:cNvPr id="15" name="SDPM::narrative.recommendation_actions::action_1" title="SDPM::narrative.recommendation_actions::action_1" descr="SDPM::narrative.recommendation_actions::action_1"/>
          <p:cNvSpPr txBox="1"/>
          <p:nvPr/>
        </p:nvSpPr>
        <p:spPr>
          <a:xfrm>
            <a:off x="7839202" y="2980245"/>
            <a:ext cx="3536441" cy="140544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02A3A"/>
                </a:solidFill>
                <a:latin typeface="Yu Gothic UI"/>
              </a:rPr>
              <a:t>成果</a:t>
            </a:r>
            <a:r>
              <a:rPr sz="1300">
                <a:solidFill>
                  <a:srgbClr val="102A3A"/>
                </a:solidFill>
                <a:latin typeface="Yu Gothic UI"/>
              </a:rPr>
              <a:t> KPI </a:t>
            </a:r>
            <a:r>
              <a:rPr lang="ja-JP" sz="1300">
                <a:solidFill>
                  <a:srgbClr val="102A3A"/>
                </a:solidFill>
                <a:latin typeface="Yu Gothic UI"/>
              </a:rPr>
              <a:t>・価格・契約条件を設計</a:t>
            </a:r>
          </a:p>
        </p:txBody>
      </p:sp>
      <p:sp>
        <p:nvSpPr>
          <p:cNvPr id="16" name="SDPM::narrative.recommendation_actions::action_bg_2" title="SDPM::narrative.recommendation_actions::action_bg_2" descr="SDPM::narrative.recommendation_actions::action_bg_2"/>
          <p:cNvSpPr/>
          <p:nvPr/>
        </p:nvSpPr>
        <p:spPr>
          <a:xfrm>
            <a:off x="7023100" y="4436554"/>
            <a:ext cx="4533900" cy="1405445"/>
          </a:xfrm>
          <a:prstGeom prst="roundRect">
            <a:avLst/>
          </a:prstGeom>
          <a:solidFill>
            <a:srgbClr val="E4EEF2"/>
          </a:solidFill>
          <a:ln w="12700">
            <a:solidFill>
              <a:srgbClr val="B9C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DPM::narrative.recommendation_actions::index_2" title="SDPM::narrative.recommendation_actions::index_2" descr="SDPM::narrative.recommendation_actions::index_2"/>
          <p:cNvSpPr txBox="1"/>
          <p:nvPr/>
        </p:nvSpPr>
        <p:spPr>
          <a:xfrm>
            <a:off x="7099300" y="4436554"/>
            <a:ext cx="634746" cy="140544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1200">
                <a:solidFill>
                  <a:srgbClr val="0E8AA6"/>
                </a:solidFill>
                <a:latin typeface="Yu Gothic UI"/>
              </a:rPr>
              <a:t>A03</a:t>
            </a:r>
          </a:p>
        </p:txBody>
      </p:sp>
      <p:sp>
        <p:nvSpPr>
          <p:cNvPr id="18" name="SDPM::narrative.recommendation_actions::action_2" title="SDPM::narrative.recommendation_actions::action_2" descr="SDPM::narrative.recommendation_actions::action_2"/>
          <p:cNvSpPr txBox="1"/>
          <p:nvPr/>
        </p:nvSpPr>
        <p:spPr>
          <a:xfrm>
            <a:off x="7839202" y="4436554"/>
            <a:ext cx="3536441" cy="1405445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300">
                <a:solidFill>
                  <a:srgbClr val="102A3A"/>
                </a:solidFill>
                <a:latin typeface="Yu Gothic UI"/>
              </a:rPr>
              <a:t>90 </a:t>
            </a:r>
            <a:r>
              <a:rPr lang="ja-JP" sz="1300">
                <a:solidFill>
                  <a:srgbClr val="102A3A"/>
                </a:solidFill>
                <a:latin typeface="Yu Gothic UI"/>
              </a:rPr>
              <a:t>日後に継続・拡大を判断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6464300"/>
            <a:ext cx="8255000" cy="1270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60758A"/>
                </a:solidFill>
                <a:latin typeface="Yu Gothic UI"/>
              </a:rPr>
              <a:t>Technical / Data — composition, typography and reading path are theme-specific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0" y="6451600"/>
            <a:ext cx="50800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0758A"/>
                </a:solidFill>
                <a:latin typeface="Yu Gothic UI"/>
              </a:rPr>
              <a:t>45 / 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KATAOKA, SHOTARO</cp:lastModifiedBy>
  <cp:revision>6</cp:revision>
  <dcterms:created xsi:type="dcterms:W3CDTF">2013-01-27T09:14:16Z</dcterms:created>
  <dcterms:modified xsi:type="dcterms:W3CDTF">2026-04-21T05:50:21Z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2026-04-02T00:00:20Z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42facba5-c5c9-4d6e-8ed4-5f06d4297f5d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