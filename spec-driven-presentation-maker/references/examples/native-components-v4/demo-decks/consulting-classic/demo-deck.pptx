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44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123039"/>
                </a:solidFill>
                <a:latin typeface="Yu Gothic UI"/>
              </a:rPr>
              <a:t>価値創出には、顧客・業務・実行基盤を一体で変えるを説明する。数値は統合検証用デモ。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123039"/>
                </a:solidFill>
                <a:latin typeface="Yu Gothic UI"/>
              </a:rPr>
              <a:t>導入量より、価値へ接続したユースケースが不足しているを説明する。数値は統合検証用デモ。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123039"/>
                </a:solidFill>
                <a:latin typeface="Yu Gothic UI"/>
              </a:rPr>
              <a:t>部分最適・曖昧な</a:t>
            </a:r>
            <a:r>
              <a:rPr>
                <a:solidFill>
                  <a:srgbClr val="123039"/>
                </a:solidFill>
                <a:latin typeface="Aptos"/>
              </a:rPr>
              <a:t> KPI </a:t>
            </a:r>
            <a:r>
              <a:rPr lang="ja-JP">
                <a:solidFill>
                  <a:srgbClr val="123039"/>
                </a:solidFill>
                <a:latin typeface="Yu Gothic UI"/>
              </a:rPr>
              <a:t>・分断運営が価値化を止めるを説明する。数値は統合検証用デモ。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123039"/>
                </a:solidFill>
                <a:latin typeface="Yu Gothic UI"/>
              </a:rPr>
              <a:t>最初の</a:t>
            </a:r>
            <a:r>
              <a:rPr>
                <a:solidFill>
                  <a:srgbClr val="123039"/>
                </a:solidFill>
                <a:latin typeface="Aptos"/>
              </a:rPr>
              <a:t> 90 </a:t>
            </a:r>
            <a:r>
              <a:rPr lang="ja-JP">
                <a:solidFill>
                  <a:srgbClr val="123039"/>
                </a:solidFill>
                <a:latin typeface="Yu Gothic UI"/>
              </a:rPr>
              <a:t>日は、価値が高く実装可能な領域へ集中するを説明する。数値は統合検証用デモ。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123039"/>
                </a:solidFill>
                <a:latin typeface="Yu Gothic UI"/>
              </a:rPr>
              <a:t>不足はモデルではなく、価値設計と運用能力に集中するを説明する。数値は統合検証用デモ。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solidFill>
                  <a:srgbClr val="123039"/>
                </a:solidFill>
                <a:latin typeface="Aptos"/>
              </a:rPr>
              <a:t>90 </a:t>
            </a:r>
            <a:r>
              <a:rPr lang="ja-JP">
                <a:solidFill>
                  <a:srgbClr val="123039"/>
                </a:solidFill>
                <a:latin typeface="Yu Gothic UI"/>
              </a:rPr>
              <a:t>日で設計・実装・判定までを一巡させるを説明する。数値は統合検証用デモ。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123039"/>
                </a:solidFill>
                <a:latin typeface="Yu Gothic UI"/>
              </a:rPr>
              <a:t>価値・実装・リスクを同じ会議体で判断するを説明する。数値は統合検証用デモ。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123039"/>
                </a:solidFill>
                <a:latin typeface="Yu Gothic UI"/>
              </a:rPr>
              <a:t>本日は、対象業務・責任者・価値</a:t>
            </a:r>
            <a:r>
              <a:rPr>
                <a:solidFill>
                  <a:srgbClr val="123039"/>
                </a:solidFill>
                <a:latin typeface="Aptos"/>
              </a:rPr>
              <a:t> KPI </a:t>
            </a:r>
            <a:r>
              <a:rPr lang="ja-JP">
                <a:solidFill>
                  <a:srgbClr val="123039"/>
                </a:solidFill>
                <a:latin typeface="Yu Gothic UI"/>
              </a:rPr>
              <a:t>を決めるを説明する。数値は統合検証用デモ。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799" y="2130425"/>
            <a:ext cx="10664687" cy="14700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799" y="3886200"/>
            <a:ext cx="10664687" cy="904461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Sustitle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37930"/>
            <a:ext cx="11022496" cy="725557"/>
          </a:xfrm>
        </p:spPr>
        <p:txBody>
          <a:bodyPr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insight::header" title="SDPM::headline.insight::header" descr="SDPM::headline.insight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100">
                <a:solidFill>
                  <a:srgbClr val="0C2742"/>
                </a:solidFill>
                <a:latin typeface="Yu Gothic UI"/>
              </a:rPr>
              <a:t>価値創出には、顧客・業務・実行基盤を一体で変える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narrative.executive_summary::kicker" title="SDPM::narrative.executive_summary::kicker" descr="SDPM::narrative.executive_summary::kicker::slot=main::frameEmu=594360,1444752,10972800,4553712::bboxEmu=594360,1444752,1651000,177800"/>
          <p:cNvSpPr txBox="1"/>
          <p:nvPr/>
        </p:nvSpPr>
        <p:spPr>
          <a:xfrm>
            <a:off x="594360" y="1444752"/>
            <a:ext cx="1651000" cy="1778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EXECUTIVE SUMMARY</a:t>
            </a:r>
          </a:p>
        </p:txBody>
      </p:sp>
      <p:cxnSp>
        <p:nvCxnSpPr>
          <p:cNvPr id="6" name="SDPM::narrative.executive_summary::kicker_rule" title="SDPM::narrative.executive_summary::kicker_rule" descr="SDPM::narrative.executive_summary::kicker_rule::slot=main::frameEmu=594360,1444752,10972800,4553712::bboxEmu=594360,1609852,698500,0"/>
          <p:cNvCxnSpPr/>
          <p:nvPr/>
        </p:nvCxnSpPr>
        <p:spPr>
          <a:xfrm>
            <a:off x="594360" y="1609852"/>
            <a:ext cx="698500" cy="0"/>
          </a:xfrm>
          <a:prstGeom prst="line">
            <a:avLst/>
          </a:prstGeom>
          <a:ln w="3175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DPM::narrative.executive_summary::thesis" title="SDPM::narrative.executive_summary::thesis" descr="SDPM::narrative.executive_summary::thesis::slot=main::frameEmu=594360,1444752,10972800,4553712::bboxEmu=594360,1660652,10972800,583184"/>
          <p:cNvSpPr txBox="1"/>
          <p:nvPr/>
        </p:nvSpPr>
        <p:spPr>
          <a:xfrm>
            <a:off x="594360" y="1660652"/>
            <a:ext cx="10972800" cy="58318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2600">
                <a:solidFill>
                  <a:srgbClr val="0C2742"/>
                </a:solidFill>
                <a:latin typeface="Yu Gothic UI"/>
              </a:rPr>
              <a:t>顧客価値・業務設計・実行基盤を同時に変える</a:t>
            </a:r>
          </a:p>
        </p:txBody>
      </p:sp>
      <p:sp>
        <p:nvSpPr>
          <p:cNvPr id="8" name="SDPM::narrative.executive_summary::index_0" title="SDPM::narrative.executive_summary::index_0" descr="SDPM::narrative.executive_summary::index_0::slot=main::frameEmu=594360,1444752,10972800,4553712::bboxEmu=594360,2358136,861568,910082"/>
          <p:cNvSpPr txBox="1"/>
          <p:nvPr/>
        </p:nvSpPr>
        <p:spPr>
          <a:xfrm>
            <a:off x="594360" y="2358136"/>
            <a:ext cx="861568" cy="91008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2400">
                <a:solidFill>
                  <a:srgbClr val="00A6A6"/>
                </a:solidFill>
                <a:latin typeface="Yu Gothic UI"/>
              </a:rPr>
              <a:t>1</a:t>
            </a:r>
          </a:p>
        </p:txBody>
      </p:sp>
      <p:cxnSp>
        <p:nvCxnSpPr>
          <p:cNvPr id="9" name="SDPM::narrative.executive_summary::index_rule_0" title="SDPM::narrative.executive_summary::index_rule_0" descr="SDPM::narrative.executive_summary::index_rule_0::slot=main::frameEmu=594360,1444752,10972800,4553712::bboxEmu=1430528,2521966,0,582422"/>
          <p:cNvCxnSpPr/>
          <p:nvPr/>
        </p:nvCxnSpPr>
        <p:spPr>
          <a:xfrm>
            <a:off x="1430528" y="2521966"/>
            <a:ext cx="0" cy="582422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DPM::narrative.executive_summary::title_0" title="SDPM::narrative.executive_summary::title_0" descr="SDPM::narrative.executive_summary::title_0::slot=main::frameEmu=594360,1444752,10972800,4553712::bboxEmu=1557528,2358136,3877055,910082"/>
          <p:cNvSpPr txBox="1"/>
          <p:nvPr/>
        </p:nvSpPr>
        <p:spPr>
          <a:xfrm>
            <a:off x="1557528" y="2358136"/>
            <a:ext cx="3877055" cy="91008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900">
                <a:solidFill>
                  <a:srgbClr val="123039"/>
                </a:solidFill>
                <a:latin typeface="Yu Gothic UI"/>
              </a:rPr>
              <a:t>顧客を選ぶ</a:t>
            </a:r>
          </a:p>
        </p:txBody>
      </p:sp>
      <p:sp>
        <p:nvSpPr>
          <p:cNvPr id="11" name="SDPM::narrative.executive_summary::body_0" title="SDPM::narrative.executive_summary::body_0" descr="SDPM::narrative.executive_summary::body_0::slot=main::frameEmu=594360,1444752,10972800,4553712::bboxEmu=5536184,2358136,6030976,910082"/>
          <p:cNvSpPr txBox="1"/>
          <p:nvPr/>
        </p:nvSpPr>
        <p:spPr>
          <a:xfrm>
            <a:off x="5536184" y="2358136"/>
            <a:ext cx="6030976" cy="91008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500">
                <a:solidFill>
                  <a:srgbClr val="61737B"/>
                </a:solidFill>
                <a:latin typeface="Yu Gothic UI"/>
              </a:rPr>
              <a:t>成果が明確な重点顧客に集中</a:t>
            </a:r>
          </a:p>
        </p:txBody>
      </p:sp>
      <p:cxnSp>
        <p:nvCxnSpPr>
          <p:cNvPr id="12" name="SDPM::narrative.executive_summary::divider_0" title="SDPM::narrative.executive_summary::divider_0" descr="SDPM::narrative.executive_summary::divider_0::slot=main::frameEmu=594360,1444752,10972800,4553712::bboxEmu=594360,3268217,10972800,0"/>
          <p:cNvCxnSpPr/>
          <p:nvPr/>
        </p:nvCxnSpPr>
        <p:spPr>
          <a:xfrm>
            <a:off x="594360" y="3268217"/>
            <a:ext cx="109728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DPM::narrative.executive_summary::index_1" title="SDPM::narrative.executive_summary::index_1" descr="SDPM::narrative.executive_summary::index_1::slot=main::frameEmu=594360,1444752,10972800,4553712::bboxEmu=594360,3268217,861568,910082"/>
          <p:cNvSpPr txBox="1"/>
          <p:nvPr/>
        </p:nvSpPr>
        <p:spPr>
          <a:xfrm>
            <a:off x="594360" y="3268217"/>
            <a:ext cx="861568" cy="91008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2400">
                <a:solidFill>
                  <a:srgbClr val="2B74B8"/>
                </a:solidFill>
                <a:latin typeface="Yu Gothic UI"/>
              </a:rPr>
              <a:t>2</a:t>
            </a:r>
          </a:p>
        </p:txBody>
      </p:sp>
      <p:cxnSp>
        <p:nvCxnSpPr>
          <p:cNvPr id="14" name="SDPM::narrative.executive_summary::index_rule_1" title="SDPM::narrative.executive_summary::index_rule_1" descr="SDPM::narrative.executive_summary::index_rule_1::slot=main::frameEmu=594360,1444752,10972800,4553712::bboxEmu=1430528,3432048,0,582422"/>
          <p:cNvCxnSpPr/>
          <p:nvPr/>
        </p:nvCxnSpPr>
        <p:spPr>
          <a:xfrm>
            <a:off x="1430528" y="3432048"/>
            <a:ext cx="0" cy="582422"/>
          </a:xfrm>
          <a:prstGeom prst="line">
            <a:avLst/>
          </a:prstGeom>
          <a:ln w="38100">
            <a:solidFill>
              <a:srgbClr val="2B7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DPM::narrative.executive_summary::title_1" title="SDPM::narrative.executive_summary::title_1" descr="SDPM::narrative.executive_summary::title_1::slot=main::frameEmu=594360,1444752,10972800,4553712::bboxEmu=1557528,3268217,3877055,910082"/>
          <p:cNvSpPr txBox="1"/>
          <p:nvPr/>
        </p:nvSpPr>
        <p:spPr>
          <a:xfrm>
            <a:off x="1557528" y="3268217"/>
            <a:ext cx="3877055" cy="91008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900">
                <a:solidFill>
                  <a:srgbClr val="123039"/>
                </a:solidFill>
                <a:latin typeface="Yu Gothic UI"/>
              </a:rPr>
              <a:t>業務を変える</a:t>
            </a:r>
          </a:p>
        </p:txBody>
      </p:sp>
      <p:sp>
        <p:nvSpPr>
          <p:cNvPr id="16" name="SDPM::narrative.executive_summary::body_1" title="SDPM::narrative.executive_summary::body_1" descr="SDPM::narrative.executive_summary::body_1::slot=main::frameEmu=594360,1444752,10972800,4553712::bboxEmu=5536184,3268217,6030976,910082"/>
          <p:cNvSpPr txBox="1"/>
          <p:nvPr/>
        </p:nvSpPr>
        <p:spPr>
          <a:xfrm>
            <a:off x="5536184" y="3268217"/>
            <a:ext cx="6030976" cy="91008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500">
                <a:solidFill>
                  <a:srgbClr val="61737B"/>
                </a:solidFill>
                <a:latin typeface="Yu Gothic UI"/>
              </a:rPr>
              <a:t>個人利用からプロセス実装へ</a:t>
            </a:r>
          </a:p>
        </p:txBody>
      </p:sp>
      <p:cxnSp>
        <p:nvCxnSpPr>
          <p:cNvPr id="17" name="SDPM::narrative.executive_summary::divider_1" title="SDPM::narrative.executive_summary::divider_1" descr="SDPM::narrative.executive_summary::divider_1::slot=main::frameEmu=594360,1444752,10972800,4553712::bboxEmu=594360,4178300,10972800,0"/>
          <p:cNvCxnSpPr/>
          <p:nvPr/>
        </p:nvCxnSpPr>
        <p:spPr>
          <a:xfrm>
            <a:off x="594360" y="4178300"/>
            <a:ext cx="109728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DPM::narrative.executive_summary::index_2" title="SDPM::narrative.executive_summary::index_2" descr="SDPM::narrative.executive_summary::index_2::slot=main::frameEmu=594360,1444752,10972800,4553712::bboxEmu=594360,4178300,861568,910082"/>
          <p:cNvSpPr txBox="1"/>
          <p:nvPr/>
        </p:nvSpPr>
        <p:spPr>
          <a:xfrm>
            <a:off x="594360" y="4178300"/>
            <a:ext cx="861568" cy="91008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2400">
                <a:solidFill>
                  <a:srgbClr val="2B74B8"/>
                </a:solidFill>
                <a:latin typeface="Yu Gothic UI"/>
              </a:rPr>
              <a:t>3</a:t>
            </a:r>
          </a:p>
        </p:txBody>
      </p:sp>
      <p:cxnSp>
        <p:nvCxnSpPr>
          <p:cNvPr id="19" name="SDPM::narrative.executive_summary::index_rule_2" title="SDPM::narrative.executive_summary::index_rule_2" descr="SDPM::narrative.executive_summary::index_rule_2::slot=main::frameEmu=594360,1444752,10972800,4553712::bboxEmu=1430528,4342130,0,582422"/>
          <p:cNvCxnSpPr/>
          <p:nvPr/>
        </p:nvCxnSpPr>
        <p:spPr>
          <a:xfrm>
            <a:off x="1430528" y="4342130"/>
            <a:ext cx="0" cy="582422"/>
          </a:xfrm>
          <a:prstGeom prst="line">
            <a:avLst/>
          </a:prstGeom>
          <a:ln w="38100">
            <a:solidFill>
              <a:srgbClr val="2B7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DPM::narrative.executive_summary::title_2" title="SDPM::narrative.executive_summary::title_2" descr="SDPM::narrative.executive_summary::title_2::slot=main::frameEmu=594360,1444752,10972800,4553712::bboxEmu=1557528,4178300,3877055,910082"/>
          <p:cNvSpPr txBox="1"/>
          <p:nvPr/>
        </p:nvSpPr>
        <p:spPr>
          <a:xfrm>
            <a:off x="1557528" y="4178300"/>
            <a:ext cx="3877055" cy="91008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900">
                <a:solidFill>
                  <a:srgbClr val="123039"/>
                </a:solidFill>
                <a:latin typeface="Yu Gothic UI"/>
              </a:rPr>
              <a:t>基盤を整える</a:t>
            </a:r>
          </a:p>
        </p:txBody>
      </p:sp>
      <p:sp>
        <p:nvSpPr>
          <p:cNvPr id="21" name="SDPM::narrative.executive_summary::body_2" title="SDPM::narrative.executive_summary::body_2" descr="SDPM::narrative.executive_summary::body_2::slot=main::frameEmu=594360,1444752,10972800,4553712::bboxEmu=5536184,4178300,6030976,910082"/>
          <p:cNvSpPr txBox="1"/>
          <p:nvPr/>
        </p:nvSpPr>
        <p:spPr>
          <a:xfrm>
            <a:off x="5536184" y="4178300"/>
            <a:ext cx="6030976" cy="91008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500">
                <a:solidFill>
                  <a:srgbClr val="61737B"/>
                </a:solidFill>
                <a:latin typeface="Yu Gothic UI"/>
              </a:rPr>
              <a:t>データ・人材・統制を横断運用</a:t>
            </a:r>
          </a:p>
        </p:txBody>
      </p:sp>
      <p:cxnSp>
        <p:nvCxnSpPr>
          <p:cNvPr id="22" name="SDPM::narrative.executive_summary::divider_2" title="SDPM::narrative.executive_summary::divider_2" descr="SDPM::narrative.executive_summary::divider_2::slot=main::frameEmu=594360,1444752,10972800,4553712::bboxEmu=594360,5088382,10972800,0"/>
          <p:cNvCxnSpPr/>
          <p:nvPr/>
        </p:nvCxnSpPr>
        <p:spPr>
          <a:xfrm>
            <a:off x="594360" y="5088382"/>
            <a:ext cx="109728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DPM::narrative.executive_summary::index_3" title="SDPM::narrative.executive_summary::index_3" descr="SDPM::narrative.executive_summary::index_3::slot=main::frameEmu=594360,1444752,10972800,4553712::bboxEmu=594360,5088382,861568,910082"/>
          <p:cNvSpPr txBox="1"/>
          <p:nvPr/>
        </p:nvSpPr>
        <p:spPr>
          <a:xfrm>
            <a:off x="594360" y="5088382"/>
            <a:ext cx="861568" cy="91008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2400">
                <a:solidFill>
                  <a:srgbClr val="2B74B8"/>
                </a:solidFill>
                <a:latin typeface="Yu Gothic UI"/>
              </a:rPr>
              <a:t>4</a:t>
            </a:r>
          </a:p>
        </p:txBody>
      </p:sp>
      <p:cxnSp>
        <p:nvCxnSpPr>
          <p:cNvPr id="24" name="SDPM::narrative.executive_summary::index_rule_3" title="SDPM::narrative.executive_summary::index_rule_3" descr="SDPM::narrative.executive_summary::index_rule_3::slot=main::frameEmu=594360,1444752,10972800,4553712::bboxEmu=1430528,5252212,0,582422"/>
          <p:cNvCxnSpPr/>
          <p:nvPr/>
        </p:nvCxnSpPr>
        <p:spPr>
          <a:xfrm>
            <a:off x="1430528" y="5252212"/>
            <a:ext cx="0" cy="582422"/>
          </a:xfrm>
          <a:prstGeom prst="line">
            <a:avLst/>
          </a:prstGeom>
          <a:ln w="38100">
            <a:solidFill>
              <a:srgbClr val="2B7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DPM::narrative.executive_summary::title_3" title="SDPM::narrative.executive_summary::title_3" descr="SDPM::narrative.executive_summary::title_3::slot=main::frameEmu=594360,1444752,10972800,4553712::bboxEmu=1557528,5088382,3877055,910082"/>
          <p:cNvSpPr txBox="1"/>
          <p:nvPr/>
        </p:nvSpPr>
        <p:spPr>
          <a:xfrm>
            <a:off x="1557528" y="5088382"/>
            <a:ext cx="3877055" cy="91008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900">
                <a:solidFill>
                  <a:srgbClr val="123039"/>
                </a:solidFill>
                <a:latin typeface="Yu Gothic UI"/>
              </a:rPr>
              <a:t>90 </a:t>
            </a:r>
            <a:r>
              <a:rPr lang="ja-JP" sz="1900">
                <a:solidFill>
                  <a:srgbClr val="123039"/>
                </a:solidFill>
                <a:latin typeface="Yu Gothic UI"/>
              </a:rPr>
              <a:t>日で判断</a:t>
            </a:r>
          </a:p>
        </p:txBody>
      </p:sp>
      <p:sp>
        <p:nvSpPr>
          <p:cNvPr id="26" name="SDPM::narrative.executive_summary::body_3" title="SDPM::narrative.executive_summary::body_3" descr="SDPM::narrative.executive_summary::body_3::slot=main::frameEmu=594360,1444752,10972800,4553712::bboxEmu=5536184,5088382,6030976,910082"/>
          <p:cNvSpPr txBox="1"/>
          <p:nvPr/>
        </p:nvSpPr>
        <p:spPr>
          <a:xfrm>
            <a:off x="5536184" y="5088382"/>
            <a:ext cx="6030976" cy="91008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500">
                <a:solidFill>
                  <a:srgbClr val="61737B"/>
                </a:solidFill>
                <a:latin typeface="Yu Gothic UI"/>
              </a:rPr>
              <a:t>価値</a:t>
            </a:r>
            <a:r>
              <a:rPr sz="1500">
                <a:solidFill>
                  <a:srgbClr val="61737B"/>
                </a:solidFill>
                <a:latin typeface="Yu Gothic UI"/>
              </a:rPr>
              <a:t> KPI </a:t>
            </a:r>
            <a:r>
              <a:rPr lang="ja-JP" sz="1500">
                <a:solidFill>
                  <a:srgbClr val="61737B"/>
                </a:solidFill>
                <a:latin typeface="Yu Gothic UI"/>
              </a:rPr>
              <a:t>で継続可否を決める</a:t>
            </a:r>
          </a:p>
        </p:txBody>
      </p:sp>
      <p:sp>
        <p:nvSpPr>
          <p:cNvPr id="27" name="SDPM::evidence_footer.compact::footer" title="SDPM::evidence_footer.compact::footer" descr="SDPM::evidence_footer.compact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61737B"/>
                </a:solidFill>
                <a:latin typeface="Yu Gothic UI"/>
              </a:rPr>
              <a:t>出典：</a:t>
            </a:r>
            <a:r>
              <a:rPr sz="1200">
                <a:solidFill>
                  <a:srgbClr val="61737B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fact::header" title="SDPM::headline.fact::header" descr="SDPM::headline.fact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100">
                <a:solidFill>
                  <a:srgbClr val="0C2742"/>
                </a:solidFill>
                <a:latin typeface="Yu Gothic UI"/>
              </a:rPr>
              <a:t>導入量より、価値へ接続したユースケースが不足している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annotation.chart_callout::annotation" title="SDPM::annotation.chart_callout::annotation" descr="SDPM::annotation.chart_callout::annotation::slot=annotation::frameEmu=8394192,1874520,2944368,2423160::bboxEmu=8394192,1874520,2944368,139700"/>
          <p:cNvSpPr txBox="1"/>
          <p:nvPr/>
        </p:nvSpPr>
        <p:spPr>
          <a:xfrm>
            <a:off x="8394192" y="1874520"/>
            <a:ext cx="2944368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ANNOTATION</a:t>
            </a:r>
          </a:p>
        </p:txBody>
      </p:sp>
      <p:sp>
        <p:nvSpPr>
          <p:cNvPr id="6" name="SDPM::chart.insight::label_0" title="SDPM::chart.insight::label_0" descr="SDPM::chart.insight::label_0::slot=main::frameEmu=594360,1481328,7543800,4443984::bboxEmu=594360,1481328,1346263,1063371"/>
          <p:cNvSpPr txBox="1"/>
          <p:nvPr/>
        </p:nvSpPr>
        <p:spPr>
          <a:xfrm>
            <a:off x="594360" y="1481328"/>
            <a:ext cx="1346263" cy="1063371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123039"/>
                </a:solidFill>
                <a:latin typeface="Yu Gothic UI"/>
              </a:rPr>
              <a:t>個人効率化</a:t>
            </a:r>
          </a:p>
        </p:txBody>
      </p:sp>
      <p:cxnSp>
        <p:nvCxnSpPr>
          <p:cNvPr id="7" name="SDPM::chart.insight::base_0" title="SDPM::chart.insight::base_0" descr="SDPM::chart.insight::base_0::slot=main::frameEmu=594360,1481328,7543800,4443984::bboxEmu=1991423,2013013,2740597,0"/>
          <p:cNvCxnSpPr/>
          <p:nvPr/>
        </p:nvCxnSpPr>
        <p:spPr>
          <a:xfrm>
            <a:off x="1991423" y="2013013"/>
            <a:ext cx="2740597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DPM::chart.insight::bar_0" title="SDPM::chart.insight::bar_0" descr="SDPM::chart.insight::bar_0::slot=main::frameEmu=594360,1481328,7543800,4443984::bboxEmu=1991423,1832229,2740596,361569"/>
          <p:cNvSpPr/>
          <p:nvPr/>
        </p:nvSpPr>
        <p:spPr>
          <a:xfrm>
            <a:off x="1991423" y="1832229"/>
            <a:ext cx="2740596" cy="361569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DPM::chart.insight::value_0" title="SDPM::chart.insight::value_0" descr="SDPM::chart.insight::value_0::slot=main::frameEmu=594360,1481328,7543800,4443984::bboxEmu=4782820,1481328,721233,1063371"/>
          <p:cNvSpPr txBox="1"/>
          <p:nvPr/>
        </p:nvSpPr>
        <p:spPr>
          <a:xfrm>
            <a:off x="4782820" y="1481328"/>
            <a:ext cx="721233" cy="1063371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300">
                <a:solidFill>
                  <a:srgbClr val="00A6A6"/>
                </a:solidFill>
                <a:latin typeface="Yu Gothic UI"/>
              </a:rPr>
              <a:t>82</a:t>
            </a:r>
          </a:p>
        </p:txBody>
      </p:sp>
      <p:sp>
        <p:nvSpPr>
          <p:cNvPr id="10" name="SDPM::chart.insight::label_1" title="SDPM::chart.insight::label_1" descr="SDPM::chart.insight::label_1::slot=main::frameEmu=594360,1481328,7543800,4443984::bboxEmu=594360,2608199,1346263,1063371"/>
          <p:cNvSpPr txBox="1"/>
          <p:nvPr/>
        </p:nvSpPr>
        <p:spPr>
          <a:xfrm>
            <a:off x="594360" y="2608199"/>
            <a:ext cx="1346263" cy="1063371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123039"/>
                </a:solidFill>
                <a:latin typeface="Yu Gothic UI"/>
              </a:rPr>
              <a:t>部門業務</a:t>
            </a:r>
          </a:p>
        </p:txBody>
      </p:sp>
      <p:cxnSp>
        <p:nvCxnSpPr>
          <p:cNvPr id="11" name="SDPM::chart.insight::base_1" title="SDPM::chart.insight::base_1" descr="SDPM::chart.insight::base_1::slot=main::frameEmu=594360,1481328,7543800,4443984::bboxEmu=1991423,3139884,2740597,0"/>
          <p:cNvCxnSpPr/>
          <p:nvPr/>
        </p:nvCxnSpPr>
        <p:spPr>
          <a:xfrm>
            <a:off x="1991423" y="3139884"/>
            <a:ext cx="2740597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DPM::chart.insight::bar_1" title="SDPM::chart.insight::bar_1" descr="SDPM::chart.insight::bar_1::slot=main::frameEmu=594360,1481328,7543800,4443984::bboxEmu=1991423,2959100,1838198,361569"/>
          <p:cNvSpPr/>
          <p:nvPr/>
        </p:nvSpPr>
        <p:spPr>
          <a:xfrm>
            <a:off x="1991423" y="2959100"/>
            <a:ext cx="1838198" cy="361569"/>
          </a:xfrm>
          <a:prstGeom prst="rect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DPM::chart.insight::value_1" title="SDPM::chart.insight::value_1" descr="SDPM::chart.insight::value_1::slot=main::frameEmu=594360,1481328,7543800,4443984::bboxEmu=4782820,2608199,721233,1063371"/>
          <p:cNvSpPr txBox="1"/>
          <p:nvPr/>
        </p:nvSpPr>
        <p:spPr>
          <a:xfrm>
            <a:off x="4782820" y="2608199"/>
            <a:ext cx="721233" cy="1063371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300">
                <a:solidFill>
                  <a:srgbClr val="2B74B8"/>
                </a:solidFill>
                <a:latin typeface="Yu Gothic UI"/>
              </a:rPr>
              <a:t>55</a:t>
            </a:r>
          </a:p>
        </p:txBody>
      </p:sp>
      <p:sp>
        <p:nvSpPr>
          <p:cNvPr id="14" name="SDPM::chart.insight::label_2" title="SDPM::chart.insight::label_2" descr="SDPM::chart.insight::label_2::slot=main::frameEmu=594360,1481328,7543800,4443984::bboxEmu=594360,3735070,1346263,1063371"/>
          <p:cNvSpPr txBox="1"/>
          <p:nvPr/>
        </p:nvSpPr>
        <p:spPr>
          <a:xfrm>
            <a:off x="594360" y="3735070"/>
            <a:ext cx="1346263" cy="1063371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123039"/>
                </a:solidFill>
                <a:latin typeface="Yu Gothic UI"/>
              </a:rPr>
              <a:t>全社プロセス</a:t>
            </a:r>
          </a:p>
        </p:txBody>
      </p:sp>
      <p:cxnSp>
        <p:nvCxnSpPr>
          <p:cNvPr id="15" name="SDPM::chart.insight::base_2" title="SDPM::chart.insight::base_2" descr="SDPM::chart.insight::base_2::slot=main::frameEmu=594360,1481328,7543800,4443984::bboxEmu=1991423,4266755,2740597,0"/>
          <p:cNvCxnSpPr/>
          <p:nvPr/>
        </p:nvCxnSpPr>
        <p:spPr>
          <a:xfrm>
            <a:off x="1991423" y="4266755"/>
            <a:ext cx="2740597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DPM::chart.insight::bar_2" title="SDPM::chart.insight::bar_2" descr="SDPM::chart.insight::bar_2::slot=main::frameEmu=594360,1481328,7543800,4443984::bboxEmu=1991423,4085971,1036066,361569"/>
          <p:cNvSpPr/>
          <p:nvPr/>
        </p:nvSpPr>
        <p:spPr>
          <a:xfrm>
            <a:off x="1991423" y="4085971"/>
            <a:ext cx="1036066" cy="361569"/>
          </a:xfrm>
          <a:prstGeom prst="rect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DPM::chart.insight::value_2" title="SDPM::chart.insight::value_2" descr="SDPM::chart.insight::value_2::slot=main::frameEmu=594360,1481328,7543800,4443984::bboxEmu=4782820,3735070,721233,1063371"/>
          <p:cNvSpPr txBox="1"/>
          <p:nvPr/>
        </p:nvSpPr>
        <p:spPr>
          <a:xfrm>
            <a:off x="4782820" y="3735070"/>
            <a:ext cx="721233" cy="1063371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300">
                <a:solidFill>
                  <a:srgbClr val="2B74B8"/>
                </a:solidFill>
                <a:latin typeface="Yu Gothic UI"/>
              </a:rPr>
              <a:t>31</a:t>
            </a:r>
          </a:p>
        </p:txBody>
      </p:sp>
      <p:sp>
        <p:nvSpPr>
          <p:cNvPr id="18" name="SDPM::chart.insight::label_3" title="SDPM::chart.insight::label_3" descr="SDPM::chart.insight::label_3::slot=main::frameEmu=594360,1481328,7543800,4443984::bboxEmu=594360,4861941,1346263,1063371"/>
          <p:cNvSpPr txBox="1"/>
          <p:nvPr/>
        </p:nvSpPr>
        <p:spPr>
          <a:xfrm>
            <a:off x="594360" y="4861941"/>
            <a:ext cx="1346263" cy="1063371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123039"/>
                </a:solidFill>
                <a:latin typeface="Yu Gothic UI"/>
              </a:rPr>
              <a:t>顧客価値</a:t>
            </a:r>
          </a:p>
        </p:txBody>
      </p:sp>
      <p:cxnSp>
        <p:nvCxnSpPr>
          <p:cNvPr id="19" name="SDPM::chart.insight::base_3" title="SDPM::chart.insight::base_3" descr="SDPM::chart.insight::base_3::slot=main::frameEmu=594360,1481328,7543800,4443984::bboxEmu=1991423,5393626,2740597,0"/>
          <p:cNvCxnSpPr/>
          <p:nvPr/>
        </p:nvCxnSpPr>
        <p:spPr>
          <a:xfrm>
            <a:off x="1991423" y="5393626"/>
            <a:ext cx="2740597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DPM::chart.insight::bar_3" title="SDPM::chart.insight::bar_3" descr="SDPM::chart.insight::bar_3::slot=main::frameEmu=594360,1481328,7543800,4443984::bboxEmu=1991423,5212842,601599,361569"/>
          <p:cNvSpPr/>
          <p:nvPr/>
        </p:nvSpPr>
        <p:spPr>
          <a:xfrm>
            <a:off x="1991423" y="5212842"/>
            <a:ext cx="601599" cy="361569"/>
          </a:xfrm>
          <a:prstGeom prst="rect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DPM::chart.insight::value_3" title="SDPM::chart.insight::value_3" descr="SDPM::chart.insight::value_3::slot=main::frameEmu=594360,1481328,7543800,4443984::bboxEmu=4782820,4861941,721233,1063371"/>
          <p:cNvSpPr txBox="1"/>
          <p:nvPr/>
        </p:nvSpPr>
        <p:spPr>
          <a:xfrm>
            <a:off x="4782820" y="4861941"/>
            <a:ext cx="721233" cy="1063371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300">
                <a:solidFill>
                  <a:srgbClr val="2B74B8"/>
                </a:solidFill>
                <a:latin typeface="Yu Gothic UI"/>
              </a:rPr>
              <a:t>18</a:t>
            </a:r>
          </a:p>
        </p:txBody>
      </p:sp>
      <p:cxnSp>
        <p:nvCxnSpPr>
          <p:cNvPr id="22" name="SDPM::chart.insight::divider" title="SDPM::chart.insight::divider" descr="SDPM::chart.insight::divider::slot=main::frameEmu=594360,1481328,7543800,4443984::bboxEmu=5719953,1608328,0,4189984"/>
          <p:cNvCxnSpPr/>
          <p:nvPr/>
        </p:nvCxnSpPr>
        <p:spPr>
          <a:xfrm>
            <a:off x="5719953" y="1608328"/>
            <a:ext cx="0" cy="4189984"/>
          </a:xfrm>
          <a:prstGeom prst="line">
            <a:avLst/>
          </a:prstGeom>
          <a:ln w="635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DPM::chart.insight::kicker" title="SDPM::chart.insight::kicker" descr="SDPM::chart.insight::kicker::slot=main::frameEmu=594360,1481328,7543800,4443984::bboxEmu=5872353,1481328,2265807,165100"/>
          <p:cNvSpPr txBox="1"/>
          <p:nvPr/>
        </p:nvSpPr>
        <p:spPr>
          <a:xfrm>
            <a:off x="5872353" y="1481328"/>
            <a:ext cx="2265807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WHAT THE DATA SAYS</a:t>
            </a:r>
          </a:p>
        </p:txBody>
      </p:sp>
      <p:cxnSp>
        <p:nvCxnSpPr>
          <p:cNvPr id="24" name="SDPM::chart.insight::kicker_rule" title="SDPM::chart.insight::kicker_rule" descr="SDPM::chart.insight::kicker_rule::slot=main::frameEmu=594360,1481328,7543800,4443984::bboxEmu=5872353,1633727,698500,0"/>
          <p:cNvCxnSpPr/>
          <p:nvPr/>
        </p:nvCxnSpPr>
        <p:spPr>
          <a:xfrm>
            <a:off x="5872353" y="1633727"/>
            <a:ext cx="698500" cy="0"/>
          </a:xfrm>
          <a:prstGeom prst="line">
            <a:avLst/>
          </a:prstGeom>
          <a:ln w="3175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DPM::chart.insight::insight" title="SDPM::chart.insight::insight" descr="SDPM::chart.insight::insight::slot=main::frameEmu=594360,1481328,7543800,4443984::bboxEmu=5872353,1811527,2240407,3415284"/>
          <p:cNvSpPr txBox="1"/>
          <p:nvPr/>
        </p:nvSpPr>
        <p:spPr>
          <a:xfrm>
            <a:off x="5872353" y="1811527"/>
            <a:ext cx="2240407" cy="341528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2500">
                <a:solidFill>
                  <a:srgbClr val="0C2742"/>
                </a:solidFill>
                <a:latin typeface="Yu Gothic UI"/>
              </a:rPr>
              <a:t>利用は広がる一方、変革領域への組込みは限定的</a:t>
            </a:r>
          </a:p>
        </p:txBody>
      </p:sp>
      <p:sp>
        <p:nvSpPr>
          <p:cNvPr id="26" name="SDPM::chart.insight::support" title="SDPM::chart.insight::support" descr="SDPM::chart.insight::support::slot=main::frameEmu=594360,1481328,7543800,4443984::bboxEmu=5872353,5315712,2240407,533400"/>
          <p:cNvSpPr txBox="1"/>
          <p:nvPr/>
        </p:nvSpPr>
        <p:spPr>
          <a:xfrm>
            <a:off x="5872353" y="5315712"/>
            <a:ext cx="2240407" cy="533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b"/>
          <a:lstStyle/>
          <a:p>
            <a:pPr algn="l"/>
            <a:r>
              <a:rPr lang="ja-JP" sz="1200">
                <a:solidFill>
                  <a:srgbClr val="61737B"/>
                </a:solidFill>
                <a:latin typeface="Yu Gothic UI"/>
              </a:rPr>
              <a:t>数値は検証用デモ</a:t>
            </a:r>
          </a:p>
        </p:txBody>
      </p:sp>
      <p:sp>
        <p:nvSpPr>
          <p:cNvPr id="27" name="SDPM::evidence_footer.full::footer" title="SDPM::evidence_footer.full::footer" descr="SDPM::evidence_footer.full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61737B"/>
                </a:solidFill>
                <a:latin typeface="Yu Gothic UI"/>
              </a:rPr>
              <a:t>出典：</a:t>
            </a:r>
            <a:r>
              <a:rPr sz="1200">
                <a:solidFill>
                  <a:srgbClr val="61737B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insight::header" title="SDPM::headline.insight::header" descr="SDPM::headline.insight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100">
                <a:solidFill>
                  <a:srgbClr val="0C2742"/>
                </a:solidFill>
                <a:latin typeface="Yu Gothic UI"/>
              </a:rPr>
              <a:t>部分最適・曖昧な</a:t>
            </a:r>
            <a:r>
              <a:rPr sz="3100">
                <a:solidFill>
                  <a:srgbClr val="0C2742"/>
                </a:solidFill>
                <a:latin typeface="Yu Gothic UI"/>
              </a:rPr>
              <a:t> KPI </a:t>
            </a:r>
            <a:r>
              <a:rPr lang="ja-JP" sz="3100">
                <a:solidFill>
                  <a:srgbClr val="0C2742"/>
                </a:solidFill>
                <a:latin typeface="Yu Gothic UI"/>
              </a:rPr>
              <a:t>・分断運営が価値化を止める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narrative.findings_implications::finding_bg_0" title="SDPM::narrative.findings_implications::finding_bg_0" descr="SDPM::narrative.findings_implications::finding_bg_0::slot=main::frameEmu=594360,1444752,10972800,4553712::bboxEmu=594360,1444752,4760976,1458658"/>
          <p:cNvSpPr/>
          <p:nvPr/>
        </p:nvSpPr>
        <p:spPr>
          <a:xfrm>
            <a:off x="594360" y="1444752"/>
            <a:ext cx="4760976" cy="1458658"/>
          </a:xfrm>
          <a:prstGeom prst="roundRect">
            <a:avLst/>
          </a:prstGeom>
          <a:solidFill>
            <a:srgbClr val="E7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DPM::narrative.findings_implications::rule_0" title="SDPM::narrative.findings_implications::rule_0" descr="SDPM::narrative.findings_implications::rule_0::slot=main::frameEmu=594360,1444752,10972800,4553712::bboxEmu=594360,1444752,44450,1458658"/>
          <p:cNvSpPr/>
          <p:nvPr/>
        </p:nvSpPr>
        <p:spPr>
          <a:xfrm>
            <a:off x="594360" y="1444752"/>
            <a:ext cx="44450" cy="145865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DPM::narrative.findings_implications::finding_0" title="SDPM::narrative.findings_implications::finding_0" descr="SDPM::narrative.findings_implications::finding_0::slot=main::frameEmu=594360,1444752,10972800,4553712::bboxEmu=734060,1508252,4532376,1331658"/>
          <p:cNvSpPr txBox="1"/>
          <p:nvPr/>
        </p:nvSpPr>
        <p:spPr>
          <a:xfrm>
            <a:off x="734060" y="1508252"/>
            <a:ext cx="4532376" cy="13316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700">
                <a:solidFill>
                  <a:srgbClr val="123039"/>
                </a:solidFill>
                <a:latin typeface="Yu Gothic UI"/>
              </a:rPr>
              <a:t>個人利用で止まり業務責任者が不在</a:t>
            </a:r>
          </a:p>
        </p:txBody>
      </p:sp>
      <p:cxnSp>
        <p:nvCxnSpPr>
          <p:cNvPr id="8" name="SDPM::narrative.findings_implications::arrow_0" title="SDPM::narrative.findings_implications::arrow_0" descr="SDPM::narrative.findings_implications::arrow_0::slot=main::frameEmu=594360,1444752,10972800,4553712::bboxEmu=5456936,2174049,1031240,0"/>
          <p:cNvCxnSpPr/>
          <p:nvPr/>
        </p:nvCxnSpPr>
        <p:spPr>
          <a:xfrm>
            <a:off x="5456936" y="2174049"/>
            <a:ext cx="1031240" cy="0"/>
          </a:xfrm>
          <a:prstGeom prst="line">
            <a:avLst/>
          </a:prstGeom>
          <a:ln w="31750">
            <a:solidFill>
              <a:srgbClr val="00A6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DPM::narrative.findings_implications::implication_0" title="SDPM::narrative.findings_implications::implication_0" descr="SDPM::narrative.findings_implications::implication_0::slot=main::frameEmu=594360,1444752,10972800,4553712::bboxEmu=6589776,1444752,4977384,1458658"/>
          <p:cNvSpPr txBox="1"/>
          <p:nvPr/>
        </p:nvSpPr>
        <p:spPr>
          <a:xfrm>
            <a:off x="6589776" y="1444752"/>
            <a:ext cx="4977384" cy="14586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700">
                <a:solidFill>
                  <a:srgbClr val="0C2742"/>
                </a:solidFill>
                <a:latin typeface="Yu Gothic UI"/>
              </a:rPr>
              <a:t>業務オーナーを先に置く</a:t>
            </a:r>
          </a:p>
        </p:txBody>
      </p:sp>
      <p:sp>
        <p:nvSpPr>
          <p:cNvPr id="10" name="SDPM::narrative.findings_implications::finding_bg_1" title="SDPM::narrative.findings_implications::finding_bg_1" descr="SDPM::narrative.findings_implications::finding_bg_1::slot=main::frameEmu=594360,1444752,10972800,4553712::bboxEmu=594360,2992310,4760976,1458658"/>
          <p:cNvSpPr/>
          <p:nvPr/>
        </p:nvSpPr>
        <p:spPr>
          <a:xfrm>
            <a:off x="594360" y="2992310"/>
            <a:ext cx="4760976" cy="1458658"/>
          </a:xfrm>
          <a:prstGeom prst="roundRect">
            <a:avLst/>
          </a:prstGeom>
          <a:solidFill>
            <a:srgbClr val="E7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DPM::narrative.findings_implications::rule_1" title="SDPM::narrative.findings_implications::rule_1" descr="SDPM::narrative.findings_implications::rule_1::slot=main::frameEmu=594360,1444752,10972800,4553712::bboxEmu=594360,2992310,44450,1458658"/>
          <p:cNvSpPr/>
          <p:nvPr/>
        </p:nvSpPr>
        <p:spPr>
          <a:xfrm>
            <a:off x="594360" y="2992310"/>
            <a:ext cx="44450" cy="1458658"/>
          </a:xfrm>
          <a:prstGeom prst="rect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DPM::narrative.findings_implications::finding_1" title="SDPM::narrative.findings_implications::finding_1" descr="SDPM::narrative.findings_implications::finding_1::slot=main::frameEmu=594360,1444752,10972800,4553712::bboxEmu=734060,3055810,4532376,1331658"/>
          <p:cNvSpPr txBox="1"/>
          <p:nvPr/>
        </p:nvSpPr>
        <p:spPr>
          <a:xfrm>
            <a:off x="734060" y="3055810"/>
            <a:ext cx="4532376" cy="13316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700">
                <a:solidFill>
                  <a:srgbClr val="123039"/>
                </a:solidFill>
                <a:latin typeface="Yu Gothic UI"/>
              </a:rPr>
              <a:t>時間削減だけを成果として追跡</a:t>
            </a:r>
          </a:p>
        </p:txBody>
      </p:sp>
      <p:cxnSp>
        <p:nvCxnSpPr>
          <p:cNvPr id="13" name="SDPM::narrative.findings_implications::arrow_1" title="SDPM::narrative.findings_implications::arrow_1" descr="SDPM::narrative.findings_implications::arrow_1::slot=main::frameEmu=594360,1444752,10972800,4553712::bboxEmu=5456936,3721608,1031240,0"/>
          <p:cNvCxnSpPr/>
          <p:nvPr/>
        </p:nvCxnSpPr>
        <p:spPr>
          <a:xfrm>
            <a:off x="5456936" y="3721608"/>
            <a:ext cx="1031240" cy="0"/>
          </a:xfrm>
          <a:prstGeom prst="line">
            <a:avLst/>
          </a:prstGeom>
          <a:ln w="31750">
            <a:solidFill>
              <a:srgbClr val="2B74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DPM::narrative.findings_implications::implication_1" title="SDPM::narrative.findings_implications::implication_1" descr="SDPM::narrative.findings_implications::implication_1::slot=main::frameEmu=594360,1444752,10972800,4553712::bboxEmu=6589776,2992310,4977384,1458658"/>
          <p:cNvSpPr txBox="1"/>
          <p:nvPr/>
        </p:nvSpPr>
        <p:spPr>
          <a:xfrm>
            <a:off x="6589776" y="2992310"/>
            <a:ext cx="4977384" cy="14586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700">
                <a:solidFill>
                  <a:srgbClr val="0C2742"/>
                </a:solidFill>
                <a:latin typeface="Yu Gothic UI"/>
              </a:rPr>
              <a:t>顧客・収益</a:t>
            </a:r>
            <a:r>
              <a:rPr sz="1700">
                <a:solidFill>
                  <a:srgbClr val="0C2742"/>
                </a:solidFill>
                <a:latin typeface="Yu Gothic UI"/>
              </a:rPr>
              <a:t> KPI </a:t>
            </a:r>
            <a:r>
              <a:rPr lang="ja-JP" sz="1700">
                <a:solidFill>
                  <a:srgbClr val="0C2742"/>
                </a:solidFill>
                <a:latin typeface="Yu Gothic UI"/>
              </a:rPr>
              <a:t>へ接続</a:t>
            </a:r>
          </a:p>
        </p:txBody>
      </p:sp>
      <p:sp>
        <p:nvSpPr>
          <p:cNvPr id="15" name="SDPM::narrative.findings_implications::finding_bg_2" title="SDPM::narrative.findings_implications::finding_bg_2" descr="SDPM::narrative.findings_implications::finding_bg_2::slot=main::frameEmu=594360,1444752,10972800,4553712::bboxEmu=594360,4539805,4760976,1458658"/>
          <p:cNvSpPr/>
          <p:nvPr/>
        </p:nvSpPr>
        <p:spPr>
          <a:xfrm>
            <a:off x="594360" y="4539805"/>
            <a:ext cx="4760976" cy="1458658"/>
          </a:xfrm>
          <a:prstGeom prst="roundRect">
            <a:avLst/>
          </a:prstGeom>
          <a:solidFill>
            <a:srgbClr val="E7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DPM::narrative.findings_implications::rule_2" title="SDPM::narrative.findings_implications::rule_2" descr="SDPM::narrative.findings_implications::rule_2::slot=main::frameEmu=594360,1444752,10972800,4553712::bboxEmu=594360,4539805,44450,1458658"/>
          <p:cNvSpPr/>
          <p:nvPr/>
        </p:nvSpPr>
        <p:spPr>
          <a:xfrm>
            <a:off x="594360" y="4539805"/>
            <a:ext cx="44450" cy="1458658"/>
          </a:xfrm>
          <a:prstGeom prst="rect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DPM::narrative.findings_implications::finding_2" title="SDPM::narrative.findings_implications::finding_2" descr="SDPM::narrative.findings_implications::finding_2::slot=main::frameEmu=594360,1444752,10972800,4553712::bboxEmu=734060,4603305,4532376,1331658"/>
          <p:cNvSpPr txBox="1"/>
          <p:nvPr/>
        </p:nvSpPr>
        <p:spPr>
          <a:xfrm>
            <a:off x="734060" y="4603305"/>
            <a:ext cx="4532376" cy="13316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700">
                <a:solidFill>
                  <a:srgbClr val="123039"/>
                </a:solidFill>
                <a:latin typeface="Yu Gothic UI"/>
              </a:rPr>
              <a:t>データ・</a:t>
            </a:r>
            <a:r>
              <a:rPr sz="1700">
                <a:solidFill>
                  <a:srgbClr val="123039"/>
                </a:solidFill>
                <a:latin typeface="Yu Gothic UI"/>
              </a:rPr>
              <a:t> IT </a:t>
            </a:r>
            <a:r>
              <a:rPr lang="ja-JP" sz="1700">
                <a:solidFill>
                  <a:srgbClr val="123039"/>
                </a:solidFill>
                <a:latin typeface="Yu Gothic UI"/>
              </a:rPr>
              <a:t>・現場が別々に推進</a:t>
            </a:r>
          </a:p>
        </p:txBody>
      </p:sp>
      <p:cxnSp>
        <p:nvCxnSpPr>
          <p:cNvPr id="18" name="SDPM::narrative.findings_implications::arrow_2" title="SDPM::narrative.findings_implications::arrow_2" descr="SDPM::narrative.findings_implications::arrow_2::slot=main::frameEmu=594360,1444752,10972800,4553712::bboxEmu=5456936,5269166,1031240,0"/>
          <p:cNvCxnSpPr/>
          <p:nvPr/>
        </p:nvCxnSpPr>
        <p:spPr>
          <a:xfrm>
            <a:off x="5456936" y="5269166"/>
            <a:ext cx="1031240" cy="0"/>
          </a:xfrm>
          <a:prstGeom prst="line">
            <a:avLst/>
          </a:prstGeom>
          <a:ln w="31750">
            <a:solidFill>
              <a:srgbClr val="2B74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DPM::narrative.findings_implications::implication_2" title="SDPM::narrative.findings_implications::implication_2" descr="SDPM::narrative.findings_implications::implication_2::slot=main::frameEmu=594360,1444752,10972800,4553712::bboxEmu=6589776,4539805,4977384,1458658"/>
          <p:cNvSpPr txBox="1"/>
          <p:nvPr/>
        </p:nvSpPr>
        <p:spPr>
          <a:xfrm>
            <a:off x="6589776" y="4539805"/>
            <a:ext cx="4977384" cy="14586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700">
                <a:solidFill>
                  <a:srgbClr val="0C2742"/>
                </a:solidFill>
                <a:latin typeface="Yu Gothic UI"/>
              </a:rPr>
              <a:t>横断ガバナンスで統合</a:t>
            </a:r>
          </a:p>
        </p:txBody>
      </p:sp>
      <p:sp>
        <p:nvSpPr>
          <p:cNvPr id="20" name="SDPM::evidence_footer.compact::footer" title="SDPM::evidence_footer.compact::footer" descr="SDPM::evidence_footer.compact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61737B"/>
                </a:solidFill>
                <a:latin typeface="Yu Gothic UI"/>
              </a:rPr>
              <a:t>出典：</a:t>
            </a:r>
            <a:r>
              <a:rPr sz="1200">
                <a:solidFill>
                  <a:srgbClr val="61737B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decision::header" title="SDPM::headline.decision::header" descr="SDPM::headline.decision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100">
                <a:solidFill>
                  <a:srgbClr val="0C2742"/>
                </a:solidFill>
                <a:latin typeface="Yu Gothic UI"/>
              </a:rPr>
              <a:t>最初の</a:t>
            </a:r>
            <a:r>
              <a:rPr sz="3100">
                <a:solidFill>
                  <a:srgbClr val="0C2742"/>
                </a:solidFill>
                <a:latin typeface="Yu Gothic UI"/>
              </a:rPr>
              <a:t> 90 </a:t>
            </a:r>
            <a:r>
              <a:rPr lang="ja-JP" sz="3100">
                <a:solidFill>
                  <a:srgbClr val="0C2742"/>
                </a:solidFill>
                <a:latin typeface="Yu Gothic UI"/>
              </a:rPr>
              <a:t>日は、価値が高く実装可能な領域へ集中する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decision.choice::decision" title="SDPM::decision.choice::decision" descr="SDPM::decision.choice::decision::slot=decision::frameEmu=8732520,1874520,2606040,2697480::bboxEmu=8732520,1874520,2606040,139700"/>
          <p:cNvSpPr txBox="1"/>
          <p:nvPr/>
        </p:nvSpPr>
        <p:spPr>
          <a:xfrm>
            <a:off x="8732520" y="1874520"/>
            <a:ext cx="260604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DECISION</a:t>
            </a:r>
          </a:p>
        </p:txBody>
      </p:sp>
      <p:sp>
        <p:nvSpPr>
          <p:cNvPr id="6" name="SDPM::strategy.portfolio_matrix::priority_zone" title="SDPM::strategy.portfolio_matrix::priority_zone" descr="SDPM::strategy.portfolio_matrix::priority_zone::slot=main::frameEmu=658368,1444752,7772400,4553712::bboxEmu=4703318,1559052,3587750,2035556"/>
          <p:cNvSpPr/>
          <p:nvPr/>
        </p:nvSpPr>
        <p:spPr>
          <a:xfrm>
            <a:off x="4703318" y="1559052"/>
            <a:ext cx="3587750" cy="2035556"/>
          </a:xfrm>
          <a:prstGeom prst="rect">
            <a:avLst/>
          </a:prstGeom>
          <a:solidFill>
            <a:srgbClr val="E7F2F3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SDPM::strategy.portfolio_matrix::x_axis" title="SDPM::strategy.portfolio_matrix::x_axis" descr="SDPM::strategy.portfolio_matrix::x_axis::slot=main::frameEmu=658368,1444752,7772400,4553712::bboxEmu=1115568,5630164,7175500,0"/>
          <p:cNvCxnSpPr/>
          <p:nvPr/>
        </p:nvCxnSpPr>
        <p:spPr>
          <a:xfrm>
            <a:off x="1115568" y="5630164"/>
            <a:ext cx="7175500" cy="0"/>
          </a:xfrm>
          <a:prstGeom prst="line">
            <a:avLst/>
          </a:prstGeom>
          <a:ln w="25400">
            <a:solidFill>
              <a:srgbClr val="12303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DPM::strategy.portfolio_matrix::y_axis" title="SDPM::strategy.portfolio_matrix::y_axis" descr="SDPM::strategy.portfolio_matrix::y_axis::slot=main::frameEmu=658368,1444752,7772400,4553712::bboxEmu=1115568,1559052,0,4071112"/>
          <p:cNvCxnSpPr/>
          <p:nvPr/>
        </p:nvCxnSpPr>
        <p:spPr>
          <a:xfrm flipV="1">
            <a:off x="1115568" y="1559052"/>
            <a:ext cx="0" cy="4071112"/>
          </a:xfrm>
          <a:prstGeom prst="line">
            <a:avLst/>
          </a:prstGeom>
          <a:ln w="25400">
            <a:solidFill>
              <a:srgbClr val="12303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DPM::strategy.portfolio_matrix::v_mid" title="SDPM::strategy.portfolio_matrix::v_mid" descr="SDPM::strategy.portfolio_matrix::v_mid::slot=main::frameEmu=658368,1444752,7772400,4553712::bboxEmu=4703318,1559052,0,4071112"/>
          <p:cNvCxnSpPr/>
          <p:nvPr/>
        </p:nvCxnSpPr>
        <p:spPr>
          <a:xfrm>
            <a:off x="4703318" y="1559052"/>
            <a:ext cx="0" cy="4071112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DPM::strategy.portfolio_matrix::h_mid" title="SDPM::strategy.portfolio_matrix::h_mid" descr="SDPM::strategy.portfolio_matrix::h_mid::slot=main::frameEmu=658368,1444752,7772400,4553712::bboxEmu=1115568,3594608,7175500,0"/>
          <p:cNvCxnSpPr/>
          <p:nvPr/>
        </p:nvCxnSpPr>
        <p:spPr>
          <a:xfrm>
            <a:off x="1115568" y="3594608"/>
            <a:ext cx="71755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DPM::strategy.portfolio_matrix::quad_0" title="SDPM::strategy.portfolio_matrix::quad_0" descr="SDPM::strategy.portfolio_matrix::quad_0::slot=main::frameEmu=658368,1444752,7772400,4553712::bboxEmu=1330833,3716718,3013710,203200"/>
          <p:cNvSpPr txBox="1"/>
          <p:nvPr/>
        </p:nvSpPr>
        <p:spPr>
          <a:xfrm>
            <a:off x="1330833" y="3716718"/>
            <a:ext cx="3013710" cy="203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200">
                <a:solidFill>
                  <a:srgbClr val="61737B"/>
                </a:solidFill>
                <a:latin typeface="Yu Gothic UI"/>
              </a:rPr>
              <a:t>保留</a:t>
            </a:r>
          </a:p>
        </p:txBody>
      </p:sp>
      <p:sp>
        <p:nvSpPr>
          <p:cNvPr id="12" name="SDPM::strategy.portfolio_matrix::quad_1" title="SDPM::strategy.portfolio_matrix::quad_1" descr="SDPM::strategy.portfolio_matrix::quad_1::slot=main::frameEmu=658368,1444752,7772400,4553712::bboxEmu=4990338,3716718,3013710,203200"/>
          <p:cNvSpPr txBox="1"/>
          <p:nvPr/>
        </p:nvSpPr>
        <p:spPr>
          <a:xfrm>
            <a:off x="4990338" y="3716718"/>
            <a:ext cx="3013710" cy="203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Quick wins</a:t>
            </a:r>
          </a:p>
        </p:txBody>
      </p:sp>
      <p:sp>
        <p:nvSpPr>
          <p:cNvPr id="13" name="SDPM::strategy.portfolio_matrix::quad_2" title="SDPM::strategy.portfolio_matrix::quad_2" descr="SDPM::strategy.portfolio_matrix::quad_2::slot=main::frameEmu=658368,1444752,7772400,4553712::bboxEmu=1330833,1640458,3013710,203200"/>
          <p:cNvSpPr txBox="1"/>
          <p:nvPr/>
        </p:nvSpPr>
        <p:spPr>
          <a:xfrm>
            <a:off x="1330833" y="1640458"/>
            <a:ext cx="3013710" cy="203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200">
                <a:solidFill>
                  <a:srgbClr val="61737B"/>
                </a:solidFill>
                <a:latin typeface="Yu Gothic UI"/>
              </a:rPr>
              <a:t>再設計</a:t>
            </a:r>
          </a:p>
        </p:txBody>
      </p:sp>
      <p:sp>
        <p:nvSpPr>
          <p:cNvPr id="14" name="SDPM::strategy.portfolio_matrix::quad_3" title="SDPM::strategy.portfolio_matrix::quad_3" descr="SDPM::strategy.portfolio_matrix::quad_3::slot=main::frameEmu=658368,1444752,7772400,4553712::bboxEmu=4990338,1640458,3013710,203200"/>
          <p:cNvSpPr txBox="1"/>
          <p:nvPr/>
        </p:nvSpPr>
        <p:spPr>
          <a:xfrm>
            <a:off x="4990338" y="1640458"/>
            <a:ext cx="3013710" cy="203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200">
                <a:solidFill>
                  <a:srgbClr val="61737B"/>
                </a:solidFill>
                <a:latin typeface="Yu Gothic UI"/>
              </a:rPr>
              <a:t>重点投資</a:t>
            </a:r>
          </a:p>
        </p:txBody>
      </p:sp>
      <p:sp>
        <p:nvSpPr>
          <p:cNvPr id="15" name="SDPM::strategy.portfolio_matrix::item_0" title="SDPM::strategy.portfolio_matrix::item_0" descr="SDPM::strategy.portfolio_matrix::item_0::slot=main::frameEmu=658368,1444752,7772400,4553712::bboxEmu=6633718,2232469,444500,444500"/>
          <p:cNvSpPr/>
          <p:nvPr/>
        </p:nvSpPr>
        <p:spPr>
          <a:xfrm>
            <a:off x="6633718" y="2232469"/>
            <a:ext cx="444500" cy="444500"/>
          </a:xfrm>
          <a:prstGeom prst="ellipse">
            <a:avLst/>
          </a:prstGeom>
          <a:solidFill>
            <a:srgbClr val="00A6A6">
              <a:alpha val="90000"/>
            </a:srgbClr>
          </a:solidFill>
          <a:ln w="12700">
            <a:solidFill>
              <a:srgbClr val="FFFFFF"/>
            </a:solidFill>
          </a:ln>
          <a:effectLst>
            <a:outerShdw blurRad="50800" dist="19050" dir="8100000" algn="bl" rotWithShape="0">
              <a:srgbClr val="0E343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問い合わせ解決</a:t>
            </a:r>
          </a:p>
        </p:txBody>
      </p:sp>
      <p:sp>
        <p:nvSpPr>
          <p:cNvPr id="16" name="SDPM::strategy.portfolio_matrix::item_1" title="SDPM::strategy.portfolio_matrix::item_1" descr="SDPM::strategy.portfolio_matrix::item_1::slot=main::frameEmu=658368,1444752,7772400,4553712::bboxEmu=5102733,2524315,349250,349250"/>
          <p:cNvSpPr/>
          <p:nvPr/>
        </p:nvSpPr>
        <p:spPr>
          <a:xfrm>
            <a:off x="5102733" y="2524315"/>
            <a:ext cx="349250" cy="349250"/>
          </a:xfrm>
          <a:prstGeom prst="ellipse">
            <a:avLst/>
          </a:prstGeom>
          <a:solidFill>
            <a:srgbClr val="2B74B8">
              <a:alpha val="90000"/>
            </a:srgbClr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需要予測</a:t>
            </a:r>
          </a:p>
        </p:txBody>
      </p:sp>
      <p:sp>
        <p:nvSpPr>
          <p:cNvPr id="17" name="SDPM::strategy.portfolio_matrix::item_2" title="SDPM::strategy.portfolio_matrix::item_2" descr="SDPM::strategy.portfolio_matrix::item_2::slot=main::frameEmu=658368,1444752,7772400,4553712::bboxEmu=3976878,3238627,304800,304800"/>
          <p:cNvSpPr/>
          <p:nvPr/>
        </p:nvSpPr>
        <p:spPr>
          <a:xfrm>
            <a:off x="3976878" y="3238627"/>
            <a:ext cx="304800" cy="304800"/>
          </a:xfrm>
          <a:prstGeom prst="ellipse">
            <a:avLst/>
          </a:prstGeom>
          <a:solidFill>
            <a:srgbClr val="2B74B8">
              <a:alpha val="90000"/>
            </a:srgbClr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開発支援</a:t>
            </a:r>
          </a:p>
        </p:txBody>
      </p:sp>
      <p:sp>
        <p:nvSpPr>
          <p:cNvPr id="18" name="SDPM::strategy.portfolio_matrix::item_3" title="SDPM::strategy.portfolio_matrix::item_3" descr="SDPM::strategy.portfolio_matrix::item_3::slot=main::frameEmu=658368,1444752,7772400,4553712::bboxEmu=6885178,4375975,228600,228600"/>
          <p:cNvSpPr/>
          <p:nvPr/>
        </p:nvSpPr>
        <p:spPr>
          <a:xfrm>
            <a:off x="6885178" y="4375975"/>
            <a:ext cx="228600" cy="228600"/>
          </a:xfrm>
          <a:prstGeom prst="ellipse">
            <a:avLst/>
          </a:prstGeom>
          <a:solidFill>
            <a:srgbClr val="2B74B8">
              <a:alpha val="90000"/>
            </a:srgbClr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議事録</a:t>
            </a:r>
          </a:p>
        </p:txBody>
      </p:sp>
      <p:sp>
        <p:nvSpPr>
          <p:cNvPr id="19" name="SDPM::strategy.portfolio_matrix::x_label" title="SDPM::strategy.portfolio_matrix::x_label" descr="SDPM::strategy.portfolio_matrix::x_label::slot=main::frameEmu=658368,1444752,7772400,4553712::bboxEmu=1115568,5769864,7175500,165100"/>
          <p:cNvSpPr txBox="1"/>
          <p:nvPr/>
        </p:nvSpPr>
        <p:spPr>
          <a:xfrm>
            <a:off x="1115568" y="5769864"/>
            <a:ext cx="71755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ctr"/>
            <a:r>
              <a:rPr lang="ja-JP" sz="1200">
                <a:solidFill>
                  <a:srgbClr val="61737B"/>
                </a:solidFill>
                <a:latin typeface="Yu Gothic UI"/>
              </a:rPr>
              <a:t>実装容易性</a:t>
            </a:r>
          </a:p>
        </p:txBody>
      </p:sp>
      <p:sp>
        <p:nvSpPr>
          <p:cNvPr id="20" name="SDPM::strategy.portfolio_matrix::y_label" title="SDPM::strategy.portfolio_matrix::y_label" descr="SDPM::strategy.portfolio_matrix::y_label::slot=main::frameEmu=658368,1444752,7772400,4553712::bboxEmu=658368,1559052,215900,4071112"/>
          <p:cNvSpPr txBox="1"/>
          <p:nvPr/>
        </p:nvSpPr>
        <p:spPr>
          <a:xfrm rot="16200000">
            <a:off x="658368" y="1559052"/>
            <a:ext cx="215900" cy="407111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200">
                <a:solidFill>
                  <a:srgbClr val="61737B"/>
                </a:solidFill>
                <a:latin typeface="Yu Gothic UI"/>
              </a:rPr>
              <a:t>価値インパクト</a:t>
            </a:r>
          </a:p>
        </p:txBody>
      </p:sp>
      <p:sp>
        <p:nvSpPr>
          <p:cNvPr id="21" name="SDPM::evidence_footer.compact::footer" title="SDPM::evidence_footer.compact::footer" descr="SDPM::evidence_footer.compact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61737B"/>
                </a:solidFill>
                <a:latin typeface="Yu Gothic UI"/>
              </a:rPr>
              <a:t>出典：</a:t>
            </a:r>
            <a:r>
              <a:rPr sz="1200">
                <a:solidFill>
                  <a:srgbClr val="61737B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insight::header" title="SDPM::headline.insight::header" descr="SDPM::headline.insight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100">
                <a:solidFill>
                  <a:srgbClr val="0C2742"/>
                </a:solidFill>
                <a:latin typeface="Yu Gothic UI"/>
              </a:rPr>
              <a:t>不足はモデルではなく、価値設計と運用能力に集中する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annotation.so_what::interpretation" title="SDPM::annotation.so_what::interpretation" descr="SDPM::annotation.so_what::interpretation::slot=interpretation::frameEmu=8046720,5650992,3291840,384048::bboxEmu=8046720,5650992,3291840,139700"/>
          <p:cNvSpPr txBox="1"/>
          <p:nvPr/>
        </p:nvSpPr>
        <p:spPr>
          <a:xfrm>
            <a:off x="8046720" y="5650992"/>
            <a:ext cx="329184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INTERPRETATION</a:t>
            </a:r>
          </a:p>
        </p:txBody>
      </p:sp>
      <p:sp>
        <p:nvSpPr>
          <p:cNvPr id="6" name="SDPM::strategy.capability_map::group_0" title="SDPM::strategy.capability_map::group_0" descr="SDPM::strategy.capability_map::group_0::slot=main::frameEmu=685800,1417320,10835640,4160520::bboxEmu=685800,1417320,3535679,368300"/>
          <p:cNvSpPr/>
          <p:nvPr/>
        </p:nvSpPr>
        <p:spPr>
          <a:xfrm>
            <a:off x="685800" y="1417320"/>
            <a:ext cx="3535679" cy="368300"/>
          </a:xfrm>
          <a:prstGeom prst="roundRect">
            <a:avLst/>
          </a:prstGeom>
          <a:solidFill>
            <a:srgbClr val="0C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500">
                <a:solidFill>
                  <a:srgbClr val="FFFFFF"/>
                </a:solidFill>
                <a:latin typeface="Yu Gothic UI"/>
              </a:rPr>
              <a:t>顧客</a:t>
            </a:r>
          </a:p>
        </p:txBody>
      </p:sp>
      <p:sp>
        <p:nvSpPr>
          <p:cNvPr id="7" name="SDPM::strategy.capability_map::item_bg_0_0" title="SDPM::strategy.capability_map::item_bg_0_0" descr="SDPM::strategy.capability_map::item_bg_0_0::slot=main::frameEmu=685800,1417320,10835640,4160520::bboxEmu=685800,1861820,3535679,1196340"/>
          <p:cNvSpPr/>
          <p:nvPr/>
        </p:nvSpPr>
        <p:spPr>
          <a:xfrm>
            <a:off x="685800" y="1861820"/>
            <a:ext cx="3535679" cy="11963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DPM::strategy.capability_map::label_0_0" title="SDPM::strategy.capability_map::label_0_0" descr="SDPM::strategy.capability_map::label_0_0::slot=main::frameEmu=685800,1417320,10835640,4160520::bboxEmu=774700,1912620,2050414,1094740"/>
          <p:cNvSpPr txBox="1"/>
          <p:nvPr/>
        </p:nvSpPr>
        <p:spPr>
          <a:xfrm>
            <a:off x="774700" y="1912620"/>
            <a:ext cx="2050414" cy="109474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23039"/>
                </a:solidFill>
                <a:latin typeface="Yu Gothic UI"/>
              </a:rPr>
              <a:t>課題定義</a:t>
            </a:r>
          </a:p>
        </p:txBody>
      </p:sp>
      <p:sp>
        <p:nvSpPr>
          <p:cNvPr id="9" name="SDPM::strategy.capability_map::dot_0_0_0" title="SDPM::strategy.capability_map::dot_0_0_0" descr="SDPM::strategy.capability_map::dot_0_0_0::slot=main::frameEmu=685800,1417320,10835640,4160520::bboxEmu=2894965,2306701,197993,306514"/>
          <p:cNvSpPr/>
          <p:nvPr/>
        </p:nvSpPr>
        <p:spPr>
          <a:xfrm>
            <a:off x="2894965" y="2306701"/>
            <a:ext cx="197993" cy="30651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DPM::strategy.capability_map::dot_0_0_1" title="SDPM::strategy.capability_map::dot_0_0_1" descr="SDPM::strategy.capability_map::dot_0_0_1::slot=main::frameEmu=685800,1417320,10835640,4160520::bboxEmu=3150108,2306701,197993,306514"/>
          <p:cNvSpPr/>
          <p:nvPr/>
        </p:nvSpPr>
        <p:spPr>
          <a:xfrm>
            <a:off x="3150108" y="2306701"/>
            <a:ext cx="197993" cy="30651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DPM::strategy.capability_map::dot_0_0_2" title="SDPM::strategy.capability_map::dot_0_0_2" descr="SDPM::strategy.capability_map::dot_0_0_2::slot=main::frameEmu=685800,1417320,10835640,4160520::bboxEmu=3405251,2306701,197993,306514"/>
          <p:cNvSpPr/>
          <p:nvPr/>
        </p:nvSpPr>
        <p:spPr>
          <a:xfrm>
            <a:off x="3405251" y="230670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DPM::strategy.capability_map::dot_0_0_3" title="SDPM::strategy.capability_map::dot_0_0_3" descr="SDPM::strategy.capability_map::dot_0_0_3::slot=main::frameEmu=685800,1417320,10835640,4160520::bboxEmu=3660394,2306701,197993,306514"/>
          <p:cNvSpPr/>
          <p:nvPr/>
        </p:nvSpPr>
        <p:spPr>
          <a:xfrm>
            <a:off x="3660394" y="230670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DPM::strategy.capability_map::dot_0_0_4" title="SDPM::strategy.capability_map::dot_0_0_4" descr="SDPM::strategy.capability_map::dot_0_0_4::slot=main::frameEmu=685800,1417320,10835640,4160520::bboxEmu=3915537,2306701,197993,306514"/>
          <p:cNvSpPr/>
          <p:nvPr/>
        </p:nvSpPr>
        <p:spPr>
          <a:xfrm>
            <a:off x="3915537" y="230670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DPM::strategy.capability_map::item_bg_0_1" title="SDPM::strategy.capability_map::item_bg_0_1" descr="SDPM::strategy.capability_map::item_bg_0_1::slot=main::frameEmu=685800,1417320,10835640,4160520::bboxEmu=685800,3121660,3535679,1196340"/>
          <p:cNvSpPr/>
          <p:nvPr/>
        </p:nvSpPr>
        <p:spPr>
          <a:xfrm>
            <a:off x="685800" y="3121660"/>
            <a:ext cx="3535679" cy="11963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DPM::strategy.capability_map::label_0_1" title="SDPM::strategy.capability_map::label_0_1" descr="SDPM::strategy.capability_map::label_0_1::slot=main::frameEmu=685800,1417320,10835640,4160520::bboxEmu=774700,3172460,2050414,1094740"/>
          <p:cNvSpPr txBox="1"/>
          <p:nvPr/>
        </p:nvSpPr>
        <p:spPr>
          <a:xfrm>
            <a:off x="774700" y="3172460"/>
            <a:ext cx="2050414" cy="109474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23039"/>
                </a:solidFill>
                <a:latin typeface="Yu Gothic UI"/>
              </a:rPr>
              <a:t>価値</a:t>
            </a:r>
            <a:r>
              <a:rPr sz="1300">
                <a:solidFill>
                  <a:srgbClr val="123039"/>
                </a:solidFill>
                <a:latin typeface="Yu Gothic UI"/>
              </a:rPr>
              <a:t> KPI</a:t>
            </a:r>
          </a:p>
        </p:txBody>
      </p:sp>
      <p:sp>
        <p:nvSpPr>
          <p:cNvPr id="16" name="SDPM::strategy.capability_map::dot_0_1_0" title="SDPM::strategy.capability_map::dot_0_1_0" descr="SDPM::strategy.capability_map::dot_0_1_0::slot=main::frameEmu=685800,1417320,10835640,4160520::bboxEmu=2894965,3566541,197993,306514"/>
          <p:cNvSpPr/>
          <p:nvPr/>
        </p:nvSpPr>
        <p:spPr>
          <a:xfrm>
            <a:off x="2894965" y="3566541"/>
            <a:ext cx="197993" cy="30651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DPM::strategy.capability_map::dot_0_1_1" title="SDPM::strategy.capability_map::dot_0_1_1" descr="SDPM::strategy.capability_map::dot_0_1_1::slot=main::frameEmu=685800,1417320,10835640,4160520::bboxEmu=3150108,3566541,197993,306514"/>
          <p:cNvSpPr/>
          <p:nvPr/>
        </p:nvSpPr>
        <p:spPr>
          <a:xfrm>
            <a:off x="3150108" y="356654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DPM::strategy.capability_map::dot_0_1_2" title="SDPM::strategy.capability_map::dot_0_1_2" descr="SDPM::strategy.capability_map::dot_0_1_2::slot=main::frameEmu=685800,1417320,10835640,4160520::bboxEmu=3405251,3566541,197993,306514"/>
          <p:cNvSpPr/>
          <p:nvPr/>
        </p:nvSpPr>
        <p:spPr>
          <a:xfrm>
            <a:off x="3405251" y="356654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DPM::strategy.capability_map::dot_0_1_3" title="SDPM::strategy.capability_map::dot_0_1_3" descr="SDPM::strategy.capability_map::dot_0_1_3::slot=main::frameEmu=685800,1417320,10835640,4160520::bboxEmu=3660394,3566541,197993,306514"/>
          <p:cNvSpPr/>
          <p:nvPr/>
        </p:nvSpPr>
        <p:spPr>
          <a:xfrm>
            <a:off x="3660394" y="356654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DPM::strategy.capability_map::dot_0_1_4" title="SDPM::strategy.capability_map::dot_0_1_4" descr="SDPM::strategy.capability_map::dot_0_1_4::slot=main::frameEmu=685800,1417320,10835640,4160520::bboxEmu=3915537,3566541,197993,306514"/>
          <p:cNvSpPr/>
          <p:nvPr/>
        </p:nvSpPr>
        <p:spPr>
          <a:xfrm>
            <a:off x="3915537" y="356654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DPM::strategy.capability_map::item_bg_0_2" title="SDPM::strategy.capability_map::item_bg_0_2" descr="SDPM::strategy.capability_map::item_bg_0_2::slot=main::frameEmu=685800,1417320,10835640,4160520::bboxEmu=685800,4381500,3535679,1196340"/>
          <p:cNvSpPr/>
          <p:nvPr/>
        </p:nvSpPr>
        <p:spPr>
          <a:xfrm>
            <a:off x="685800" y="4381500"/>
            <a:ext cx="3535679" cy="11963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DPM::strategy.capability_map::label_0_2" title="SDPM::strategy.capability_map::label_0_2" descr="SDPM::strategy.capability_map::label_0_2::slot=main::frameEmu=685800,1417320,10835640,4160520::bboxEmu=774700,4432300,2050414,1094740"/>
          <p:cNvSpPr txBox="1"/>
          <p:nvPr/>
        </p:nvSpPr>
        <p:spPr>
          <a:xfrm>
            <a:off x="774700" y="4432300"/>
            <a:ext cx="2050414" cy="109474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23039"/>
                </a:solidFill>
                <a:latin typeface="Yu Gothic UI"/>
              </a:rPr>
              <a:t>検証設計</a:t>
            </a:r>
          </a:p>
        </p:txBody>
      </p:sp>
      <p:sp>
        <p:nvSpPr>
          <p:cNvPr id="23" name="SDPM::strategy.capability_map::dot_0_2_0" title="SDPM::strategy.capability_map::dot_0_2_0" descr="SDPM::strategy.capability_map::dot_0_2_0::slot=main::frameEmu=685800,1417320,10835640,4160520::bboxEmu=2894965,4826381,197993,306514"/>
          <p:cNvSpPr/>
          <p:nvPr/>
        </p:nvSpPr>
        <p:spPr>
          <a:xfrm>
            <a:off x="2894965" y="4826381"/>
            <a:ext cx="197993" cy="30651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DPM::strategy.capability_map::dot_0_2_1" title="SDPM::strategy.capability_map::dot_0_2_1" descr="SDPM::strategy.capability_map::dot_0_2_1::slot=main::frameEmu=685800,1417320,10835640,4160520::bboxEmu=3150108,4826381,197993,306514"/>
          <p:cNvSpPr/>
          <p:nvPr/>
        </p:nvSpPr>
        <p:spPr>
          <a:xfrm>
            <a:off x="3150108" y="4826381"/>
            <a:ext cx="197993" cy="30651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DPM::strategy.capability_map::dot_0_2_2" title="SDPM::strategy.capability_map::dot_0_2_2" descr="SDPM::strategy.capability_map::dot_0_2_2::slot=main::frameEmu=685800,1417320,10835640,4160520::bboxEmu=3405251,4826381,197993,306514"/>
          <p:cNvSpPr/>
          <p:nvPr/>
        </p:nvSpPr>
        <p:spPr>
          <a:xfrm>
            <a:off x="3405251" y="482638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DPM::strategy.capability_map::dot_0_2_3" title="SDPM::strategy.capability_map::dot_0_2_3" descr="SDPM::strategy.capability_map::dot_0_2_3::slot=main::frameEmu=685800,1417320,10835640,4160520::bboxEmu=3660394,4826381,197993,306514"/>
          <p:cNvSpPr/>
          <p:nvPr/>
        </p:nvSpPr>
        <p:spPr>
          <a:xfrm>
            <a:off x="3660394" y="482638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DPM::strategy.capability_map::dot_0_2_4" title="SDPM::strategy.capability_map::dot_0_2_4" descr="SDPM::strategy.capability_map::dot_0_2_4::slot=main::frameEmu=685800,1417320,10835640,4160520::bboxEmu=3915537,4826381,197993,306514"/>
          <p:cNvSpPr/>
          <p:nvPr/>
        </p:nvSpPr>
        <p:spPr>
          <a:xfrm>
            <a:off x="3915537" y="482638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DPM::strategy.capability_map::group_1" title="SDPM::strategy.capability_map::group_1" descr="SDPM::strategy.capability_map::group_1::slot=main::frameEmu=685800,1417320,10835640,4160520::bboxEmu=4335780,1417320,3535679,368300"/>
          <p:cNvSpPr/>
          <p:nvPr/>
        </p:nvSpPr>
        <p:spPr>
          <a:xfrm>
            <a:off x="4335780" y="1417320"/>
            <a:ext cx="3535679" cy="368300"/>
          </a:xfrm>
          <a:prstGeom prst="roundRect">
            <a:avLst/>
          </a:prstGeom>
          <a:solidFill>
            <a:srgbClr val="E7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500">
                <a:solidFill>
                  <a:srgbClr val="0C2742"/>
                </a:solidFill>
                <a:latin typeface="Yu Gothic UI"/>
              </a:rPr>
              <a:t>業務</a:t>
            </a:r>
          </a:p>
        </p:txBody>
      </p:sp>
      <p:sp>
        <p:nvSpPr>
          <p:cNvPr id="29" name="SDPM::strategy.capability_map::item_bg_1_0" title="SDPM::strategy.capability_map::item_bg_1_0" descr="SDPM::strategy.capability_map::item_bg_1_0::slot=main::frameEmu=685800,1417320,10835640,4160520::bboxEmu=4335780,1861820,3535679,1196340"/>
          <p:cNvSpPr/>
          <p:nvPr/>
        </p:nvSpPr>
        <p:spPr>
          <a:xfrm>
            <a:off x="4335780" y="1861820"/>
            <a:ext cx="3535679" cy="11963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DPM::strategy.capability_map::label_1_0" title="SDPM::strategy.capability_map::label_1_0" descr="SDPM::strategy.capability_map::label_1_0::slot=main::frameEmu=685800,1417320,10835640,4160520::bboxEmu=4424680,1912620,2050414,1094740"/>
          <p:cNvSpPr txBox="1"/>
          <p:nvPr/>
        </p:nvSpPr>
        <p:spPr>
          <a:xfrm>
            <a:off x="4424680" y="1912620"/>
            <a:ext cx="2050414" cy="109474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23039"/>
                </a:solidFill>
                <a:latin typeface="Yu Gothic UI"/>
              </a:rPr>
              <a:t>標準化</a:t>
            </a:r>
          </a:p>
        </p:txBody>
      </p:sp>
      <p:sp>
        <p:nvSpPr>
          <p:cNvPr id="31" name="SDPM::strategy.capability_map::dot_1_0_0" title="SDPM::strategy.capability_map::dot_1_0_0" descr="SDPM::strategy.capability_map::dot_1_0_0::slot=main::frameEmu=685800,1417320,10835640,4160520::bboxEmu=6544945,2306701,197993,306514"/>
          <p:cNvSpPr/>
          <p:nvPr/>
        </p:nvSpPr>
        <p:spPr>
          <a:xfrm>
            <a:off x="6544945" y="2306701"/>
            <a:ext cx="197993" cy="30651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DPM::strategy.capability_map::dot_1_0_1" title="SDPM::strategy.capability_map::dot_1_0_1" descr="SDPM::strategy.capability_map::dot_1_0_1::slot=main::frameEmu=685800,1417320,10835640,4160520::bboxEmu=6800088,2306701,197993,306514"/>
          <p:cNvSpPr/>
          <p:nvPr/>
        </p:nvSpPr>
        <p:spPr>
          <a:xfrm>
            <a:off x="6800088" y="2306701"/>
            <a:ext cx="197993" cy="30651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DPM::strategy.capability_map::dot_1_0_2" title="SDPM::strategy.capability_map::dot_1_0_2" descr="SDPM::strategy.capability_map::dot_1_0_2::slot=main::frameEmu=685800,1417320,10835640,4160520::bboxEmu=7055231,2306701,197993,306514"/>
          <p:cNvSpPr/>
          <p:nvPr/>
        </p:nvSpPr>
        <p:spPr>
          <a:xfrm>
            <a:off x="7055231" y="230670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DPM::strategy.capability_map::dot_1_0_3" title="SDPM::strategy.capability_map::dot_1_0_3" descr="SDPM::strategy.capability_map::dot_1_0_3::slot=main::frameEmu=685800,1417320,10835640,4160520::bboxEmu=7310374,2306701,197993,306514"/>
          <p:cNvSpPr/>
          <p:nvPr/>
        </p:nvSpPr>
        <p:spPr>
          <a:xfrm>
            <a:off x="7310374" y="230670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DPM::strategy.capability_map::dot_1_0_4" title="SDPM::strategy.capability_map::dot_1_0_4" descr="SDPM::strategy.capability_map::dot_1_0_4::slot=main::frameEmu=685800,1417320,10835640,4160520::bboxEmu=7565517,2306701,197993,306514"/>
          <p:cNvSpPr/>
          <p:nvPr/>
        </p:nvSpPr>
        <p:spPr>
          <a:xfrm>
            <a:off x="7565517" y="230670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DPM::strategy.capability_map::item_bg_1_1" title="SDPM::strategy.capability_map::item_bg_1_1" descr="SDPM::strategy.capability_map::item_bg_1_1::slot=main::frameEmu=685800,1417320,10835640,4160520::bboxEmu=4335780,3121660,3535679,1196340"/>
          <p:cNvSpPr/>
          <p:nvPr/>
        </p:nvSpPr>
        <p:spPr>
          <a:xfrm>
            <a:off x="4335780" y="3121660"/>
            <a:ext cx="3535679" cy="11963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DPM::strategy.capability_map::label_1_1" title="SDPM::strategy.capability_map::label_1_1" descr="SDPM::strategy.capability_map::label_1_1::slot=main::frameEmu=685800,1417320,10835640,4160520::bboxEmu=4424680,3172460,2050414,1094740"/>
          <p:cNvSpPr txBox="1"/>
          <p:nvPr/>
        </p:nvSpPr>
        <p:spPr>
          <a:xfrm>
            <a:off x="4424680" y="3172460"/>
            <a:ext cx="2050414" cy="109474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23039"/>
                </a:solidFill>
                <a:latin typeface="Yu Gothic UI"/>
              </a:rPr>
              <a:t>例外処理</a:t>
            </a:r>
          </a:p>
        </p:txBody>
      </p:sp>
      <p:sp>
        <p:nvSpPr>
          <p:cNvPr id="38" name="SDPM::strategy.capability_map::dot_1_1_0" title="SDPM::strategy.capability_map::dot_1_1_0" descr="SDPM::strategy.capability_map::dot_1_1_0::slot=main::frameEmu=685800,1417320,10835640,4160520::bboxEmu=6544945,3566541,197993,306514"/>
          <p:cNvSpPr/>
          <p:nvPr/>
        </p:nvSpPr>
        <p:spPr>
          <a:xfrm>
            <a:off x="6544945" y="3566541"/>
            <a:ext cx="197993" cy="30651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DPM::strategy.capability_map::dot_1_1_1" title="SDPM::strategy.capability_map::dot_1_1_1" descr="SDPM::strategy.capability_map::dot_1_1_1::slot=main::frameEmu=685800,1417320,10835640,4160520::bboxEmu=6800088,3566541,197993,306514"/>
          <p:cNvSpPr/>
          <p:nvPr/>
        </p:nvSpPr>
        <p:spPr>
          <a:xfrm>
            <a:off x="6800088" y="356654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DPM::strategy.capability_map::dot_1_1_2" title="SDPM::strategy.capability_map::dot_1_1_2" descr="SDPM::strategy.capability_map::dot_1_1_2::slot=main::frameEmu=685800,1417320,10835640,4160520::bboxEmu=7055231,3566541,197993,306514"/>
          <p:cNvSpPr/>
          <p:nvPr/>
        </p:nvSpPr>
        <p:spPr>
          <a:xfrm>
            <a:off x="7055231" y="356654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DPM::strategy.capability_map::dot_1_1_3" title="SDPM::strategy.capability_map::dot_1_1_3" descr="SDPM::strategy.capability_map::dot_1_1_3::slot=main::frameEmu=685800,1417320,10835640,4160520::bboxEmu=7310374,3566541,197993,306514"/>
          <p:cNvSpPr/>
          <p:nvPr/>
        </p:nvSpPr>
        <p:spPr>
          <a:xfrm>
            <a:off x="7310374" y="356654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DPM::strategy.capability_map::dot_1_1_4" title="SDPM::strategy.capability_map::dot_1_1_4" descr="SDPM::strategy.capability_map::dot_1_1_4::slot=main::frameEmu=685800,1417320,10835640,4160520::bboxEmu=7565517,3566541,197993,306514"/>
          <p:cNvSpPr/>
          <p:nvPr/>
        </p:nvSpPr>
        <p:spPr>
          <a:xfrm>
            <a:off x="7565517" y="356654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DPM::strategy.capability_map::item_bg_1_2" title="SDPM::strategy.capability_map::item_bg_1_2" descr="SDPM::strategy.capability_map::item_bg_1_2::slot=main::frameEmu=685800,1417320,10835640,4160520::bboxEmu=4335780,4381500,3535679,1196340"/>
          <p:cNvSpPr/>
          <p:nvPr/>
        </p:nvSpPr>
        <p:spPr>
          <a:xfrm>
            <a:off x="4335780" y="4381500"/>
            <a:ext cx="3535679" cy="11963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DPM::strategy.capability_map::label_1_2" title="SDPM::strategy.capability_map::label_1_2" descr="SDPM::strategy.capability_map::label_1_2::slot=main::frameEmu=685800,1417320,10835640,4160520::bboxEmu=4424680,4432300,2050414,1094740"/>
          <p:cNvSpPr txBox="1"/>
          <p:nvPr/>
        </p:nvSpPr>
        <p:spPr>
          <a:xfrm>
            <a:off x="4424680" y="4432300"/>
            <a:ext cx="2050414" cy="109474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23039"/>
                </a:solidFill>
                <a:latin typeface="Yu Gothic UI"/>
              </a:rPr>
              <a:t>定着運用</a:t>
            </a:r>
          </a:p>
        </p:txBody>
      </p:sp>
      <p:sp>
        <p:nvSpPr>
          <p:cNvPr id="45" name="SDPM::strategy.capability_map::dot_1_2_0" title="SDPM::strategy.capability_map::dot_1_2_0" descr="SDPM::strategy.capability_map::dot_1_2_0::slot=main::frameEmu=685800,1417320,10835640,4160520::bboxEmu=6544945,4826381,197993,306514"/>
          <p:cNvSpPr/>
          <p:nvPr/>
        </p:nvSpPr>
        <p:spPr>
          <a:xfrm>
            <a:off x="6544945" y="4826381"/>
            <a:ext cx="197993" cy="30651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DPM::strategy.capability_map::dot_1_2_1" title="SDPM::strategy.capability_map::dot_1_2_1" descr="SDPM::strategy.capability_map::dot_1_2_1::slot=main::frameEmu=685800,1417320,10835640,4160520::bboxEmu=6800088,4826381,197993,306514"/>
          <p:cNvSpPr/>
          <p:nvPr/>
        </p:nvSpPr>
        <p:spPr>
          <a:xfrm>
            <a:off x="6800088" y="4826381"/>
            <a:ext cx="197993" cy="30651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DPM::strategy.capability_map::dot_1_2_2" title="SDPM::strategy.capability_map::dot_1_2_2" descr="SDPM::strategy.capability_map::dot_1_2_2::slot=main::frameEmu=685800,1417320,10835640,4160520::bboxEmu=7055231,4826381,197993,306514"/>
          <p:cNvSpPr/>
          <p:nvPr/>
        </p:nvSpPr>
        <p:spPr>
          <a:xfrm>
            <a:off x="7055231" y="482638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DPM::strategy.capability_map::dot_1_2_3" title="SDPM::strategy.capability_map::dot_1_2_3" descr="SDPM::strategy.capability_map::dot_1_2_3::slot=main::frameEmu=685800,1417320,10835640,4160520::bboxEmu=7310374,4826381,197993,306514"/>
          <p:cNvSpPr/>
          <p:nvPr/>
        </p:nvSpPr>
        <p:spPr>
          <a:xfrm>
            <a:off x="7310374" y="482638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DPM::strategy.capability_map::dot_1_2_4" title="SDPM::strategy.capability_map::dot_1_2_4" descr="SDPM::strategy.capability_map::dot_1_2_4::slot=main::frameEmu=685800,1417320,10835640,4160520::bboxEmu=7565517,4826381,197993,306514"/>
          <p:cNvSpPr/>
          <p:nvPr/>
        </p:nvSpPr>
        <p:spPr>
          <a:xfrm>
            <a:off x="7565517" y="482638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DPM::strategy.capability_map::group_2" title="SDPM::strategy.capability_map::group_2" descr="SDPM::strategy.capability_map::group_2::slot=main::frameEmu=685800,1417320,10835640,4160520::bboxEmu=7985759,1417320,3535679,368300"/>
          <p:cNvSpPr/>
          <p:nvPr/>
        </p:nvSpPr>
        <p:spPr>
          <a:xfrm>
            <a:off x="7985759" y="1417320"/>
            <a:ext cx="3535679" cy="368300"/>
          </a:xfrm>
          <a:prstGeom prst="roundRect">
            <a:avLst/>
          </a:prstGeom>
          <a:solidFill>
            <a:srgbClr val="E7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500">
                <a:solidFill>
                  <a:srgbClr val="0C2742"/>
                </a:solidFill>
                <a:latin typeface="Yu Gothic UI"/>
              </a:rPr>
              <a:t>基盤</a:t>
            </a:r>
          </a:p>
        </p:txBody>
      </p:sp>
      <p:sp>
        <p:nvSpPr>
          <p:cNvPr id="51" name="SDPM::strategy.capability_map::item_bg_2_0" title="SDPM::strategy.capability_map::item_bg_2_0" descr="SDPM::strategy.capability_map::item_bg_2_0::slot=main::frameEmu=685800,1417320,10835640,4160520::bboxEmu=7985759,1861820,3535679,1196340"/>
          <p:cNvSpPr/>
          <p:nvPr/>
        </p:nvSpPr>
        <p:spPr>
          <a:xfrm>
            <a:off x="7985759" y="1861820"/>
            <a:ext cx="3535679" cy="11963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DPM::strategy.capability_map::label_2_0" title="SDPM::strategy.capability_map::label_2_0" descr="SDPM::strategy.capability_map::label_2_0::slot=main::frameEmu=685800,1417320,10835640,4160520::bboxEmu=8074659,1912620,2050414,1094740"/>
          <p:cNvSpPr txBox="1"/>
          <p:nvPr/>
        </p:nvSpPr>
        <p:spPr>
          <a:xfrm>
            <a:off x="8074659" y="1912620"/>
            <a:ext cx="2050414" cy="109474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23039"/>
                </a:solidFill>
                <a:latin typeface="Yu Gothic UI"/>
              </a:rPr>
              <a:t>データ</a:t>
            </a:r>
          </a:p>
        </p:txBody>
      </p:sp>
      <p:sp>
        <p:nvSpPr>
          <p:cNvPr id="53" name="SDPM::strategy.capability_map::dot_2_0_0" title="SDPM::strategy.capability_map::dot_2_0_0" descr="SDPM::strategy.capability_map::dot_2_0_0::slot=main::frameEmu=685800,1417320,10835640,4160520::bboxEmu=10194925,2306701,197993,306514"/>
          <p:cNvSpPr/>
          <p:nvPr/>
        </p:nvSpPr>
        <p:spPr>
          <a:xfrm>
            <a:off x="10194925" y="2306701"/>
            <a:ext cx="197993" cy="30651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DPM::strategy.capability_map::dot_2_0_1" title="SDPM::strategy.capability_map::dot_2_0_1" descr="SDPM::strategy.capability_map::dot_2_0_1::slot=main::frameEmu=685800,1417320,10835640,4160520::bboxEmu=10450068,2306701,197993,306514"/>
          <p:cNvSpPr/>
          <p:nvPr/>
        </p:nvSpPr>
        <p:spPr>
          <a:xfrm>
            <a:off x="10450068" y="2306701"/>
            <a:ext cx="197993" cy="30651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DPM::strategy.capability_map::dot_2_0_2" title="SDPM::strategy.capability_map::dot_2_0_2" descr="SDPM::strategy.capability_map::dot_2_0_2::slot=main::frameEmu=685800,1417320,10835640,4160520::bboxEmu=10705211,2306701,197993,306514"/>
          <p:cNvSpPr/>
          <p:nvPr/>
        </p:nvSpPr>
        <p:spPr>
          <a:xfrm>
            <a:off x="10705211" y="230670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DPM::strategy.capability_map::dot_2_0_3" title="SDPM::strategy.capability_map::dot_2_0_3" descr="SDPM::strategy.capability_map::dot_2_0_3::slot=main::frameEmu=685800,1417320,10835640,4160520::bboxEmu=10960354,2306701,197993,306514"/>
          <p:cNvSpPr/>
          <p:nvPr/>
        </p:nvSpPr>
        <p:spPr>
          <a:xfrm>
            <a:off x="10960354" y="230670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DPM::strategy.capability_map::dot_2_0_4" title="SDPM::strategy.capability_map::dot_2_0_4" descr="SDPM::strategy.capability_map::dot_2_0_4::slot=main::frameEmu=685800,1417320,10835640,4160520::bboxEmu=11215497,2306701,197993,306514"/>
          <p:cNvSpPr/>
          <p:nvPr/>
        </p:nvSpPr>
        <p:spPr>
          <a:xfrm>
            <a:off x="11215497" y="230670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DPM::strategy.capability_map::item_bg_2_1" title="SDPM::strategy.capability_map::item_bg_2_1" descr="SDPM::strategy.capability_map::item_bg_2_1::slot=main::frameEmu=685800,1417320,10835640,4160520::bboxEmu=7985759,3121660,3535679,1196340"/>
          <p:cNvSpPr/>
          <p:nvPr/>
        </p:nvSpPr>
        <p:spPr>
          <a:xfrm>
            <a:off x="7985759" y="3121660"/>
            <a:ext cx="3535679" cy="11963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DPM::strategy.capability_map::label_2_1" title="SDPM::strategy.capability_map::label_2_1" descr="SDPM::strategy.capability_map::label_2_1::slot=main::frameEmu=685800,1417320,10835640,4160520::bboxEmu=8074659,3172460,2050414,1094740"/>
          <p:cNvSpPr txBox="1"/>
          <p:nvPr/>
        </p:nvSpPr>
        <p:spPr>
          <a:xfrm>
            <a:off x="8074659" y="3172460"/>
            <a:ext cx="2050414" cy="109474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23039"/>
                </a:solidFill>
                <a:latin typeface="Yu Gothic UI"/>
              </a:rPr>
              <a:t>人材</a:t>
            </a:r>
          </a:p>
        </p:txBody>
      </p:sp>
      <p:sp>
        <p:nvSpPr>
          <p:cNvPr id="60" name="SDPM::strategy.capability_map::dot_2_1_0" title="SDPM::strategy.capability_map::dot_2_1_0" descr="SDPM::strategy.capability_map::dot_2_1_0::slot=main::frameEmu=685800,1417320,10835640,4160520::bboxEmu=10194925,3566541,197993,306514"/>
          <p:cNvSpPr/>
          <p:nvPr/>
        </p:nvSpPr>
        <p:spPr>
          <a:xfrm>
            <a:off x="10194925" y="3566541"/>
            <a:ext cx="197993" cy="30651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DPM::strategy.capability_map::dot_2_1_1" title="SDPM::strategy.capability_map::dot_2_1_1" descr="SDPM::strategy.capability_map::dot_2_1_1::slot=main::frameEmu=685800,1417320,10835640,4160520::bboxEmu=10450068,3566541,197993,306514"/>
          <p:cNvSpPr/>
          <p:nvPr/>
        </p:nvSpPr>
        <p:spPr>
          <a:xfrm>
            <a:off x="10450068" y="3566541"/>
            <a:ext cx="197993" cy="30651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DPM::strategy.capability_map::dot_2_1_2" title="SDPM::strategy.capability_map::dot_2_1_2" descr="SDPM::strategy.capability_map::dot_2_1_2::slot=main::frameEmu=685800,1417320,10835640,4160520::bboxEmu=10705211,3566541,197993,306514"/>
          <p:cNvSpPr/>
          <p:nvPr/>
        </p:nvSpPr>
        <p:spPr>
          <a:xfrm>
            <a:off x="10705211" y="356654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SDPM::strategy.capability_map::dot_2_1_3" title="SDPM::strategy.capability_map::dot_2_1_3" descr="SDPM::strategy.capability_map::dot_2_1_3::slot=main::frameEmu=685800,1417320,10835640,4160520::bboxEmu=10960354,3566541,197993,306514"/>
          <p:cNvSpPr/>
          <p:nvPr/>
        </p:nvSpPr>
        <p:spPr>
          <a:xfrm>
            <a:off x="10960354" y="356654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DPM::strategy.capability_map::dot_2_1_4" title="SDPM::strategy.capability_map::dot_2_1_4" descr="SDPM::strategy.capability_map::dot_2_1_4::slot=main::frameEmu=685800,1417320,10835640,4160520::bboxEmu=11215497,3566541,197993,306514"/>
          <p:cNvSpPr/>
          <p:nvPr/>
        </p:nvSpPr>
        <p:spPr>
          <a:xfrm>
            <a:off x="11215497" y="356654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DPM::strategy.capability_map::item_bg_2_2" title="SDPM::strategy.capability_map::item_bg_2_2" descr="SDPM::strategy.capability_map::item_bg_2_2::slot=main::frameEmu=685800,1417320,10835640,4160520::bboxEmu=7985759,4381500,3535679,1196340"/>
          <p:cNvSpPr/>
          <p:nvPr/>
        </p:nvSpPr>
        <p:spPr>
          <a:xfrm>
            <a:off x="7985759" y="4381500"/>
            <a:ext cx="3535679" cy="11963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DPM::strategy.capability_map::label_2_2" title="SDPM::strategy.capability_map::label_2_2" descr="SDPM::strategy.capability_map::label_2_2::slot=main::frameEmu=685800,1417320,10835640,4160520::bboxEmu=8074659,4432300,2050414,1094740"/>
          <p:cNvSpPr txBox="1"/>
          <p:nvPr/>
        </p:nvSpPr>
        <p:spPr>
          <a:xfrm>
            <a:off x="8074659" y="4432300"/>
            <a:ext cx="2050414" cy="109474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23039"/>
                </a:solidFill>
                <a:latin typeface="Yu Gothic UI"/>
              </a:rPr>
              <a:t>統制</a:t>
            </a:r>
          </a:p>
        </p:txBody>
      </p:sp>
      <p:sp>
        <p:nvSpPr>
          <p:cNvPr id="67" name="SDPM::strategy.capability_map::dot_2_2_0" title="SDPM::strategy.capability_map::dot_2_2_0" descr="SDPM::strategy.capability_map::dot_2_2_0::slot=main::frameEmu=685800,1417320,10835640,4160520::bboxEmu=10194925,4826381,197993,306514"/>
          <p:cNvSpPr/>
          <p:nvPr/>
        </p:nvSpPr>
        <p:spPr>
          <a:xfrm>
            <a:off x="10194925" y="4826381"/>
            <a:ext cx="197993" cy="30651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SDPM::strategy.capability_map::dot_2_2_1" title="SDPM::strategy.capability_map::dot_2_2_1" descr="SDPM::strategy.capability_map::dot_2_2_1::slot=main::frameEmu=685800,1417320,10835640,4160520::bboxEmu=10450068,4826381,197993,306514"/>
          <p:cNvSpPr/>
          <p:nvPr/>
        </p:nvSpPr>
        <p:spPr>
          <a:xfrm>
            <a:off x="10450068" y="482638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SDPM::strategy.capability_map::dot_2_2_2" title="SDPM::strategy.capability_map::dot_2_2_2" descr="SDPM::strategy.capability_map::dot_2_2_2::slot=main::frameEmu=685800,1417320,10835640,4160520::bboxEmu=10705211,4826381,197993,306514"/>
          <p:cNvSpPr/>
          <p:nvPr/>
        </p:nvSpPr>
        <p:spPr>
          <a:xfrm>
            <a:off x="10705211" y="482638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SDPM::strategy.capability_map::dot_2_2_3" title="SDPM::strategy.capability_map::dot_2_2_3" descr="SDPM::strategy.capability_map::dot_2_2_3::slot=main::frameEmu=685800,1417320,10835640,4160520::bboxEmu=10960354,4826381,197993,306514"/>
          <p:cNvSpPr/>
          <p:nvPr/>
        </p:nvSpPr>
        <p:spPr>
          <a:xfrm>
            <a:off x="10960354" y="482638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SDPM::strategy.capability_map::dot_2_2_4" title="SDPM::strategy.capability_map::dot_2_2_4" descr="SDPM::strategy.capability_map::dot_2_2_4::slot=main::frameEmu=685800,1417320,10835640,4160520::bboxEmu=11215497,4826381,197993,306514"/>
          <p:cNvSpPr/>
          <p:nvPr/>
        </p:nvSpPr>
        <p:spPr>
          <a:xfrm>
            <a:off x="11215497" y="482638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SDPM::evidence_footer.compact::footer" title="SDPM::evidence_footer.compact::footer" descr="SDPM::evidence_footer.compact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61737B"/>
                </a:solidFill>
                <a:latin typeface="Yu Gothic UI"/>
              </a:rPr>
              <a:t>出典：</a:t>
            </a:r>
            <a:r>
              <a:rPr sz="1200">
                <a:solidFill>
                  <a:srgbClr val="61737B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decision::header" title="SDPM::headline.decision::header" descr="SDPM::headline.decision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100">
                <a:solidFill>
                  <a:srgbClr val="0C2742"/>
                </a:solidFill>
                <a:latin typeface="Yu Gothic UI"/>
              </a:rPr>
              <a:t>90 </a:t>
            </a:r>
            <a:r>
              <a:rPr lang="ja-JP" sz="3100">
                <a:solidFill>
                  <a:srgbClr val="0C2742"/>
                </a:solidFill>
                <a:latin typeface="Yu Gothic UI"/>
              </a:rPr>
              <a:t>日で設計・実装・判定までを一巡させる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action.owner_due::action" title="SDPM::action.owner_due::action" descr="SDPM::action.owner_due::action::slot=action::frameEmu=8321040,5623560,3017520,420624::bboxEmu=8321040,5623560,3017520,139700"/>
          <p:cNvSpPr txBox="1"/>
          <p:nvPr/>
        </p:nvSpPr>
        <p:spPr>
          <a:xfrm>
            <a:off x="8321040" y="5623560"/>
            <a:ext cx="301752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ACTION</a:t>
            </a:r>
          </a:p>
        </p:txBody>
      </p:sp>
      <p:cxnSp>
        <p:nvCxnSpPr>
          <p:cNvPr id="6" name="SDPM::execution.roadmap::arrow_0" title="SDPM::execution.roadmap::arrow_0" descr="SDPM::execution.roadmap::arrow_0::slot=main::frameEmu=640080,1444752,10881360,4114800::bboxEmu=2104834,2185416,1540955,0"/>
          <p:cNvCxnSpPr/>
          <p:nvPr/>
        </p:nvCxnSpPr>
        <p:spPr>
          <a:xfrm>
            <a:off x="2104834" y="2185416"/>
            <a:ext cx="1540955" cy="0"/>
          </a:xfrm>
          <a:prstGeom prst="line">
            <a:avLst/>
          </a:prstGeom>
          <a:ln w="38100">
            <a:solidFill>
              <a:srgbClr val="00A6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DPM::execution.roadmap::node_0" title="SDPM::execution.roadmap::node_0" descr="SDPM::execution.roadmap::node_0::slot=main::frameEmu=640080,1444752,10881360,4114800::bboxEmu=1819275,1786127,304800,304800"/>
          <p:cNvSpPr/>
          <p:nvPr/>
        </p:nvSpPr>
        <p:spPr>
          <a:xfrm>
            <a:off x="1819275" y="1786127"/>
            <a:ext cx="304800" cy="304800"/>
          </a:xfrm>
          <a:prstGeom prst="ellipse">
            <a:avLst/>
          </a:prstGeom>
          <a:solidFill>
            <a:srgbClr val="0C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tIns="12700" rIns="12700" bIns="12700"/>
          <a:lstStyle/>
          <a:p>
            <a:pPr algn="ctr"/>
            <a:r>
              <a:rPr sz="130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SDPM::execution.roadmap::period_0" title="SDPM::execution.roadmap::period_0" descr="SDPM::execution.roadmap::period_0::slot=main::frameEmu=640080,1444752,10881360,4114800::bboxEmu=640080,2350008,2663190,228600"/>
          <p:cNvSpPr txBox="1"/>
          <p:nvPr/>
        </p:nvSpPr>
        <p:spPr>
          <a:xfrm>
            <a:off x="640080" y="2350008"/>
            <a:ext cx="266319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ctr"/>
            <a:r>
              <a:rPr sz="1200">
                <a:solidFill>
                  <a:srgbClr val="00A6A6"/>
                </a:solidFill>
                <a:latin typeface="Yu Gothic UI"/>
              </a:rPr>
              <a:t>0-30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日</a:t>
            </a:r>
          </a:p>
        </p:txBody>
      </p:sp>
      <p:sp>
        <p:nvSpPr>
          <p:cNvPr id="9" name="SDPM::execution.roadmap::title_0" title="SDPM::execution.roadmap::title_0" descr="SDPM::execution.roadmap::title_0::slot=main::frameEmu=640080,1444752,10881360,4114800::bboxEmu=640080,2720340,2663190,368300"/>
          <p:cNvSpPr txBox="1"/>
          <p:nvPr/>
        </p:nvSpPr>
        <p:spPr>
          <a:xfrm>
            <a:off x="640080" y="2720340"/>
            <a:ext cx="2663190" cy="368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600">
                <a:solidFill>
                  <a:srgbClr val="123039"/>
                </a:solidFill>
                <a:latin typeface="Yu Gothic UI"/>
              </a:rPr>
              <a:t>設計</a:t>
            </a:r>
          </a:p>
        </p:txBody>
      </p:sp>
      <p:sp>
        <p:nvSpPr>
          <p:cNvPr id="10" name="SDPM::execution.roadmap::items_0" title="SDPM::execution.roadmap::items_0" descr="SDPM::execution.roadmap::items_0::slot=main::frameEmu=640080,1444752,10881360,4114800::bboxEmu=716280,3378708,2510790,1933956"/>
          <p:cNvSpPr txBox="1"/>
          <p:nvPr/>
        </p:nvSpPr>
        <p:spPr>
          <a:xfrm>
            <a:off x="716280" y="3378708"/>
            <a:ext cx="2510790" cy="193395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>
              <a:lnSpc>
                <a:spcPct val="112"/>
              </a:lnSpc>
            </a:pPr>
            <a:r>
              <a:rPr sz="1200">
                <a:solidFill>
                  <a:srgbClr val="61737B"/>
                </a:solidFill>
                <a:latin typeface="Yu Gothic UI"/>
              </a:rPr>
              <a:t>•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業務課題</a:t>
            </a:r>
          </a:p>
          <a:p>
            <a:pPr algn="l">
              <a:lnSpc>
                <a:spcPct val="112"/>
              </a:lnSpc>
            </a:pPr>
            <a:r>
              <a:rPr sz="1200">
                <a:solidFill>
                  <a:srgbClr val="61737B"/>
                </a:solidFill>
                <a:latin typeface="Yu Gothic UI"/>
              </a:rPr>
              <a:t>•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価値</a:t>
            </a:r>
            <a:r>
              <a:rPr sz="1200">
                <a:solidFill>
                  <a:srgbClr val="61737B"/>
                </a:solidFill>
                <a:latin typeface="Yu Gothic UI"/>
              </a:rPr>
              <a:t> KPI</a:t>
            </a:r>
          </a:p>
        </p:txBody>
      </p:sp>
      <p:cxnSp>
        <p:nvCxnSpPr>
          <p:cNvPr id="11" name="SDPM::execution.roadmap::arrow_1" title="SDPM::execution.roadmap::arrow_1" descr="SDPM::execution.roadmap::arrow_1::slot=main::frameEmu=640080,1444752,10881360,4114800::bboxEmu=4844224,2185416,1540955,0"/>
          <p:cNvCxnSpPr/>
          <p:nvPr/>
        </p:nvCxnSpPr>
        <p:spPr>
          <a:xfrm>
            <a:off x="4844224" y="2185416"/>
            <a:ext cx="1540955" cy="0"/>
          </a:xfrm>
          <a:prstGeom prst="line">
            <a:avLst/>
          </a:prstGeom>
          <a:ln w="38100">
            <a:solidFill>
              <a:srgbClr val="00A6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DPM::execution.roadmap::node_1" title="SDPM::execution.roadmap::node_1" descr="SDPM::execution.roadmap::node_1::slot=main::frameEmu=640080,1444752,10881360,4114800::bboxEmu=4558665,1786127,304800,304800"/>
          <p:cNvSpPr/>
          <p:nvPr/>
        </p:nvSpPr>
        <p:spPr>
          <a:xfrm>
            <a:off x="4558665" y="1786127"/>
            <a:ext cx="304800" cy="304800"/>
          </a:xfrm>
          <a:prstGeom prst="ellipse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tIns="12700" rIns="12700" bIns="12700"/>
          <a:lstStyle/>
          <a:p>
            <a:pPr algn="ctr"/>
            <a:r>
              <a:rPr sz="130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SDPM::execution.roadmap::period_1" title="SDPM::execution.roadmap::period_1" descr="SDPM::execution.roadmap::period_1::slot=main::frameEmu=640080,1444752,10881360,4114800::bboxEmu=3379470,2350008,2663190,228600"/>
          <p:cNvSpPr txBox="1"/>
          <p:nvPr/>
        </p:nvSpPr>
        <p:spPr>
          <a:xfrm>
            <a:off x="3379470" y="2350008"/>
            <a:ext cx="266319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ctr"/>
            <a:r>
              <a:rPr sz="1200">
                <a:solidFill>
                  <a:srgbClr val="00A6A6"/>
                </a:solidFill>
                <a:latin typeface="Yu Gothic UI"/>
              </a:rPr>
              <a:t>31-60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日</a:t>
            </a:r>
          </a:p>
        </p:txBody>
      </p:sp>
      <p:sp>
        <p:nvSpPr>
          <p:cNvPr id="14" name="SDPM::execution.roadmap::title_1" title="SDPM::execution.roadmap::title_1" descr="SDPM::execution.roadmap::title_1::slot=main::frameEmu=640080,1444752,10881360,4114800::bboxEmu=3379470,2720340,2663190,368300"/>
          <p:cNvSpPr txBox="1"/>
          <p:nvPr/>
        </p:nvSpPr>
        <p:spPr>
          <a:xfrm>
            <a:off x="3379470" y="2720340"/>
            <a:ext cx="2663190" cy="368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600">
                <a:solidFill>
                  <a:srgbClr val="123039"/>
                </a:solidFill>
                <a:latin typeface="Yu Gothic UI"/>
              </a:rPr>
              <a:t>実装</a:t>
            </a:r>
          </a:p>
        </p:txBody>
      </p:sp>
      <p:sp>
        <p:nvSpPr>
          <p:cNvPr id="15" name="SDPM::execution.roadmap::items_1" title="SDPM::execution.roadmap::items_1" descr="SDPM::execution.roadmap::items_1::slot=main::frameEmu=640080,1444752,10881360,4114800::bboxEmu=3455670,3378708,2510790,1933956"/>
          <p:cNvSpPr txBox="1"/>
          <p:nvPr/>
        </p:nvSpPr>
        <p:spPr>
          <a:xfrm>
            <a:off x="3455670" y="3378708"/>
            <a:ext cx="2510790" cy="193395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>
              <a:lnSpc>
                <a:spcPct val="112"/>
              </a:lnSpc>
            </a:pPr>
            <a:r>
              <a:rPr sz="1200">
                <a:solidFill>
                  <a:srgbClr val="61737B"/>
                </a:solidFill>
                <a:latin typeface="Yu Gothic UI"/>
              </a:rPr>
              <a:t>•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データ接続</a:t>
            </a:r>
          </a:p>
          <a:p>
            <a:pPr algn="l">
              <a:lnSpc>
                <a:spcPct val="112"/>
              </a:lnSpc>
            </a:pPr>
            <a:r>
              <a:rPr sz="1200">
                <a:solidFill>
                  <a:srgbClr val="61737B"/>
                </a:solidFill>
                <a:latin typeface="Yu Gothic UI"/>
              </a:rPr>
              <a:t>•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現場検証</a:t>
            </a:r>
          </a:p>
        </p:txBody>
      </p:sp>
      <p:cxnSp>
        <p:nvCxnSpPr>
          <p:cNvPr id="16" name="SDPM::execution.roadmap::arrow_2" title="SDPM::execution.roadmap::arrow_2" descr="SDPM::execution.roadmap::arrow_2::slot=main::frameEmu=640080,1444752,10881360,4114800::bboxEmu=7583614,2185416,1540955,0"/>
          <p:cNvCxnSpPr/>
          <p:nvPr/>
        </p:nvCxnSpPr>
        <p:spPr>
          <a:xfrm>
            <a:off x="7583614" y="2185416"/>
            <a:ext cx="1540955" cy="0"/>
          </a:xfrm>
          <a:prstGeom prst="line">
            <a:avLst/>
          </a:prstGeom>
          <a:ln w="38100">
            <a:solidFill>
              <a:srgbClr val="00A6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DPM::execution.roadmap::node_2" title="SDPM::execution.roadmap::node_2" descr="SDPM::execution.roadmap::node_2::slot=main::frameEmu=640080,1444752,10881360,4114800::bboxEmu=7298055,1786127,304800,304800"/>
          <p:cNvSpPr/>
          <p:nvPr/>
        </p:nvSpPr>
        <p:spPr>
          <a:xfrm>
            <a:off x="7298055" y="1786127"/>
            <a:ext cx="304800" cy="304800"/>
          </a:xfrm>
          <a:prstGeom prst="ellipse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tIns="12700" rIns="12700" bIns="12700"/>
          <a:lstStyle/>
          <a:p>
            <a:pPr algn="ctr"/>
            <a:r>
              <a:rPr sz="130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SDPM::execution.roadmap::period_2" title="SDPM::execution.roadmap::period_2" descr="SDPM::execution.roadmap::period_2::slot=main::frameEmu=640080,1444752,10881360,4114800::bboxEmu=6118860,2350008,2663190,228600"/>
          <p:cNvSpPr txBox="1"/>
          <p:nvPr/>
        </p:nvSpPr>
        <p:spPr>
          <a:xfrm>
            <a:off x="6118860" y="2350008"/>
            <a:ext cx="266319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ctr"/>
            <a:r>
              <a:rPr sz="1200">
                <a:solidFill>
                  <a:srgbClr val="00A6A6"/>
                </a:solidFill>
                <a:latin typeface="Yu Gothic UI"/>
              </a:rPr>
              <a:t>61-80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日</a:t>
            </a:r>
          </a:p>
        </p:txBody>
      </p:sp>
      <p:sp>
        <p:nvSpPr>
          <p:cNvPr id="19" name="SDPM::execution.roadmap::title_2" title="SDPM::execution.roadmap::title_2" descr="SDPM::execution.roadmap::title_2::slot=main::frameEmu=640080,1444752,10881360,4114800::bboxEmu=6118860,2720340,2663190,368300"/>
          <p:cNvSpPr txBox="1"/>
          <p:nvPr/>
        </p:nvSpPr>
        <p:spPr>
          <a:xfrm>
            <a:off x="6118860" y="2720340"/>
            <a:ext cx="2663190" cy="368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600">
                <a:solidFill>
                  <a:srgbClr val="123039"/>
                </a:solidFill>
                <a:latin typeface="Yu Gothic UI"/>
              </a:rPr>
              <a:t>定着</a:t>
            </a:r>
          </a:p>
        </p:txBody>
      </p:sp>
      <p:sp>
        <p:nvSpPr>
          <p:cNvPr id="20" name="SDPM::execution.roadmap::items_2" title="SDPM::execution.roadmap::items_2" descr="SDPM::execution.roadmap::items_2::slot=main::frameEmu=640080,1444752,10881360,4114800::bboxEmu=6195060,3378708,2510790,1933956"/>
          <p:cNvSpPr txBox="1"/>
          <p:nvPr/>
        </p:nvSpPr>
        <p:spPr>
          <a:xfrm>
            <a:off x="6195060" y="3378708"/>
            <a:ext cx="2510790" cy="193395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>
              <a:lnSpc>
                <a:spcPct val="112"/>
              </a:lnSpc>
            </a:pPr>
            <a:r>
              <a:rPr sz="1200">
                <a:solidFill>
                  <a:srgbClr val="61737B"/>
                </a:solidFill>
                <a:latin typeface="Yu Gothic UI"/>
              </a:rPr>
              <a:t>•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例外処理</a:t>
            </a:r>
          </a:p>
          <a:p>
            <a:pPr algn="l">
              <a:lnSpc>
                <a:spcPct val="112"/>
              </a:lnSpc>
            </a:pPr>
            <a:r>
              <a:rPr sz="1200">
                <a:solidFill>
                  <a:srgbClr val="61737B"/>
                </a:solidFill>
                <a:latin typeface="Yu Gothic UI"/>
              </a:rPr>
              <a:t>•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運用標準</a:t>
            </a:r>
          </a:p>
        </p:txBody>
      </p:sp>
      <p:sp>
        <p:nvSpPr>
          <p:cNvPr id="21" name="SDPM::execution.roadmap::node_3" title="SDPM::execution.roadmap::node_3" descr="SDPM::execution.roadmap::node_3::slot=main::frameEmu=640080,1444752,10881360,4114800::bboxEmu=10037445,1786127,304800,304800"/>
          <p:cNvSpPr/>
          <p:nvPr/>
        </p:nvSpPr>
        <p:spPr>
          <a:xfrm>
            <a:off x="10037445" y="1786127"/>
            <a:ext cx="304800" cy="304800"/>
          </a:xfrm>
          <a:prstGeom prst="ellipse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tIns="12700" rIns="12700" bIns="12700"/>
          <a:lstStyle/>
          <a:p>
            <a:pPr algn="ctr"/>
            <a:r>
              <a:rPr sz="130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SDPM::execution.roadmap::period_3" title="SDPM::execution.roadmap::period_3" descr="SDPM::execution.roadmap::period_3::slot=main::frameEmu=640080,1444752,10881360,4114800::bboxEmu=8858250,2350008,2663190,228600"/>
          <p:cNvSpPr txBox="1"/>
          <p:nvPr/>
        </p:nvSpPr>
        <p:spPr>
          <a:xfrm>
            <a:off x="8858250" y="2350008"/>
            <a:ext cx="266319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ctr"/>
            <a:r>
              <a:rPr sz="1200">
                <a:solidFill>
                  <a:srgbClr val="00A6A6"/>
                </a:solidFill>
                <a:latin typeface="Yu Gothic UI"/>
              </a:rPr>
              <a:t>81-90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日</a:t>
            </a:r>
          </a:p>
        </p:txBody>
      </p:sp>
      <p:sp>
        <p:nvSpPr>
          <p:cNvPr id="23" name="SDPM::execution.roadmap::title_3" title="SDPM::execution.roadmap::title_3" descr="SDPM::execution.roadmap::title_3::slot=main::frameEmu=640080,1444752,10881360,4114800::bboxEmu=8858250,2720340,2663190,368300"/>
          <p:cNvSpPr txBox="1"/>
          <p:nvPr/>
        </p:nvSpPr>
        <p:spPr>
          <a:xfrm>
            <a:off x="8858250" y="2720340"/>
            <a:ext cx="2663190" cy="368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600">
                <a:solidFill>
                  <a:srgbClr val="123039"/>
                </a:solidFill>
                <a:latin typeface="Yu Gothic UI"/>
              </a:rPr>
              <a:t>判定</a:t>
            </a:r>
          </a:p>
        </p:txBody>
      </p:sp>
      <p:sp>
        <p:nvSpPr>
          <p:cNvPr id="24" name="SDPM::execution.roadmap::items_3" title="SDPM::execution.roadmap::items_3" descr="SDPM::execution.roadmap::items_3::slot=main::frameEmu=640080,1444752,10881360,4114800::bboxEmu=8934450,3378708,2510790,1933956"/>
          <p:cNvSpPr txBox="1"/>
          <p:nvPr/>
        </p:nvSpPr>
        <p:spPr>
          <a:xfrm>
            <a:off x="8934450" y="3378708"/>
            <a:ext cx="2510790" cy="193395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>
              <a:lnSpc>
                <a:spcPct val="112"/>
              </a:lnSpc>
            </a:pPr>
            <a:r>
              <a:rPr sz="1200">
                <a:solidFill>
                  <a:srgbClr val="61737B"/>
                </a:solidFill>
                <a:latin typeface="Yu Gothic UI"/>
              </a:rPr>
              <a:t>•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効果測定</a:t>
            </a:r>
          </a:p>
          <a:p>
            <a:pPr algn="l">
              <a:lnSpc>
                <a:spcPct val="112"/>
              </a:lnSpc>
            </a:pPr>
            <a:r>
              <a:rPr sz="1200">
                <a:solidFill>
                  <a:srgbClr val="61737B"/>
                </a:solidFill>
                <a:latin typeface="Yu Gothic UI"/>
              </a:rPr>
              <a:t>•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拡大判断</a:t>
            </a:r>
          </a:p>
        </p:txBody>
      </p:sp>
      <p:sp>
        <p:nvSpPr>
          <p:cNvPr id="25" name="SDPM::evidence_footer.compact::footer" title="SDPM::evidence_footer.compact::footer" descr="SDPM::evidence_footer.compact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61737B"/>
                </a:solidFill>
                <a:latin typeface="Yu Gothic UI"/>
              </a:rPr>
              <a:t>出典：</a:t>
            </a:r>
            <a:r>
              <a:rPr sz="1200">
                <a:solidFill>
                  <a:srgbClr val="61737B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decision::header" title="SDPM::headline.decision::header" descr="SDPM::headline.decision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100">
                <a:solidFill>
                  <a:srgbClr val="0C2742"/>
                </a:solidFill>
                <a:latin typeface="Yu Gothic UI"/>
              </a:rPr>
              <a:t>価値・実装・リスクを同じ会議体で判断する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action.owner_due::action" title="SDPM::action.owner_due::action" descr="SDPM::action.owner_due::action::slot=action::frameEmu=8796528,1828800,2542032,2834640::bboxEmu=8796528,1828800,2542032,139700"/>
          <p:cNvSpPr txBox="1"/>
          <p:nvPr/>
        </p:nvSpPr>
        <p:spPr>
          <a:xfrm>
            <a:off x="8796528" y="1828800"/>
            <a:ext cx="2542032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ACTION</a:t>
            </a:r>
          </a:p>
        </p:txBody>
      </p:sp>
      <p:sp>
        <p:nvSpPr>
          <p:cNvPr id="6" name="SDPM::execution.governance::level_0" title="SDPM::execution.governance::level_0" descr="SDPM::execution.governance::level_0::slot=main::frameEmu=685800,1444752,7818120,4553712::bboxEmu=2014855,1444752,5159946,1441704"/>
          <p:cNvSpPr/>
          <p:nvPr/>
        </p:nvSpPr>
        <p:spPr>
          <a:xfrm>
            <a:off x="2014855" y="1444752"/>
            <a:ext cx="5159946" cy="1441704"/>
          </a:xfrm>
          <a:prstGeom prst="roundRect">
            <a:avLst/>
          </a:prstGeom>
          <a:solidFill>
            <a:srgbClr val="0C2742"/>
          </a:solidFill>
          <a:ln>
            <a:noFill/>
          </a:ln>
          <a:effectLst>
            <a:outerShdw blurRad="50800" dist="19050" dir="8100000" algn="bl" rotWithShape="0">
              <a:srgbClr val="0E343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tIns="114300" rIns="114300" bIns="114300"/>
          <a:lstStyle/>
          <a:p>
            <a:pPr algn="ctr"/>
            <a:r>
              <a:rPr sz="1700">
                <a:solidFill>
                  <a:srgbClr val="FFFFFF"/>
                </a:solidFill>
                <a:latin typeface="Aptos"/>
              </a:rPr>
              <a:t>Steering Committee</a:t>
            </a:r>
          </a:p>
        </p:txBody>
      </p:sp>
      <p:sp>
        <p:nvSpPr>
          <p:cNvPr id="7" name="SDPM::execution.governance::detail_0" title="SDPM::execution.governance::detail_0" descr="SDPM::execution.governance::detail_0::slot=main::frameEmu=685800,1444752,7818120,4553712::bboxEmu=4852860,1444752,2167191,1441704"/>
          <p:cNvSpPr txBox="1"/>
          <p:nvPr/>
        </p:nvSpPr>
        <p:spPr>
          <a:xfrm>
            <a:off x="4852860" y="1444752"/>
            <a:ext cx="2167191" cy="144170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lang="ja-JP" sz="1200">
                <a:solidFill>
                  <a:srgbClr val="FFFFFF"/>
                </a:solidFill>
                <a:latin typeface="Yu Gothic UI"/>
              </a:rPr>
              <a:t>隔週・投資判断</a:t>
            </a:r>
          </a:p>
        </p:txBody>
      </p:sp>
      <p:cxnSp>
        <p:nvCxnSpPr>
          <p:cNvPr id="8" name="SDPM::execution.governance::link_0" title="SDPM::execution.governance::link_0" descr="SDPM::execution.governance::link_0::slot=main::frameEmu=685800,1444752,7818120,4553712::bboxEmu=4594860,2886456,0,114300"/>
          <p:cNvCxnSpPr/>
          <p:nvPr/>
        </p:nvCxnSpPr>
        <p:spPr>
          <a:xfrm>
            <a:off x="4594860" y="2886456"/>
            <a:ext cx="0" cy="114300"/>
          </a:xfrm>
          <a:prstGeom prst="line">
            <a:avLst/>
          </a:prstGeom>
          <a:ln w="25400">
            <a:solidFill>
              <a:srgbClr val="00A6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DPM::execution.governance::level_1" title="SDPM::execution.governance::level_1" descr="SDPM::execution.governance::level_1::slot=main::frameEmu=685800,1444752,7818120,4553712::bboxEmu=1623949,3000756,5941758,1441704"/>
          <p:cNvSpPr/>
          <p:nvPr/>
        </p:nvSpPr>
        <p:spPr>
          <a:xfrm>
            <a:off x="1623949" y="3000756"/>
            <a:ext cx="5941758" cy="1441704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tIns="114300" rIns="114300" bIns="114300"/>
          <a:lstStyle/>
          <a:p>
            <a:pPr algn="ctr"/>
            <a:r>
              <a:rPr sz="1700">
                <a:solidFill>
                  <a:srgbClr val="FFFFFF"/>
                </a:solidFill>
                <a:latin typeface="Aptos"/>
              </a:rPr>
              <a:t>Value Office</a:t>
            </a:r>
          </a:p>
        </p:txBody>
      </p:sp>
      <p:sp>
        <p:nvSpPr>
          <p:cNvPr id="10" name="SDPM::execution.governance::detail_1" title="SDPM::execution.governance::detail_1" descr="SDPM::execution.governance::detail_1::slot=main::frameEmu=685800,1444752,7818120,4553712::bboxEmu=4891976,3000756,2495550,1441704"/>
          <p:cNvSpPr txBox="1"/>
          <p:nvPr/>
        </p:nvSpPr>
        <p:spPr>
          <a:xfrm>
            <a:off x="4891976" y="3000756"/>
            <a:ext cx="2495550" cy="144170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lang="ja-JP" sz="1200">
                <a:solidFill>
                  <a:srgbClr val="FFFFFF"/>
                </a:solidFill>
                <a:latin typeface="Yu Gothic UI"/>
              </a:rPr>
              <a:t>週次・価値</a:t>
            </a:r>
            <a:r>
              <a:rPr sz="1200">
                <a:solidFill>
                  <a:srgbClr val="FFFFFF"/>
                </a:solidFill>
                <a:latin typeface="Yu Gothic UI"/>
              </a:rPr>
              <a:t> /KPI</a:t>
            </a:r>
          </a:p>
        </p:txBody>
      </p:sp>
      <p:cxnSp>
        <p:nvCxnSpPr>
          <p:cNvPr id="11" name="SDPM::execution.governance::link_1" title="SDPM::execution.governance::link_1" descr="SDPM::execution.governance::link_1::slot=main::frameEmu=685800,1444752,7818120,4553712::bboxEmu=4594860,4442460,0,114300"/>
          <p:cNvCxnSpPr/>
          <p:nvPr/>
        </p:nvCxnSpPr>
        <p:spPr>
          <a:xfrm>
            <a:off x="4594860" y="4442460"/>
            <a:ext cx="0" cy="114300"/>
          </a:xfrm>
          <a:prstGeom prst="line">
            <a:avLst/>
          </a:prstGeom>
          <a:ln w="25400">
            <a:solidFill>
              <a:srgbClr val="00A6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DPM::execution.governance::level_2" title="SDPM::execution.governance::level_2" descr="SDPM::execution.governance::level_2::slot=main::frameEmu=685800,1444752,7818120,4553712::bboxEmu=1233043,4556760,6723570,1441704"/>
          <p:cNvSpPr/>
          <p:nvPr/>
        </p:nvSpPr>
        <p:spPr>
          <a:xfrm>
            <a:off x="1233043" y="4556760"/>
            <a:ext cx="6723570" cy="14417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tIns="114300" rIns="114300" bIns="114300"/>
          <a:lstStyle/>
          <a:p>
            <a:pPr algn="ctr"/>
            <a:r>
              <a:rPr sz="1700">
                <a:solidFill>
                  <a:srgbClr val="123039"/>
                </a:solidFill>
                <a:latin typeface="Aptos"/>
              </a:rPr>
              <a:t>Delivery Teams</a:t>
            </a:r>
          </a:p>
        </p:txBody>
      </p:sp>
      <p:sp>
        <p:nvSpPr>
          <p:cNvPr id="13" name="SDPM::execution.governance::detail_2" title="SDPM::execution.governance::detail_2" descr="SDPM::execution.governance::detail_2::slot=main::frameEmu=685800,1444752,7818120,4553712::bboxEmu=4931029,4556760,2823908,1441704"/>
          <p:cNvSpPr txBox="1"/>
          <p:nvPr/>
        </p:nvSpPr>
        <p:spPr>
          <a:xfrm>
            <a:off x="4931029" y="4556760"/>
            <a:ext cx="2823908" cy="144170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lang="ja-JP" sz="1200">
                <a:solidFill>
                  <a:srgbClr val="61737B"/>
                </a:solidFill>
                <a:latin typeface="Yu Gothic UI"/>
              </a:rPr>
              <a:t>日次・実装</a:t>
            </a:r>
            <a:r>
              <a:rPr sz="1200">
                <a:solidFill>
                  <a:srgbClr val="61737B"/>
                </a:solidFill>
                <a:latin typeface="Yu Gothic UI"/>
              </a:rPr>
              <a:t> /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運用</a:t>
            </a:r>
          </a:p>
        </p:txBody>
      </p:sp>
      <p:sp>
        <p:nvSpPr>
          <p:cNvPr id="14" name="SDPM::evidence_footer.compact::footer" title="SDPM::evidence_footer.compact::footer" descr="SDPM::evidence_footer.compact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61737B"/>
                </a:solidFill>
                <a:latin typeface="Yu Gothic UI"/>
              </a:rPr>
              <a:t>出典：</a:t>
            </a:r>
            <a:r>
              <a:rPr sz="1200">
                <a:solidFill>
                  <a:srgbClr val="61737B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decision::header" title="SDPM::headline.decision::header" descr="SDPM::headline.decision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100">
                <a:solidFill>
                  <a:srgbClr val="0C2742"/>
                </a:solidFill>
                <a:latin typeface="Yu Gothic UI"/>
              </a:rPr>
              <a:t>本日は、対象業務・責任者・価値</a:t>
            </a:r>
            <a:r>
              <a:rPr sz="3100">
                <a:solidFill>
                  <a:srgbClr val="0C2742"/>
                </a:solidFill>
                <a:latin typeface="Yu Gothic UI"/>
              </a:rPr>
              <a:t> KPI </a:t>
            </a:r>
            <a:r>
              <a:rPr lang="ja-JP" sz="3100">
                <a:solidFill>
                  <a:srgbClr val="0C2742"/>
                </a:solidFill>
                <a:latin typeface="Yu Gothic UI"/>
              </a:rPr>
              <a:t>を決める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action.owner_due::action" title="SDPM::action.owner_due::action" descr="SDPM::action.owner_due::action::slot=action::frameEmu=8339328,1783080,2999232,3200400::bboxEmu=8339328,1783080,2999232,139700"/>
          <p:cNvSpPr txBox="1"/>
          <p:nvPr/>
        </p:nvSpPr>
        <p:spPr>
          <a:xfrm>
            <a:off x="8339328" y="1783080"/>
            <a:ext cx="2999232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ACTION</a:t>
            </a:r>
          </a:p>
        </p:txBody>
      </p:sp>
      <p:sp>
        <p:nvSpPr>
          <p:cNvPr id="6" name="SDPM::narrative.recommendation_actions::recommendation_bg" title="SDPM::narrative.recommendation_actions::recommendation_bg" descr="SDPM::narrative.recommendation_actions::recommendation_bg::slot=main::frameEmu=594360,1444752,7452360,4553712::bboxEmu=594360,1444752,4486592,4553712"/>
          <p:cNvSpPr/>
          <p:nvPr/>
        </p:nvSpPr>
        <p:spPr>
          <a:xfrm>
            <a:off x="594360" y="1444752"/>
            <a:ext cx="4486592" cy="4553712"/>
          </a:xfrm>
          <a:prstGeom prst="roundRect">
            <a:avLst/>
          </a:prstGeom>
          <a:solidFill>
            <a:srgbClr val="0C2742"/>
          </a:solidFill>
          <a:ln>
            <a:noFill/>
          </a:ln>
          <a:effectLst>
            <a:outerShdw blurRad="101600" dist="44450" dir="8100000" algn="bl" rotWithShape="0">
              <a:srgbClr val="061C2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DPM::narrative.recommendation_actions::label" title="SDPM::narrative.recommendation_actions::label" descr="SDPM::narrative.recommendation_actions::label::slot=main::frameEmu=594360,1444752,7452360,4553712::bboxEmu=810260,1622552,4054792,177800"/>
          <p:cNvSpPr txBox="1"/>
          <p:nvPr/>
        </p:nvSpPr>
        <p:spPr>
          <a:xfrm>
            <a:off x="810260" y="1622552"/>
            <a:ext cx="4054792" cy="1778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RECOMMENDATION</a:t>
            </a:r>
          </a:p>
        </p:txBody>
      </p:sp>
      <p:sp>
        <p:nvSpPr>
          <p:cNvPr id="8" name="SDPM::narrative.recommendation_actions::recommendation" title="SDPM::narrative.recommendation_actions::recommendation" descr="SDPM::narrative.recommendation_actions::recommendation::slot=main::frameEmu=594360,1444752,7452360,4553712::bboxEmu=810260,1889252,4054792,3639312"/>
          <p:cNvSpPr txBox="1"/>
          <p:nvPr/>
        </p:nvSpPr>
        <p:spPr>
          <a:xfrm>
            <a:off x="810260" y="1889252"/>
            <a:ext cx="4054792" cy="363931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000">
                <a:solidFill>
                  <a:srgbClr val="FFFFFF"/>
                </a:solidFill>
                <a:latin typeface="Yu Gothic UI"/>
              </a:rPr>
              <a:t>対象業務を一つに絞り、業務責任者と価値</a:t>
            </a:r>
            <a:r>
              <a:rPr sz="3000">
                <a:solidFill>
                  <a:srgbClr val="FFFFFF"/>
                </a:solidFill>
                <a:latin typeface="Yu Gothic UI"/>
              </a:rPr>
              <a:t> KPI </a:t>
            </a:r>
            <a:r>
              <a:rPr lang="ja-JP" sz="3000">
                <a:solidFill>
                  <a:srgbClr val="FFFFFF"/>
                </a:solidFill>
                <a:latin typeface="Yu Gothic UI"/>
              </a:rPr>
              <a:t>を置いて</a:t>
            </a:r>
            <a:r>
              <a:rPr sz="3000">
                <a:solidFill>
                  <a:srgbClr val="FFFFFF"/>
                </a:solidFill>
                <a:latin typeface="Yu Gothic UI"/>
              </a:rPr>
              <a:t> 90 </a:t>
            </a:r>
            <a:r>
              <a:rPr lang="ja-JP" sz="3000">
                <a:solidFill>
                  <a:srgbClr val="FFFFFF"/>
                </a:solidFill>
                <a:latin typeface="Yu Gothic UI"/>
              </a:rPr>
              <a:t>日</a:t>
            </a:r>
            <a:r>
              <a:rPr sz="3000">
                <a:solidFill>
                  <a:srgbClr val="FFFFFF"/>
                </a:solidFill>
                <a:latin typeface="Yu Gothic UI"/>
              </a:rPr>
              <a:t> PoC </a:t>
            </a:r>
            <a:r>
              <a:rPr lang="ja-JP" sz="3000">
                <a:solidFill>
                  <a:srgbClr val="FFFFFF"/>
                </a:solidFill>
                <a:latin typeface="Yu Gothic UI"/>
              </a:rPr>
              <a:t>を開始する</a:t>
            </a:r>
          </a:p>
        </p:txBody>
      </p:sp>
      <p:sp>
        <p:nvSpPr>
          <p:cNvPr id="9" name="SDPM::narrative.recommendation_actions::decision" title="SDPM::narrative.recommendation_actions::decision" descr="SDPM::narrative.recommendation_actions::decision::slot=main::frameEmu=594360,1444752,7452360,4553712::bboxEmu=810260,5604764,4054792,177800"/>
          <p:cNvSpPr txBox="1"/>
          <p:nvPr/>
        </p:nvSpPr>
        <p:spPr>
          <a:xfrm>
            <a:off x="810260" y="5604764"/>
            <a:ext cx="4054792" cy="1778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200">
                <a:solidFill>
                  <a:srgbClr val="00A6A6"/>
                </a:solidFill>
                <a:latin typeface="Yu Gothic UI"/>
              </a:rPr>
              <a:t>本日の判断：</a:t>
            </a:r>
            <a:r>
              <a:rPr sz="1200">
                <a:solidFill>
                  <a:srgbClr val="00A6A6"/>
                </a:solidFill>
                <a:latin typeface="Yu Gothic UI"/>
              </a:rPr>
              <a:t> 90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日</a:t>
            </a:r>
            <a:r>
              <a:rPr sz="1200">
                <a:solidFill>
                  <a:srgbClr val="00A6A6"/>
                </a:solidFill>
                <a:latin typeface="Yu Gothic UI"/>
              </a:rPr>
              <a:t> PoC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を開始するか</a:t>
            </a:r>
          </a:p>
        </p:txBody>
      </p:sp>
      <p:sp>
        <p:nvSpPr>
          <p:cNvPr id="10" name="SDPM::narrative.recommendation_actions::index_0" title="SDPM::narrative.recommendation_actions::index_0" descr="SDPM::narrative.recommendation_actions::index_0::slot=main::frameEmu=594360,1444752,7452360,4553712::bboxEmu=5296852,2057654,241300,241300"/>
          <p:cNvSpPr/>
          <p:nvPr/>
        </p:nvSpPr>
        <p:spPr>
          <a:xfrm>
            <a:off x="5296852" y="2057654"/>
            <a:ext cx="241300" cy="24130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tIns="12700" rIns="12700" bIns="127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SDPM::narrative.recommendation_actions::action_0" title="SDPM::narrative.recommendation_actions::action_0" descr="SDPM::narrative.recommendation_actions::action_0::slot=main::frameEmu=594360,1444752,7452360,4553712::bboxEmu=5639752,1444752,2381567,1467104"/>
          <p:cNvSpPr txBox="1"/>
          <p:nvPr/>
        </p:nvSpPr>
        <p:spPr>
          <a:xfrm>
            <a:off x="5639752" y="1444752"/>
            <a:ext cx="2381567" cy="146710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600">
                <a:solidFill>
                  <a:srgbClr val="123039"/>
                </a:solidFill>
                <a:latin typeface="Yu Gothic UI"/>
              </a:rPr>
              <a:t>対象業務と顧客価値を確定</a:t>
            </a:r>
          </a:p>
        </p:txBody>
      </p:sp>
      <p:cxnSp>
        <p:nvCxnSpPr>
          <p:cNvPr id="12" name="SDPM::narrative.recommendation_actions::divider_0" title="SDPM::narrative.recommendation_actions::divider_0" descr="SDPM::narrative.recommendation_actions::divider_0::slot=main::frameEmu=594360,1444752,7452360,4553712::bboxEmu=5639752,2911856,2406968,0"/>
          <p:cNvCxnSpPr/>
          <p:nvPr/>
        </p:nvCxnSpPr>
        <p:spPr>
          <a:xfrm>
            <a:off x="5639752" y="2911856"/>
            <a:ext cx="2406968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DPM::narrative.recommendation_actions::index_1" title="SDPM::narrative.recommendation_actions::index_1" descr="SDPM::narrative.recommendation_actions::index_1::slot=main::frameEmu=594360,1444752,7452360,4553712::bboxEmu=5296852,3600958,241300,241300"/>
          <p:cNvSpPr/>
          <p:nvPr/>
        </p:nvSpPr>
        <p:spPr>
          <a:xfrm>
            <a:off x="5296852" y="3600958"/>
            <a:ext cx="241300" cy="241300"/>
          </a:xfrm>
          <a:prstGeom prst="ellipse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tIns="12700" rIns="12700" bIns="127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SDPM::narrative.recommendation_actions::action_1" title="SDPM::narrative.recommendation_actions::action_1" descr="SDPM::narrative.recommendation_actions::action_1::slot=main::frameEmu=594360,1444752,7452360,4553712::bboxEmu=5639752,2988056,2381567,1467104"/>
          <p:cNvSpPr txBox="1"/>
          <p:nvPr/>
        </p:nvSpPr>
        <p:spPr>
          <a:xfrm>
            <a:off x="5639752" y="2988056"/>
            <a:ext cx="2381567" cy="146710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600">
                <a:solidFill>
                  <a:srgbClr val="123039"/>
                </a:solidFill>
                <a:latin typeface="Yu Gothic UI"/>
              </a:rPr>
              <a:t>責任者と横断チームを任命</a:t>
            </a:r>
          </a:p>
        </p:txBody>
      </p:sp>
      <p:cxnSp>
        <p:nvCxnSpPr>
          <p:cNvPr id="15" name="SDPM::narrative.recommendation_actions::divider_1" title="SDPM::narrative.recommendation_actions::divider_1" descr="SDPM::narrative.recommendation_actions::divider_1::slot=main::frameEmu=594360,1444752,7452360,4553712::bboxEmu=5639752,4455160,2406968,0"/>
          <p:cNvCxnSpPr/>
          <p:nvPr/>
        </p:nvCxnSpPr>
        <p:spPr>
          <a:xfrm>
            <a:off x="5639752" y="4455160"/>
            <a:ext cx="2406968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DPM::narrative.recommendation_actions::index_2" title="SDPM::narrative.recommendation_actions::index_2" descr="SDPM::narrative.recommendation_actions::index_2::slot=main::frameEmu=594360,1444752,7452360,4553712::bboxEmu=5296852,5144262,241300,241300"/>
          <p:cNvSpPr/>
          <p:nvPr/>
        </p:nvSpPr>
        <p:spPr>
          <a:xfrm>
            <a:off x="5296852" y="5144262"/>
            <a:ext cx="241300" cy="241300"/>
          </a:xfrm>
          <a:prstGeom prst="ellipse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tIns="12700" rIns="12700" bIns="127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SDPM::narrative.recommendation_actions::action_2" title="SDPM::narrative.recommendation_actions::action_2" descr="SDPM::narrative.recommendation_actions::action_2::slot=main::frameEmu=594360,1444752,7452360,4553712::bboxEmu=5639752,4531360,2381567,1467104"/>
          <p:cNvSpPr txBox="1"/>
          <p:nvPr/>
        </p:nvSpPr>
        <p:spPr>
          <a:xfrm>
            <a:off x="5639752" y="4531360"/>
            <a:ext cx="2381567" cy="146710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600">
                <a:solidFill>
                  <a:srgbClr val="123039"/>
                </a:solidFill>
                <a:latin typeface="Yu Gothic UI"/>
              </a:rPr>
              <a:t>90 </a:t>
            </a:r>
            <a:r>
              <a:rPr lang="ja-JP" sz="1600">
                <a:solidFill>
                  <a:srgbClr val="123039"/>
                </a:solidFill>
                <a:latin typeface="Yu Gothic UI"/>
              </a:rPr>
              <a:t>日後の拡大条件を合意</a:t>
            </a:r>
          </a:p>
        </p:txBody>
      </p:sp>
      <p:sp>
        <p:nvSpPr>
          <p:cNvPr id="18" name="SDPM::evidence_footer.compact::footer" title="SDPM::evidence_footer.compact::footer" descr="SDPM::evidence_footer.compact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61737B"/>
                </a:solidFill>
                <a:latin typeface="Yu Gothic UI"/>
              </a:rPr>
              <a:t>出典：</a:t>
            </a:r>
            <a:r>
              <a:rPr sz="1200">
                <a:solidFill>
                  <a:srgbClr val="61737B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ワイド画面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KATAOKA, SHOTARO</cp:lastModifiedBy>
  <cp:revision>6</cp:revision>
  <dcterms:created xsi:type="dcterms:W3CDTF">2013-01-27T09:14:16Z</dcterms:created>
  <dcterms:modified xsi:type="dcterms:W3CDTF">2026-04-21T05:50:21Z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2026-04-02T00:00:20Z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42facba5-c5c9-4d6e-8ed4-5f06d4297f5d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