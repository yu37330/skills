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価値創出には、顧客・業務・実行基盤を一体で変えるを説明する。数値は統合検証用デモ。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導入量より、価値へ接続したユースケースが不足しているを説明する。数値は統合検証用デモ。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部分最適・曖昧な</a:t>
            </a:r>
            <a:r>
              <a:rPr>
                <a:solidFill>
                  <a:srgbClr val="102A3A"/>
                </a:solidFill>
                <a:latin typeface="Aptos"/>
              </a:rPr>
              <a:t> KPI </a:t>
            </a:r>
            <a:r>
              <a:rPr lang="ja-JP">
                <a:solidFill>
                  <a:srgbClr val="102A3A"/>
                </a:solidFill>
                <a:latin typeface="Yu Gothic UI"/>
              </a:rPr>
              <a:t>・分断運営が価値化を止めるを説明する。数値は統合検証用デモ。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最初の</a:t>
            </a:r>
            <a:r>
              <a:rPr>
                <a:solidFill>
                  <a:srgbClr val="102A3A"/>
                </a:solidFill>
                <a:latin typeface="Aptos"/>
              </a:rPr>
              <a:t> 90 </a:t>
            </a:r>
            <a:r>
              <a:rPr lang="ja-JP">
                <a:solidFill>
                  <a:srgbClr val="102A3A"/>
                </a:solidFill>
                <a:latin typeface="Yu Gothic UI"/>
              </a:rPr>
              <a:t>日は、価値が高く実装可能な領域へ集中するを説明する。数値は統合検証用デモ。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不足はモデルではなく、価値設計と運用能力に集中するを説明する。数値は統合検証用デモ。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102A3A"/>
                </a:solidFill>
                <a:latin typeface="Aptos"/>
              </a:rPr>
              <a:t>90 </a:t>
            </a:r>
            <a:r>
              <a:rPr lang="ja-JP">
                <a:solidFill>
                  <a:srgbClr val="102A3A"/>
                </a:solidFill>
                <a:latin typeface="Yu Gothic UI"/>
              </a:rPr>
              <a:t>日で設計・実装・判定までを一巡させるを説明する。数値は統合検証用デモ。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価値・実装・リスクを同じ会議体で判断するを説明する。数値は統合検証用デモ。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02A3A"/>
                </a:solidFill>
                <a:latin typeface="Yu Gothic UI"/>
              </a:rPr>
              <a:t>本日は、対象業務・責任者・価値</a:t>
            </a:r>
            <a:r>
              <a:rPr>
                <a:solidFill>
                  <a:srgbClr val="102A3A"/>
                </a:solidFill>
                <a:latin typeface="Aptos"/>
              </a:rPr>
              <a:t> KPI </a:t>
            </a:r>
            <a:r>
              <a:rPr lang="ja-JP">
                <a:solidFill>
                  <a:srgbClr val="102A3A"/>
                </a:solidFill>
                <a:latin typeface="Yu Gothic UI"/>
              </a:rPr>
              <a:t>を決めるを説明する。数値は統合検証用デモ。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37930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価値創出には、顧客・業務・実行基盤を一体で変える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executive_summary::header_bg" title="SDPM::narrative.executive_summary::header_bg" descr="SDPM::narrative.executive_summary::header_bg::slot=main::frameEmu=594360,1444752,10972800,4553712::bboxEmu=594360,1444752,10972800,819658"/>
          <p:cNvSpPr/>
          <p:nvPr/>
        </p:nvSpPr>
        <p:spPr>
          <a:xfrm>
            <a:off x="594360" y="1444752"/>
            <a:ext cx="10972800" cy="819658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DPM::narrative.executive_summary::headline" title="SDPM::narrative.executive_summary::headline" descr="SDPM::narrative.executive_summary::headline::slot=main::frameEmu=594360,1444752,10972800,4553712::bboxEmu=759460,1520952,10642600,667258"/>
          <p:cNvSpPr txBox="1"/>
          <p:nvPr/>
        </p:nvSpPr>
        <p:spPr>
          <a:xfrm>
            <a:off x="759460" y="1520952"/>
            <a:ext cx="10642600" cy="6672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000">
                <a:solidFill>
                  <a:srgbClr val="FFFFFF"/>
                </a:solidFill>
                <a:latin typeface="Yu Gothic UI"/>
              </a:rPr>
              <a:t>顧客価値・業務設計・実行基盤を同時に変える</a:t>
            </a:r>
          </a:p>
        </p:txBody>
      </p:sp>
      <p:sp>
        <p:nvSpPr>
          <p:cNvPr id="7" name="SDPM::narrative.executive_summary::index_0" title="SDPM::narrative.executive_summary::index_0" descr="SDPM::narrative.executive_summary::index_0::slot=main::frameEmu=594360,1444752,10972800,4553712::bboxEmu=594360,2378710,862584,881126"/>
          <p:cNvSpPr txBox="1"/>
          <p:nvPr/>
        </p:nvSpPr>
        <p:spPr>
          <a:xfrm>
            <a:off x="594360" y="2378710"/>
            <a:ext cx="86258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S01</a:t>
            </a:r>
          </a:p>
        </p:txBody>
      </p:sp>
      <p:sp>
        <p:nvSpPr>
          <p:cNvPr id="8" name="SDPM::narrative.executive_summary::signal_0" title="SDPM::narrative.executive_summary::signal_0" descr="SDPM::narrative.executive_summary::signal_0::slot=main::frameEmu=594360,1444752,10972800,4553712::bboxEmu=1571244,2678303,976630,281940"/>
          <p:cNvSpPr/>
          <p:nvPr/>
        </p:nvSpPr>
        <p:spPr>
          <a:xfrm>
            <a:off x="1571244" y="2678303"/>
            <a:ext cx="976630" cy="281940"/>
          </a:xfrm>
          <a:prstGeom prst="round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DPM::narrative.executive_summary::title_0" title="SDPM::narrative.executive_summary::title_0" descr="SDPM::narrative.executive_summary::title_0::slot=main::frameEmu=594360,1444752,10972800,4553712::bboxEmu=2662174,2378710,3665982,881126"/>
          <p:cNvSpPr txBox="1"/>
          <p:nvPr/>
        </p:nvSpPr>
        <p:spPr>
          <a:xfrm>
            <a:off x="2662174" y="2378710"/>
            <a:ext cx="3665982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02A3A"/>
                </a:solidFill>
                <a:latin typeface="Yu Gothic UI"/>
              </a:rPr>
              <a:t>顧客を選ぶ</a:t>
            </a:r>
          </a:p>
        </p:txBody>
      </p:sp>
      <p:sp>
        <p:nvSpPr>
          <p:cNvPr id="10" name="SDPM::narrative.executive_summary::body_0" title="SDPM::narrative.executive_summary::body_0" descr="SDPM::narrative.executive_summary::body_0::slot=main::frameEmu=594360,1444752,10972800,4553712::bboxEmu=6391656,2378710,5175504,881126"/>
          <p:cNvSpPr txBox="1"/>
          <p:nvPr/>
        </p:nvSpPr>
        <p:spPr>
          <a:xfrm>
            <a:off x="6391656" y="2378710"/>
            <a:ext cx="517550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成果が明確な重点顧客に集中</a:t>
            </a:r>
          </a:p>
        </p:txBody>
      </p:sp>
      <p:cxnSp>
        <p:nvCxnSpPr>
          <p:cNvPr id="11" name="SDPM::narrative.executive_summary::row_rule_0" title="SDPM::narrative.executive_summary::row_rule_0" descr="SDPM::narrative.executive_summary::row_rule_0::slot=main::frameEmu=594360,1444752,10972800,4553712::bboxEmu=594360,3259836,10972800,0"/>
          <p:cNvCxnSpPr/>
          <p:nvPr/>
        </p:nvCxnSpPr>
        <p:spPr>
          <a:xfrm>
            <a:off x="594360" y="3259836"/>
            <a:ext cx="109728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narrative.executive_summary::index_1" title="SDPM::narrative.executive_summary::index_1" descr="SDPM::narrative.executive_summary::index_1::slot=main::frameEmu=594360,1444752,10972800,4553712::bboxEmu=594360,3291586,862584,881126"/>
          <p:cNvSpPr txBox="1"/>
          <p:nvPr/>
        </p:nvSpPr>
        <p:spPr>
          <a:xfrm>
            <a:off x="594360" y="3291586"/>
            <a:ext cx="86258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S02</a:t>
            </a:r>
          </a:p>
        </p:txBody>
      </p:sp>
      <p:sp>
        <p:nvSpPr>
          <p:cNvPr id="13" name="SDPM::narrative.executive_summary::signal_1" title="SDPM::narrative.executive_summary::signal_1" descr="SDPM::narrative.executive_summary::signal_1::slot=main::frameEmu=594360,1444752,10972800,4553712::bboxEmu=1571244,3591179,976630,281940"/>
          <p:cNvSpPr/>
          <p:nvPr/>
        </p:nvSpPr>
        <p:spPr>
          <a:xfrm>
            <a:off x="1571244" y="3591179"/>
            <a:ext cx="976630" cy="28194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narrative.executive_summary::title_1" title="SDPM::narrative.executive_summary::title_1" descr="SDPM::narrative.executive_summary::title_1::slot=main::frameEmu=594360,1444752,10972800,4553712::bboxEmu=2662174,3291586,3665982,881126"/>
          <p:cNvSpPr txBox="1"/>
          <p:nvPr/>
        </p:nvSpPr>
        <p:spPr>
          <a:xfrm>
            <a:off x="2662174" y="3291586"/>
            <a:ext cx="3665982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02A3A"/>
                </a:solidFill>
                <a:latin typeface="Yu Gothic UI"/>
              </a:rPr>
              <a:t>業務を変える</a:t>
            </a:r>
          </a:p>
        </p:txBody>
      </p:sp>
      <p:sp>
        <p:nvSpPr>
          <p:cNvPr id="15" name="SDPM::narrative.executive_summary::body_1" title="SDPM::narrative.executive_summary::body_1" descr="SDPM::narrative.executive_summary::body_1::slot=main::frameEmu=594360,1444752,10972800,4553712::bboxEmu=6391656,3291586,5175504,881126"/>
          <p:cNvSpPr txBox="1"/>
          <p:nvPr/>
        </p:nvSpPr>
        <p:spPr>
          <a:xfrm>
            <a:off x="6391656" y="3291586"/>
            <a:ext cx="517550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個人利用からプロセス実装へ</a:t>
            </a:r>
          </a:p>
        </p:txBody>
      </p:sp>
      <p:cxnSp>
        <p:nvCxnSpPr>
          <p:cNvPr id="16" name="SDPM::narrative.executive_summary::row_rule_1" title="SDPM::narrative.executive_summary::row_rule_1" descr="SDPM::narrative.executive_summary::row_rule_1::slot=main::frameEmu=594360,1444752,10972800,4553712::bboxEmu=594360,4172712,10972800,0"/>
          <p:cNvCxnSpPr/>
          <p:nvPr/>
        </p:nvCxnSpPr>
        <p:spPr>
          <a:xfrm>
            <a:off x="594360" y="4172712"/>
            <a:ext cx="109728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narrative.executive_summary::index_2" title="SDPM::narrative.executive_summary::index_2" descr="SDPM::narrative.executive_summary::index_2::slot=main::frameEmu=594360,1444752,10972800,4553712::bboxEmu=594360,4204462,862584,881126"/>
          <p:cNvSpPr txBox="1"/>
          <p:nvPr/>
        </p:nvSpPr>
        <p:spPr>
          <a:xfrm>
            <a:off x="594360" y="4204462"/>
            <a:ext cx="86258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S03</a:t>
            </a:r>
          </a:p>
        </p:txBody>
      </p:sp>
      <p:sp>
        <p:nvSpPr>
          <p:cNvPr id="18" name="SDPM::narrative.executive_summary::signal_2" title="SDPM::narrative.executive_summary::signal_2" descr="SDPM::narrative.executive_summary::signal_2::slot=main::frameEmu=594360,1444752,10972800,4553712::bboxEmu=1571244,4504055,976630,281940"/>
          <p:cNvSpPr/>
          <p:nvPr/>
        </p:nvSpPr>
        <p:spPr>
          <a:xfrm>
            <a:off x="1571244" y="4504055"/>
            <a:ext cx="976630" cy="28194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narrative.executive_summary::title_2" title="SDPM::narrative.executive_summary::title_2" descr="SDPM::narrative.executive_summary::title_2::slot=main::frameEmu=594360,1444752,10972800,4553712::bboxEmu=2662174,4204462,3665982,881126"/>
          <p:cNvSpPr txBox="1"/>
          <p:nvPr/>
        </p:nvSpPr>
        <p:spPr>
          <a:xfrm>
            <a:off x="2662174" y="4204462"/>
            <a:ext cx="3665982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02A3A"/>
                </a:solidFill>
                <a:latin typeface="Yu Gothic UI"/>
              </a:rPr>
              <a:t>基盤を整える</a:t>
            </a:r>
          </a:p>
        </p:txBody>
      </p:sp>
      <p:sp>
        <p:nvSpPr>
          <p:cNvPr id="20" name="SDPM::narrative.executive_summary::body_2" title="SDPM::narrative.executive_summary::body_2" descr="SDPM::narrative.executive_summary::body_2::slot=main::frameEmu=594360,1444752,10972800,4553712::bboxEmu=6391656,4204462,5175504,881126"/>
          <p:cNvSpPr txBox="1"/>
          <p:nvPr/>
        </p:nvSpPr>
        <p:spPr>
          <a:xfrm>
            <a:off x="6391656" y="4204462"/>
            <a:ext cx="517550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データ・人材・統制を横断運用</a:t>
            </a:r>
          </a:p>
        </p:txBody>
      </p:sp>
      <p:cxnSp>
        <p:nvCxnSpPr>
          <p:cNvPr id="21" name="SDPM::narrative.executive_summary::row_rule_2" title="SDPM::narrative.executive_summary::row_rule_2" descr="SDPM::narrative.executive_summary::row_rule_2::slot=main::frameEmu=594360,1444752,10972800,4553712::bboxEmu=594360,5085588,10972800,0"/>
          <p:cNvCxnSpPr/>
          <p:nvPr/>
        </p:nvCxnSpPr>
        <p:spPr>
          <a:xfrm>
            <a:off x="594360" y="5085588"/>
            <a:ext cx="109728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DPM::narrative.executive_summary::index_3" title="SDPM::narrative.executive_summary::index_3" descr="SDPM::narrative.executive_summary::index_3::slot=main::frameEmu=594360,1444752,10972800,4553712::bboxEmu=594360,5117338,862584,881126"/>
          <p:cNvSpPr txBox="1"/>
          <p:nvPr/>
        </p:nvSpPr>
        <p:spPr>
          <a:xfrm>
            <a:off x="594360" y="5117338"/>
            <a:ext cx="86258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S04</a:t>
            </a:r>
          </a:p>
        </p:txBody>
      </p:sp>
      <p:sp>
        <p:nvSpPr>
          <p:cNvPr id="23" name="SDPM::narrative.executive_summary::signal_3" title="SDPM::narrative.executive_summary::signal_3" descr="SDPM::narrative.executive_summary::signal_3::slot=main::frameEmu=594360,1444752,10972800,4553712::bboxEmu=1571244,5416931,976630,281940"/>
          <p:cNvSpPr/>
          <p:nvPr/>
        </p:nvSpPr>
        <p:spPr>
          <a:xfrm>
            <a:off x="1571244" y="5416931"/>
            <a:ext cx="976630" cy="28194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narrative.executive_summary::title_3" title="SDPM::narrative.executive_summary::title_3" descr="SDPM::narrative.executive_summary::title_3::slot=main::frameEmu=594360,1444752,10972800,4553712::bboxEmu=2662174,5117338,3665982,881126"/>
          <p:cNvSpPr txBox="1"/>
          <p:nvPr/>
        </p:nvSpPr>
        <p:spPr>
          <a:xfrm>
            <a:off x="2662174" y="5117338"/>
            <a:ext cx="3665982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700">
                <a:solidFill>
                  <a:srgbClr val="102A3A"/>
                </a:solidFill>
                <a:latin typeface="Yu Gothic UI"/>
              </a:rPr>
              <a:t>90 </a:t>
            </a:r>
            <a:r>
              <a:rPr lang="ja-JP" sz="1700">
                <a:solidFill>
                  <a:srgbClr val="102A3A"/>
                </a:solidFill>
                <a:latin typeface="Yu Gothic UI"/>
              </a:rPr>
              <a:t>日で判断</a:t>
            </a:r>
          </a:p>
        </p:txBody>
      </p:sp>
      <p:sp>
        <p:nvSpPr>
          <p:cNvPr id="25" name="SDPM::narrative.executive_summary::body_3" title="SDPM::narrative.executive_summary::body_3" descr="SDPM::narrative.executive_summary::body_3::slot=main::frameEmu=594360,1444752,10972800,4553712::bboxEmu=6391656,5117338,5175504,881126"/>
          <p:cNvSpPr txBox="1"/>
          <p:nvPr/>
        </p:nvSpPr>
        <p:spPr>
          <a:xfrm>
            <a:off x="6391656" y="5117338"/>
            <a:ext cx="5175504" cy="88112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価値</a:t>
            </a:r>
            <a:r>
              <a:rPr sz="1400">
                <a:solidFill>
                  <a:srgbClr val="60758A"/>
                </a:solidFill>
                <a:latin typeface="Yu Gothic UI"/>
              </a:rPr>
              <a:t> KPI </a:t>
            </a:r>
            <a:r>
              <a:rPr lang="ja-JP" sz="1400">
                <a:solidFill>
                  <a:srgbClr val="60758A"/>
                </a:solidFill>
                <a:latin typeface="Yu Gothic UI"/>
              </a:rPr>
              <a:t>で継続可否を決める</a:t>
            </a:r>
          </a:p>
        </p:txBody>
      </p:sp>
      <p:cxnSp>
        <p:nvCxnSpPr>
          <p:cNvPr id="26" name="SDPM::narrative.executive_summary::row_rule_3" title="SDPM::narrative.executive_summary::row_rule_3" descr="SDPM::narrative.executive_summary::row_rule_3::slot=main::frameEmu=594360,1444752,10972800,4553712::bboxEmu=594360,5998464,10972800,0"/>
          <p:cNvCxnSpPr/>
          <p:nvPr/>
        </p:nvCxnSpPr>
        <p:spPr>
          <a:xfrm>
            <a:off x="594360" y="5998464"/>
            <a:ext cx="109728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fact::header" title="SDPM::headline.fact::header" descr="SDPM::headline.fac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導入量より、価値へ接続したユースケースが不足している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chart_callout::annotation" title="SDPM::annotation.chart_callout::annotation" descr="SDPM::annotation.chart_callout::annotation::slot=annotation::frameEmu=8394192,1874520,2944368,2423160::bboxEmu=8394192,1874520,2944368,139700"/>
          <p:cNvSpPr txBox="1"/>
          <p:nvPr/>
        </p:nvSpPr>
        <p:spPr>
          <a:xfrm>
            <a:off x="8394192" y="1874520"/>
            <a:ext cx="2944368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ANNOTATION</a:t>
            </a:r>
          </a:p>
        </p:txBody>
      </p:sp>
      <p:sp>
        <p:nvSpPr>
          <p:cNvPr id="6" name="SDPM::chart.insight::label_0" title="SDPM::chart.insight::label_0" descr="SDPM::chart.insight::label_0::slot=main::frameEmu=594360,1481328,7543800,4443984::bboxEmu=594360,1481328,1469326,1091946"/>
          <p:cNvSpPr txBox="1"/>
          <p:nvPr/>
        </p:nvSpPr>
        <p:spPr>
          <a:xfrm>
            <a:off x="594360" y="1481328"/>
            <a:ext cx="1469326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個人効率化</a:t>
            </a:r>
          </a:p>
        </p:txBody>
      </p:sp>
      <p:cxnSp>
        <p:nvCxnSpPr>
          <p:cNvPr id="7" name="SDPM::chart.insight::grid_0_1" title="SDPM::chart.insight::grid_0_1" descr="SDPM::chart.insight::grid_0_1::slot=main::frameEmu=594360,1481328,7543800,4443984::bboxEmu=2712720,1481328,0,1091946"/>
          <p:cNvCxnSpPr/>
          <p:nvPr/>
        </p:nvCxnSpPr>
        <p:spPr>
          <a:xfrm>
            <a:off x="2712720" y="1481328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chart.insight::grid_0_2" title="SDPM::chart.insight::grid_0_2" descr="SDPM::chart.insight::grid_0_2::slot=main::frameEmu=594360,1481328,7543800,4443984::bboxEmu=3310953,1481328,0,1091946"/>
          <p:cNvCxnSpPr/>
          <p:nvPr/>
        </p:nvCxnSpPr>
        <p:spPr>
          <a:xfrm>
            <a:off x="3310953" y="1481328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chart.insight::grid_0_3" title="SDPM::chart.insight::grid_0_3" descr="SDPM::chart.insight::grid_0_3::slot=main::frameEmu=594360,1481328,7543800,4443984::bboxEmu=3909187,1481328,0,1091946"/>
          <p:cNvCxnSpPr/>
          <p:nvPr/>
        </p:nvCxnSpPr>
        <p:spPr>
          <a:xfrm>
            <a:off x="3909187" y="1481328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chart.insight::grid_0_4" title="SDPM::chart.insight::grid_0_4" descr="SDPM::chart.insight::grid_0_4::slot=main::frameEmu=594360,1481328,7543800,4443984::bboxEmu=4507420,1481328,0,1091946"/>
          <p:cNvCxnSpPr/>
          <p:nvPr/>
        </p:nvCxnSpPr>
        <p:spPr>
          <a:xfrm>
            <a:off x="4507420" y="1481328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chart.insight::bar_0" title="SDPM::chart.insight::bar_0" descr="SDPM::chart.insight::bar_0::slot=main::frameEmu=594360,1481328,7543800,4443984::bboxEmu=2114486,1841690,2991167,371284"/>
          <p:cNvSpPr/>
          <p:nvPr/>
        </p:nvSpPr>
        <p:spPr>
          <a:xfrm>
            <a:off x="2114486" y="1841690"/>
            <a:ext cx="2991167" cy="371284"/>
          </a:xfrm>
          <a:prstGeom prst="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chart.insight::direct_0" title="SDPM::chart.insight::direct_0" descr="SDPM::chart.insight::direct_0::slot=main::frameEmu=594360,1481328,7543800,4443984::bboxEmu=5143754,1481328,0,1091946"/>
          <p:cNvSpPr txBox="1"/>
          <p:nvPr/>
        </p:nvSpPr>
        <p:spPr>
          <a:xfrm>
            <a:off x="5143754" y="1481328"/>
            <a:ext cx="0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82</a:t>
            </a:r>
          </a:p>
        </p:txBody>
      </p:sp>
      <p:sp>
        <p:nvSpPr>
          <p:cNvPr id="13" name="SDPM::chart.insight::label_1" title="SDPM::chart.insight::label_1" descr="SDPM::chart.insight::label_1::slot=main::frameEmu=594360,1481328,7543800,4443984::bboxEmu=594360,2598674,1469326,1091946"/>
          <p:cNvSpPr txBox="1"/>
          <p:nvPr/>
        </p:nvSpPr>
        <p:spPr>
          <a:xfrm>
            <a:off x="594360" y="2598674"/>
            <a:ext cx="1469326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部門業務</a:t>
            </a:r>
          </a:p>
        </p:txBody>
      </p:sp>
      <p:cxnSp>
        <p:nvCxnSpPr>
          <p:cNvPr id="14" name="SDPM::chart.insight::grid_1_1" title="SDPM::chart.insight::grid_1_1" descr="SDPM::chart.insight::grid_1_1::slot=main::frameEmu=594360,1481328,7543800,4443984::bboxEmu=2712720,2598674,0,1091946"/>
          <p:cNvCxnSpPr/>
          <p:nvPr/>
        </p:nvCxnSpPr>
        <p:spPr>
          <a:xfrm>
            <a:off x="2712720" y="2598674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DPM::chart.insight::grid_1_2" title="SDPM::chart.insight::grid_1_2" descr="SDPM::chart.insight::grid_1_2::slot=main::frameEmu=594360,1481328,7543800,4443984::bboxEmu=3310953,2598674,0,1091946"/>
          <p:cNvCxnSpPr/>
          <p:nvPr/>
        </p:nvCxnSpPr>
        <p:spPr>
          <a:xfrm>
            <a:off x="3310953" y="2598674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DPM::chart.insight::grid_1_3" title="SDPM::chart.insight::grid_1_3" descr="SDPM::chart.insight::grid_1_3::slot=main::frameEmu=594360,1481328,7543800,4443984::bboxEmu=3909187,2598674,0,1091946"/>
          <p:cNvCxnSpPr/>
          <p:nvPr/>
        </p:nvCxnSpPr>
        <p:spPr>
          <a:xfrm>
            <a:off x="3909187" y="2598674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DPM::chart.insight::grid_1_4" title="SDPM::chart.insight::grid_1_4" descr="SDPM::chart.insight::grid_1_4::slot=main::frameEmu=594360,1481328,7543800,4443984::bboxEmu=4507420,2598674,0,1091946"/>
          <p:cNvCxnSpPr/>
          <p:nvPr/>
        </p:nvCxnSpPr>
        <p:spPr>
          <a:xfrm>
            <a:off x="4507420" y="2598674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chart.insight::bar_1" title="SDPM::chart.insight::bar_1" descr="SDPM::chart.insight::bar_1::slot=main::frameEmu=594360,1481328,7543800,4443984::bboxEmu=2114486,2959036,2006282,371284"/>
          <p:cNvSpPr/>
          <p:nvPr/>
        </p:nvSpPr>
        <p:spPr>
          <a:xfrm>
            <a:off x="2114486" y="2959036"/>
            <a:ext cx="2006282" cy="371284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chart.insight::direct_1" title="SDPM::chart.insight::direct_1" descr="SDPM::chart.insight::direct_1::slot=main::frameEmu=594360,1481328,7543800,4443984::bboxEmu=4158869,2598674,571500,1091946"/>
          <p:cNvSpPr txBox="1"/>
          <p:nvPr/>
        </p:nvSpPr>
        <p:spPr>
          <a:xfrm>
            <a:off x="4158869" y="2598674"/>
            <a:ext cx="571500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4169A1"/>
                </a:solidFill>
                <a:latin typeface="Yu Gothic UI"/>
              </a:rPr>
              <a:t>55</a:t>
            </a:r>
          </a:p>
        </p:txBody>
      </p:sp>
      <p:sp>
        <p:nvSpPr>
          <p:cNvPr id="20" name="SDPM::chart.insight::label_2" title="SDPM::chart.insight::label_2" descr="SDPM::chart.insight::label_2::slot=main::frameEmu=594360,1481328,7543800,4443984::bboxEmu=594360,3716020,1469326,1091946"/>
          <p:cNvSpPr txBox="1"/>
          <p:nvPr/>
        </p:nvSpPr>
        <p:spPr>
          <a:xfrm>
            <a:off x="594360" y="3716020"/>
            <a:ext cx="1469326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全社プロセス</a:t>
            </a:r>
          </a:p>
        </p:txBody>
      </p:sp>
      <p:cxnSp>
        <p:nvCxnSpPr>
          <p:cNvPr id="21" name="SDPM::chart.insight::grid_2_1" title="SDPM::chart.insight::grid_2_1" descr="SDPM::chart.insight::grid_2_1::slot=main::frameEmu=594360,1481328,7543800,4443984::bboxEmu=2712720,3716020,0,1091946"/>
          <p:cNvCxnSpPr/>
          <p:nvPr/>
        </p:nvCxnSpPr>
        <p:spPr>
          <a:xfrm>
            <a:off x="2712720" y="3716020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DPM::chart.insight::grid_2_2" title="SDPM::chart.insight::grid_2_2" descr="SDPM::chart.insight::grid_2_2::slot=main::frameEmu=594360,1481328,7543800,4443984::bboxEmu=3310953,3716020,0,1091946"/>
          <p:cNvCxnSpPr/>
          <p:nvPr/>
        </p:nvCxnSpPr>
        <p:spPr>
          <a:xfrm>
            <a:off x="3310953" y="3716020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DPM::chart.insight::grid_2_3" title="SDPM::chart.insight::grid_2_3" descr="SDPM::chart.insight::grid_2_3::slot=main::frameEmu=594360,1481328,7543800,4443984::bboxEmu=3909187,3716020,0,1091946"/>
          <p:cNvCxnSpPr/>
          <p:nvPr/>
        </p:nvCxnSpPr>
        <p:spPr>
          <a:xfrm>
            <a:off x="3909187" y="3716020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DPM::chart.insight::grid_2_4" title="SDPM::chart.insight::grid_2_4" descr="SDPM::chart.insight::grid_2_4::slot=main::frameEmu=594360,1481328,7543800,4443984::bboxEmu=4507420,3716020,0,1091946"/>
          <p:cNvCxnSpPr/>
          <p:nvPr/>
        </p:nvCxnSpPr>
        <p:spPr>
          <a:xfrm>
            <a:off x="4507420" y="3716020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chart.insight::bar_2" title="SDPM::chart.insight::bar_2" descr="SDPM::chart.insight::bar_2::slot=main::frameEmu=594360,1481328,7543800,4443984::bboxEmu=2114486,4076382,1130808,371284"/>
          <p:cNvSpPr/>
          <p:nvPr/>
        </p:nvSpPr>
        <p:spPr>
          <a:xfrm>
            <a:off x="2114486" y="4076382"/>
            <a:ext cx="1130808" cy="371284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chart.insight::direct_2" title="SDPM::chart.insight::direct_2" descr="SDPM::chart.insight::direct_2::slot=main::frameEmu=594360,1481328,7543800,4443984::bboxEmu=3283394,3716020,571500,1091946"/>
          <p:cNvSpPr txBox="1"/>
          <p:nvPr/>
        </p:nvSpPr>
        <p:spPr>
          <a:xfrm>
            <a:off x="3283394" y="3716020"/>
            <a:ext cx="571500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4169A1"/>
                </a:solidFill>
                <a:latin typeface="Yu Gothic UI"/>
              </a:rPr>
              <a:t>31</a:t>
            </a:r>
          </a:p>
        </p:txBody>
      </p:sp>
      <p:sp>
        <p:nvSpPr>
          <p:cNvPr id="27" name="SDPM::chart.insight::label_3" title="SDPM::chart.insight::label_3" descr="SDPM::chart.insight::label_3::slot=main::frameEmu=594360,1481328,7543800,4443984::bboxEmu=594360,4833366,1469326,1091946"/>
          <p:cNvSpPr txBox="1"/>
          <p:nvPr/>
        </p:nvSpPr>
        <p:spPr>
          <a:xfrm>
            <a:off x="594360" y="4833366"/>
            <a:ext cx="1469326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顧客価値</a:t>
            </a:r>
          </a:p>
        </p:txBody>
      </p:sp>
      <p:cxnSp>
        <p:nvCxnSpPr>
          <p:cNvPr id="28" name="SDPM::chart.insight::grid_3_1" title="SDPM::chart.insight::grid_3_1" descr="SDPM::chart.insight::grid_3_1::slot=main::frameEmu=594360,1481328,7543800,4443984::bboxEmu=2712720,4833366,0,1091946"/>
          <p:cNvCxnSpPr/>
          <p:nvPr/>
        </p:nvCxnSpPr>
        <p:spPr>
          <a:xfrm>
            <a:off x="2712720" y="4833366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DPM::chart.insight::grid_3_2" title="SDPM::chart.insight::grid_3_2" descr="SDPM::chart.insight::grid_3_2::slot=main::frameEmu=594360,1481328,7543800,4443984::bboxEmu=3310953,4833366,0,1091946"/>
          <p:cNvCxnSpPr/>
          <p:nvPr/>
        </p:nvCxnSpPr>
        <p:spPr>
          <a:xfrm>
            <a:off x="3310953" y="4833366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DPM::chart.insight::grid_3_3" title="SDPM::chart.insight::grid_3_3" descr="SDPM::chart.insight::grid_3_3::slot=main::frameEmu=594360,1481328,7543800,4443984::bboxEmu=3909187,4833366,0,1091946"/>
          <p:cNvCxnSpPr/>
          <p:nvPr/>
        </p:nvCxnSpPr>
        <p:spPr>
          <a:xfrm>
            <a:off x="3909187" y="4833366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DPM::chart.insight::grid_3_4" title="SDPM::chart.insight::grid_3_4" descr="SDPM::chart.insight::grid_3_4::slot=main::frameEmu=594360,1481328,7543800,4443984::bboxEmu=4507420,4833366,0,1091946"/>
          <p:cNvCxnSpPr/>
          <p:nvPr/>
        </p:nvCxnSpPr>
        <p:spPr>
          <a:xfrm>
            <a:off x="4507420" y="4833366"/>
            <a:ext cx="0" cy="1091946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DPM::chart.insight::bar_3" title="SDPM::chart.insight::bar_3" descr="SDPM::chart.insight::bar_3::slot=main::frameEmu=594360,1481328,7543800,4443984::bboxEmu=2114486,5193728,656590,371284"/>
          <p:cNvSpPr/>
          <p:nvPr/>
        </p:nvSpPr>
        <p:spPr>
          <a:xfrm>
            <a:off x="2114486" y="5193728"/>
            <a:ext cx="656590" cy="371284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chart.insight::direct_3" title="SDPM::chart.insight::direct_3" descr="SDPM::chart.insight::direct_3::slot=main::frameEmu=594360,1481328,7543800,4443984::bboxEmu=2809176,4833366,571500,1091946"/>
          <p:cNvSpPr txBox="1"/>
          <p:nvPr/>
        </p:nvSpPr>
        <p:spPr>
          <a:xfrm>
            <a:off x="2809176" y="4833366"/>
            <a:ext cx="571500" cy="109194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4169A1"/>
                </a:solidFill>
                <a:latin typeface="Yu Gothic UI"/>
              </a:rPr>
              <a:t>18</a:t>
            </a:r>
          </a:p>
        </p:txBody>
      </p:sp>
      <p:sp>
        <p:nvSpPr>
          <p:cNvPr id="34" name="SDPM::chart.insight::insight_bg" title="SDPM::chart.insight::insight_bg" descr="SDPM::chart.insight::insight_bg::slot=main::frameEmu=594360,1481328,7543800,4443984::bboxEmu=6057900,1481328,2080260,4443984"/>
          <p:cNvSpPr/>
          <p:nvPr/>
        </p:nvSpPr>
        <p:spPr>
          <a:xfrm>
            <a:off x="6057900" y="1481328"/>
            <a:ext cx="2080260" cy="4443984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DPM::chart.insight::label" title="SDPM::chart.insight::label" descr="SDPM::chart.insight::label::slot=main::frameEmu=594360,1481328,7543800,4443984::bboxEmu=6172200,1582928,1851660,152400"/>
          <p:cNvSpPr txBox="1"/>
          <p:nvPr/>
        </p:nvSpPr>
        <p:spPr>
          <a:xfrm>
            <a:off x="6172200" y="1582928"/>
            <a:ext cx="185166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INTERPRETATION</a:t>
            </a:r>
          </a:p>
        </p:txBody>
      </p:sp>
      <p:sp>
        <p:nvSpPr>
          <p:cNvPr id="36" name="SDPM::chart.insight::insight" title="SDPM::chart.insight::insight" descr="SDPM::chart.insight::insight::slot=main::frameEmu=594360,1481328,7543800,4443984::bboxEmu=6172200,1836927,1851660,3516884"/>
          <p:cNvSpPr txBox="1"/>
          <p:nvPr/>
        </p:nvSpPr>
        <p:spPr>
          <a:xfrm>
            <a:off x="6172200" y="1836927"/>
            <a:ext cx="1851660" cy="351688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200">
                <a:solidFill>
                  <a:srgbClr val="FFFFFF"/>
                </a:solidFill>
                <a:latin typeface="Yu Gothic UI"/>
              </a:rPr>
              <a:t>利用は広がる一方、変革領域への組込みは限定的</a:t>
            </a:r>
          </a:p>
        </p:txBody>
      </p:sp>
      <p:sp>
        <p:nvSpPr>
          <p:cNvPr id="37" name="SDPM::chart.insight::support" title="SDPM::chart.insight::support" descr="SDPM::chart.insight::support::slot=main::frameEmu=594360,1481328,7543800,4443984::bboxEmu=6172200,5417312,1851660,406400"/>
          <p:cNvSpPr txBox="1"/>
          <p:nvPr/>
        </p:nvSpPr>
        <p:spPr>
          <a:xfrm>
            <a:off x="6172200" y="5417312"/>
            <a:ext cx="1851660" cy="406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200">
                <a:solidFill>
                  <a:srgbClr val="FFFFFF"/>
                </a:solidFill>
                <a:latin typeface="Yu Gothic UI"/>
              </a:rPr>
              <a:t>数値は検証用デモ</a:t>
            </a:r>
          </a:p>
        </p:txBody>
      </p:sp>
      <p:sp>
        <p:nvSpPr>
          <p:cNvPr id="38" name="SDPM::evidence_footer.full::footer" title="SDPM::evidence_footer.full::footer" descr="SDPM::evidence_footer.full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部分最適・曖昧な</a:t>
            </a:r>
            <a:r>
              <a:rPr sz="3100">
                <a:solidFill>
                  <a:srgbClr val="123B52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123B52"/>
                </a:solidFill>
                <a:latin typeface="Yu Gothic UI"/>
              </a:rPr>
              <a:t>・分断運営が価値化を止める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findings_implications::header_ID" title="SDPM::narrative.findings_implications::header_ID" descr="SDPM::narrative.findings_implications::header_ID::slot=main::frameEmu=594360,1444752,10972800,4553712::bboxEmu=594360,1444752,865632,266700"/>
          <p:cNvSpPr txBox="1"/>
          <p:nvPr/>
        </p:nvSpPr>
        <p:spPr>
          <a:xfrm>
            <a:off x="594360" y="1444752"/>
            <a:ext cx="865632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ID</a:t>
            </a:r>
          </a:p>
        </p:txBody>
      </p:sp>
      <p:sp>
        <p:nvSpPr>
          <p:cNvPr id="6" name="SDPM::narrative.findings_implications::header_OBSERVATION" title="SDPM::narrative.findings_implications::header_OBSERVATION" descr="SDPM::narrative.findings_implications::header_OBSERVATION::slot=main::frameEmu=594360,1444752,10972800,4553712::bboxEmu=1510792,1444752,4544568,266700"/>
          <p:cNvSpPr txBox="1"/>
          <p:nvPr/>
        </p:nvSpPr>
        <p:spPr>
          <a:xfrm>
            <a:off x="1510792" y="1444752"/>
            <a:ext cx="4544568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OBSERVATION</a:t>
            </a:r>
          </a:p>
        </p:txBody>
      </p:sp>
      <p:sp>
        <p:nvSpPr>
          <p:cNvPr id="7" name="SDPM::narrative.findings_implications::header_LINK" title="SDPM::narrative.findings_implications::header_LINK" descr="SDPM::narrative.findings_implications::header_LINK::slot=main::frameEmu=594360,1444752,10972800,4553712::bboxEmu=6106160,1444752,865632,266700"/>
          <p:cNvSpPr txBox="1"/>
          <p:nvPr/>
        </p:nvSpPr>
        <p:spPr>
          <a:xfrm>
            <a:off x="6106160" y="1444752"/>
            <a:ext cx="865632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LINK</a:t>
            </a:r>
          </a:p>
        </p:txBody>
      </p:sp>
      <p:sp>
        <p:nvSpPr>
          <p:cNvPr id="8" name="SDPM::narrative.findings_implications::header_ACTION" title="SDPM::narrative.findings_implications::header_ACTION" descr="SDPM::narrative.findings_implications::header_ACTION::slot=main::frameEmu=594360,1444752,10972800,4553712::bboxEmu=7022592,1444752,4544568,266700"/>
          <p:cNvSpPr txBox="1"/>
          <p:nvPr/>
        </p:nvSpPr>
        <p:spPr>
          <a:xfrm>
            <a:off x="7022592" y="1444752"/>
            <a:ext cx="4544568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ACTION</a:t>
            </a:r>
          </a:p>
        </p:txBody>
      </p:sp>
      <p:sp>
        <p:nvSpPr>
          <p:cNvPr id="9" name="SDPM::narrative.findings_implications::row_bg_0" title="SDPM::narrative.findings_implications::row_bg_0" descr="SDPM::narrative.findings_implications::row_bg_0::slot=main::frameEmu=594360,1444752,10972800,4553712::bboxEmu=594360,1774952,10972800,1390904"/>
          <p:cNvSpPr/>
          <p:nvPr/>
        </p:nvSpPr>
        <p:spPr>
          <a:xfrm>
            <a:off x="594360" y="1774952"/>
            <a:ext cx="10972800" cy="1390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narrative.findings_implications::id_0" title="SDPM::narrative.findings_implications::id_0" descr="SDPM::narrative.findings_implications::id_0::slot=main::frameEmu=594360,1444752,10972800,4553712::bboxEmu=594360,1774952,865632,1390904"/>
          <p:cNvSpPr txBox="1"/>
          <p:nvPr/>
        </p:nvSpPr>
        <p:spPr>
          <a:xfrm>
            <a:off x="594360" y="1774952"/>
            <a:ext cx="865632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F-01</a:t>
            </a:r>
          </a:p>
        </p:txBody>
      </p:sp>
      <p:sp>
        <p:nvSpPr>
          <p:cNvPr id="11" name="SDPM::narrative.findings_implications::finding_0" title="SDPM::narrative.findings_implications::finding_0" descr="SDPM::narrative.findings_implications::finding_0::slot=main::frameEmu=594360,1444752,10972800,4553712::bboxEmu=1510792,1774952,4544568,1390904"/>
          <p:cNvSpPr txBox="1"/>
          <p:nvPr/>
        </p:nvSpPr>
        <p:spPr>
          <a:xfrm>
            <a:off x="1510792" y="1774952"/>
            <a:ext cx="4544568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個人利用で止まり業務責任者が不在</a:t>
            </a:r>
          </a:p>
        </p:txBody>
      </p:sp>
      <p:cxnSp>
        <p:nvCxnSpPr>
          <p:cNvPr id="12" name="SDPM::narrative.findings_implications::arrow_0" title="SDPM::narrative.findings_implications::arrow_0" descr="SDPM::narrative.findings_implications::arrow_0::slot=main::frameEmu=594360,1444752,10972800,4553712::bboxEmu=6137910,2470404,802132,0"/>
          <p:cNvCxnSpPr/>
          <p:nvPr/>
        </p:nvCxnSpPr>
        <p:spPr>
          <a:xfrm>
            <a:off x="6137910" y="2470404"/>
            <a:ext cx="802132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findings_implications::implication_0" title="SDPM::narrative.findings_implications::implication_0" descr="SDPM::narrative.findings_implications::implication_0::slot=main::frameEmu=594360,1444752,10972800,4553712::bboxEmu=7022592,1774952,4544568,1390904"/>
          <p:cNvSpPr txBox="1"/>
          <p:nvPr/>
        </p:nvSpPr>
        <p:spPr>
          <a:xfrm>
            <a:off x="7022592" y="1774952"/>
            <a:ext cx="4544568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B52"/>
                </a:solidFill>
                <a:latin typeface="Yu Gothic UI"/>
              </a:rPr>
              <a:t>業務オーナーを先に置く</a:t>
            </a:r>
          </a:p>
        </p:txBody>
      </p:sp>
      <p:sp>
        <p:nvSpPr>
          <p:cNvPr id="14" name="SDPM::narrative.findings_implications::row_bg_1" title="SDPM::narrative.findings_implications::row_bg_1" descr="SDPM::narrative.findings_implications::row_bg_1::slot=main::frameEmu=594360,1444752,10972800,4553712::bboxEmu=594360,3191256,10972800,1390904"/>
          <p:cNvSpPr/>
          <p:nvPr/>
        </p:nvSpPr>
        <p:spPr>
          <a:xfrm>
            <a:off x="594360" y="3191256"/>
            <a:ext cx="10972800" cy="1390904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narrative.findings_implications::id_1" title="SDPM::narrative.findings_implications::id_1" descr="SDPM::narrative.findings_implications::id_1::slot=main::frameEmu=594360,1444752,10972800,4553712::bboxEmu=594360,3191256,865632,1390904"/>
          <p:cNvSpPr txBox="1"/>
          <p:nvPr/>
        </p:nvSpPr>
        <p:spPr>
          <a:xfrm>
            <a:off x="594360" y="3191256"/>
            <a:ext cx="865632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F-02</a:t>
            </a:r>
          </a:p>
        </p:txBody>
      </p:sp>
      <p:sp>
        <p:nvSpPr>
          <p:cNvPr id="16" name="SDPM::narrative.findings_implications::finding_1" title="SDPM::narrative.findings_implications::finding_1" descr="SDPM::narrative.findings_implications::finding_1::slot=main::frameEmu=594360,1444752,10972800,4553712::bboxEmu=1510792,3191256,4544568,1390904"/>
          <p:cNvSpPr txBox="1"/>
          <p:nvPr/>
        </p:nvSpPr>
        <p:spPr>
          <a:xfrm>
            <a:off x="1510792" y="3191256"/>
            <a:ext cx="4544568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時間削減だけを成果として追跡</a:t>
            </a:r>
          </a:p>
        </p:txBody>
      </p:sp>
      <p:cxnSp>
        <p:nvCxnSpPr>
          <p:cNvPr id="17" name="SDPM::narrative.findings_implications::arrow_1" title="SDPM::narrative.findings_implications::arrow_1" descr="SDPM::narrative.findings_implications::arrow_1::slot=main::frameEmu=594360,1444752,10972800,4553712::bboxEmu=6137910,3886708,802132,0"/>
          <p:cNvCxnSpPr/>
          <p:nvPr/>
        </p:nvCxnSpPr>
        <p:spPr>
          <a:xfrm>
            <a:off x="6137910" y="3886708"/>
            <a:ext cx="802132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narrative.findings_implications::implication_1" title="SDPM::narrative.findings_implications::implication_1" descr="SDPM::narrative.findings_implications::implication_1::slot=main::frameEmu=594360,1444752,10972800,4553712::bboxEmu=7022592,3191256,4544568,1390904"/>
          <p:cNvSpPr txBox="1"/>
          <p:nvPr/>
        </p:nvSpPr>
        <p:spPr>
          <a:xfrm>
            <a:off x="7022592" y="3191256"/>
            <a:ext cx="4544568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B52"/>
                </a:solidFill>
                <a:latin typeface="Yu Gothic UI"/>
              </a:rPr>
              <a:t>顧客・収益</a:t>
            </a:r>
            <a:r>
              <a:rPr sz="1500">
                <a:solidFill>
                  <a:srgbClr val="123B52"/>
                </a:solidFill>
                <a:latin typeface="Yu Gothic UI"/>
              </a:rPr>
              <a:t> KPI </a:t>
            </a:r>
            <a:r>
              <a:rPr lang="ja-JP" sz="1500">
                <a:solidFill>
                  <a:srgbClr val="123B52"/>
                </a:solidFill>
                <a:latin typeface="Yu Gothic UI"/>
              </a:rPr>
              <a:t>へ接続</a:t>
            </a:r>
          </a:p>
        </p:txBody>
      </p:sp>
      <p:sp>
        <p:nvSpPr>
          <p:cNvPr id="19" name="SDPM::narrative.findings_implications::row_bg_2" title="SDPM::narrative.findings_implications::row_bg_2" descr="SDPM::narrative.findings_implications::row_bg_2::slot=main::frameEmu=594360,1444752,10972800,4553712::bboxEmu=594360,4607560,10972800,1390904"/>
          <p:cNvSpPr/>
          <p:nvPr/>
        </p:nvSpPr>
        <p:spPr>
          <a:xfrm>
            <a:off x="594360" y="4607560"/>
            <a:ext cx="10972800" cy="1390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narrative.findings_implications::id_2" title="SDPM::narrative.findings_implications::id_2" descr="SDPM::narrative.findings_implications::id_2::slot=main::frameEmu=594360,1444752,10972800,4553712::bboxEmu=594360,4607560,865632,1390904"/>
          <p:cNvSpPr txBox="1"/>
          <p:nvPr/>
        </p:nvSpPr>
        <p:spPr>
          <a:xfrm>
            <a:off x="594360" y="4607560"/>
            <a:ext cx="865632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F-03</a:t>
            </a:r>
          </a:p>
        </p:txBody>
      </p:sp>
      <p:sp>
        <p:nvSpPr>
          <p:cNvPr id="21" name="SDPM::narrative.findings_implications::finding_2" title="SDPM::narrative.findings_implications::finding_2" descr="SDPM::narrative.findings_implications::finding_2::slot=main::frameEmu=594360,1444752,10972800,4553712::bboxEmu=1510792,4607560,4544568,1390904"/>
          <p:cNvSpPr txBox="1"/>
          <p:nvPr/>
        </p:nvSpPr>
        <p:spPr>
          <a:xfrm>
            <a:off x="1510792" y="4607560"/>
            <a:ext cx="4544568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データ・</a:t>
            </a:r>
            <a:r>
              <a:rPr sz="1500">
                <a:solidFill>
                  <a:srgbClr val="102A3A"/>
                </a:solidFill>
                <a:latin typeface="Yu Gothic UI"/>
              </a:rPr>
              <a:t> IT </a:t>
            </a:r>
            <a:r>
              <a:rPr lang="ja-JP" sz="1500">
                <a:solidFill>
                  <a:srgbClr val="102A3A"/>
                </a:solidFill>
                <a:latin typeface="Yu Gothic UI"/>
              </a:rPr>
              <a:t>・現場が別々に推進</a:t>
            </a:r>
          </a:p>
        </p:txBody>
      </p:sp>
      <p:cxnSp>
        <p:nvCxnSpPr>
          <p:cNvPr id="22" name="SDPM::narrative.findings_implications::arrow_2" title="SDPM::narrative.findings_implications::arrow_2" descr="SDPM::narrative.findings_implications::arrow_2::slot=main::frameEmu=594360,1444752,10972800,4553712::bboxEmu=6137910,5303012,802132,0"/>
          <p:cNvCxnSpPr/>
          <p:nvPr/>
        </p:nvCxnSpPr>
        <p:spPr>
          <a:xfrm>
            <a:off x="6137910" y="5303012"/>
            <a:ext cx="802132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narrative.findings_implications::implication_2" title="SDPM::narrative.findings_implications::implication_2" descr="SDPM::narrative.findings_implications::implication_2::slot=main::frameEmu=594360,1444752,10972800,4553712::bboxEmu=7022592,4607560,4544568,1390904"/>
          <p:cNvSpPr txBox="1"/>
          <p:nvPr/>
        </p:nvSpPr>
        <p:spPr>
          <a:xfrm>
            <a:off x="7022592" y="4607560"/>
            <a:ext cx="4544568" cy="13909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B52"/>
                </a:solidFill>
                <a:latin typeface="Yu Gothic UI"/>
              </a:rPr>
              <a:t>横断ガバナンスで統合</a:t>
            </a:r>
          </a:p>
        </p:txBody>
      </p:sp>
      <p:sp>
        <p:nvSpPr>
          <p:cNvPr id="24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最初の</a:t>
            </a:r>
            <a:r>
              <a:rPr sz="3100">
                <a:solidFill>
                  <a:srgbClr val="123B52"/>
                </a:solidFill>
                <a:latin typeface="Yu Gothic UI"/>
              </a:rPr>
              <a:t> 90 </a:t>
            </a:r>
            <a:r>
              <a:rPr lang="ja-JP" sz="3100">
                <a:solidFill>
                  <a:srgbClr val="123B52"/>
                </a:solidFill>
                <a:latin typeface="Yu Gothic UI"/>
              </a:rPr>
              <a:t>日は、価値が高く実装可能な領域へ集中する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decision.choice::decision" title="SDPM::decision.choice::decision" descr="SDPM::decision.choice::decision::slot=decision::frameEmu=8732520,1874520,2606040,2697480::bboxEmu=8732520,1874520,2606040,139700"/>
          <p:cNvSpPr txBox="1"/>
          <p:nvPr/>
        </p:nvSpPr>
        <p:spPr>
          <a:xfrm>
            <a:off x="8732520" y="1874520"/>
            <a:ext cx="26060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DECISION</a:t>
            </a:r>
          </a:p>
        </p:txBody>
      </p:sp>
      <p:cxnSp>
        <p:nvCxnSpPr>
          <p:cNvPr id="6" name="SDPM::strategy.portfolio_matrix::vgrid_0" title="SDPM::strategy.portfolio_matrix::vgrid_0" descr="SDPM::strategy.portfolio_matrix::vgrid_0::slot=main::frameEmu=658368,1444752,7772400,4553712::bboxEmu=988568,1559052,0,4134612"/>
          <p:cNvCxnSpPr/>
          <p:nvPr/>
        </p:nvCxnSpPr>
        <p:spPr>
          <a:xfrm>
            <a:off x="988568" y="1559052"/>
            <a:ext cx="0" cy="4134612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DPM::strategy.portfolio_matrix::hgrid_0" title="SDPM::strategy.portfolio_matrix::hgrid_0" descr="SDPM::strategy.portfolio_matrix::hgrid_0::slot=main::frameEmu=658368,1444752,7772400,4553712::bboxEmu=988568,1559052,5445379,0"/>
          <p:cNvCxnSpPr/>
          <p:nvPr/>
        </p:nvCxnSpPr>
        <p:spPr>
          <a:xfrm>
            <a:off x="988568" y="1559052"/>
            <a:ext cx="5445379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vgrid_1" title="SDPM::strategy.portfolio_matrix::vgrid_1" descr="SDPM::strategy.portfolio_matrix::vgrid_1::slot=main::frameEmu=658368,1444752,7772400,4553712::bboxEmu=2077656,1559052,0,4134612"/>
          <p:cNvCxnSpPr/>
          <p:nvPr/>
        </p:nvCxnSpPr>
        <p:spPr>
          <a:xfrm>
            <a:off x="2077656" y="1559052"/>
            <a:ext cx="0" cy="4134612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hgrid_1" title="SDPM::strategy.portfolio_matrix::hgrid_1" descr="SDPM::strategy.portfolio_matrix::hgrid_1::slot=main::frameEmu=658368,1444752,7772400,4553712::bboxEmu=988568,2385949,5445379,0"/>
          <p:cNvCxnSpPr/>
          <p:nvPr/>
        </p:nvCxnSpPr>
        <p:spPr>
          <a:xfrm>
            <a:off x="988568" y="2385949"/>
            <a:ext cx="5445379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vgrid_2" title="SDPM::strategy.portfolio_matrix::vgrid_2" descr="SDPM::strategy.portfolio_matrix::vgrid_2::slot=main::frameEmu=658368,1444752,7772400,4553712::bboxEmu=3166745,1559052,0,4134612"/>
          <p:cNvCxnSpPr/>
          <p:nvPr/>
        </p:nvCxnSpPr>
        <p:spPr>
          <a:xfrm>
            <a:off x="3166745" y="1559052"/>
            <a:ext cx="0" cy="4134612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DPM::strategy.portfolio_matrix::hgrid_2" title="SDPM::strategy.portfolio_matrix::hgrid_2" descr="SDPM::strategy.portfolio_matrix::hgrid_2::slot=main::frameEmu=658368,1444752,7772400,4553712::bboxEmu=988568,3212909,5445379,0"/>
          <p:cNvCxnSpPr/>
          <p:nvPr/>
        </p:nvCxnSpPr>
        <p:spPr>
          <a:xfrm>
            <a:off x="988568" y="3212909"/>
            <a:ext cx="5445379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DPM::strategy.portfolio_matrix::vgrid_3" title="SDPM::strategy.portfolio_matrix::vgrid_3" descr="SDPM::strategy.portfolio_matrix::vgrid_3::slot=main::frameEmu=658368,1444752,7772400,4553712::bboxEmu=4255770,1559052,0,4134612"/>
          <p:cNvCxnSpPr/>
          <p:nvPr/>
        </p:nvCxnSpPr>
        <p:spPr>
          <a:xfrm>
            <a:off x="4255770" y="1559052"/>
            <a:ext cx="0" cy="4134612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DPM::strategy.portfolio_matrix::hgrid_3" title="SDPM::strategy.portfolio_matrix::hgrid_3" descr="SDPM::strategy.portfolio_matrix::hgrid_3::slot=main::frameEmu=658368,1444752,7772400,4553712::bboxEmu=988568,4039806,5445379,0"/>
          <p:cNvCxnSpPr/>
          <p:nvPr/>
        </p:nvCxnSpPr>
        <p:spPr>
          <a:xfrm>
            <a:off x="988568" y="4039806"/>
            <a:ext cx="5445379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DPM::strategy.portfolio_matrix::vgrid_4" title="SDPM::strategy.portfolio_matrix::vgrid_4" descr="SDPM::strategy.portfolio_matrix::vgrid_4::slot=main::frameEmu=658368,1444752,7772400,4553712::bboxEmu=5344858,1559052,0,4134612"/>
          <p:cNvCxnSpPr/>
          <p:nvPr/>
        </p:nvCxnSpPr>
        <p:spPr>
          <a:xfrm>
            <a:off x="5344858" y="1559052"/>
            <a:ext cx="0" cy="4134612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DPM::strategy.portfolio_matrix::hgrid_4" title="SDPM::strategy.portfolio_matrix::hgrid_4" descr="SDPM::strategy.portfolio_matrix::hgrid_4::slot=main::frameEmu=658368,1444752,7772400,4553712::bboxEmu=988568,4866767,5445379,0"/>
          <p:cNvCxnSpPr/>
          <p:nvPr/>
        </p:nvCxnSpPr>
        <p:spPr>
          <a:xfrm>
            <a:off x="988568" y="4866767"/>
            <a:ext cx="5445379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DPM::strategy.portfolio_matrix::vgrid_5" title="SDPM::strategy.portfolio_matrix::vgrid_5" descr="SDPM::strategy.portfolio_matrix::vgrid_5::slot=main::frameEmu=658368,1444752,7772400,4553712::bboxEmu=6433947,1559052,0,4134612"/>
          <p:cNvCxnSpPr/>
          <p:nvPr/>
        </p:nvCxnSpPr>
        <p:spPr>
          <a:xfrm>
            <a:off x="6433947" y="1559052"/>
            <a:ext cx="0" cy="4134612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DPM::strategy.portfolio_matrix::hgrid_5" title="SDPM::strategy.portfolio_matrix::hgrid_5" descr="SDPM::strategy.portfolio_matrix::hgrid_5::slot=main::frameEmu=658368,1444752,7772400,4553712::bboxEmu=988568,5693664,5445379,0"/>
          <p:cNvCxnSpPr/>
          <p:nvPr/>
        </p:nvCxnSpPr>
        <p:spPr>
          <a:xfrm>
            <a:off x="988568" y="5693664"/>
            <a:ext cx="5445379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DPM::strategy.portfolio_matrix::x_axis" title="SDPM::strategy.portfolio_matrix::x_axis" descr="SDPM::strategy.portfolio_matrix::x_axis::slot=main::frameEmu=658368,1444752,7772400,4553712::bboxEmu=988568,5693664,5445379,0"/>
          <p:cNvCxnSpPr/>
          <p:nvPr/>
        </p:nvCxnSpPr>
        <p:spPr>
          <a:xfrm>
            <a:off x="988568" y="5693664"/>
            <a:ext cx="5445379" cy="0"/>
          </a:xfrm>
          <a:prstGeom prst="line">
            <a:avLst/>
          </a:prstGeom>
          <a:ln w="25400">
            <a:solidFill>
              <a:srgbClr val="12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DPM::strategy.portfolio_matrix::y_axis" title="SDPM::strategy.portfolio_matrix::y_axis" descr="SDPM::strategy.portfolio_matrix::y_axis::slot=main::frameEmu=658368,1444752,7772400,4553712::bboxEmu=988568,1559052,0,4134612"/>
          <p:cNvCxnSpPr/>
          <p:nvPr/>
        </p:nvCxnSpPr>
        <p:spPr>
          <a:xfrm flipV="1">
            <a:off x="988568" y="1559052"/>
            <a:ext cx="0" cy="4134612"/>
          </a:xfrm>
          <a:prstGeom prst="line">
            <a:avLst/>
          </a:prstGeom>
          <a:ln w="25400">
            <a:solidFill>
              <a:srgbClr val="12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strategy.portfolio_matrix::item_0" title="SDPM::strategy.portfolio_matrix::item_0" descr="SDPM::strategy.portfolio_matrix::item_0::slot=main::frameEmu=658368,1444752,7772400,4553712::bboxEmu=5122608,2246439,444500,444500"/>
          <p:cNvSpPr/>
          <p:nvPr/>
        </p:nvSpPr>
        <p:spPr>
          <a:xfrm>
            <a:off x="5122608" y="2246439"/>
            <a:ext cx="444500" cy="444500"/>
          </a:xfrm>
          <a:prstGeom prst="ellipse">
            <a:avLst/>
          </a:prstGeom>
          <a:solidFill>
            <a:srgbClr val="0E8A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問い合わせ解決</a:t>
            </a:r>
          </a:p>
        </p:txBody>
      </p:sp>
      <p:sp>
        <p:nvSpPr>
          <p:cNvPr id="21" name="SDPM::strategy.portfolio_matrix::item_1" title="SDPM::strategy.portfolio_matrix::item_1" descr="SDPM::strategy.portfolio_matrix::item_1::slot=main::frameEmu=658368,1444752,7772400,4553712::bboxEmu=3972242,2542095,349250,349250"/>
          <p:cNvSpPr/>
          <p:nvPr/>
        </p:nvSpPr>
        <p:spPr>
          <a:xfrm>
            <a:off x="3972242" y="2542095"/>
            <a:ext cx="349250" cy="349250"/>
          </a:xfrm>
          <a:prstGeom prst="ellipse">
            <a:avLst/>
          </a:prstGeom>
          <a:solidFill>
            <a:srgbClr val="4169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需要予測</a:t>
            </a:r>
          </a:p>
        </p:txBody>
      </p:sp>
      <p:sp>
        <p:nvSpPr>
          <p:cNvPr id="22" name="SDPM::strategy.portfolio_matrix::item_2" title="SDPM::strategy.portfolio_matrix::item_2" descr="SDPM::strategy.portfolio_matrix::item_2::slot=main::frameEmu=658368,1444752,7772400,4553712::bboxEmu=3123247,3267202,304800,304800"/>
          <p:cNvSpPr/>
          <p:nvPr/>
        </p:nvSpPr>
        <p:spPr>
          <a:xfrm>
            <a:off x="3123247" y="3267202"/>
            <a:ext cx="304800" cy="304800"/>
          </a:xfrm>
          <a:prstGeom prst="ellipse">
            <a:avLst/>
          </a:prstGeom>
          <a:solidFill>
            <a:srgbClr val="4169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開発支援</a:t>
            </a:r>
          </a:p>
        </p:txBody>
      </p:sp>
      <p:sp>
        <p:nvSpPr>
          <p:cNvPr id="23" name="SDPM::strategy.portfolio_matrix::item_3" title="SDPM::strategy.portfolio_matrix::item_3" descr="SDPM::strategy.portfolio_matrix::item_3::slot=main::frameEmu=658368,1444752,7772400,4553712::bboxEmu=5339461,4421695,228600,228600"/>
          <p:cNvSpPr/>
          <p:nvPr/>
        </p:nvSpPr>
        <p:spPr>
          <a:xfrm>
            <a:off x="5339461" y="4421695"/>
            <a:ext cx="228600" cy="228600"/>
          </a:xfrm>
          <a:prstGeom prst="ellipse">
            <a:avLst/>
          </a:prstGeom>
          <a:solidFill>
            <a:srgbClr val="4169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議事録</a:t>
            </a:r>
          </a:p>
        </p:txBody>
      </p:sp>
      <p:sp>
        <p:nvSpPr>
          <p:cNvPr id="24" name="SDPM::strategy.portfolio_matrix::x_label" title="SDPM::strategy.portfolio_matrix::x_label" descr="SDPM::strategy.portfolio_matrix::x_label::slot=main::frameEmu=658368,1444752,7772400,4553712::bboxEmu=988568,5795264,5445379,152400"/>
          <p:cNvSpPr txBox="1"/>
          <p:nvPr/>
        </p:nvSpPr>
        <p:spPr>
          <a:xfrm>
            <a:off x="988568" y="5795264"/>
            <a:ext cx="5445379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60758A"/>
                </a:solidFill>
                <a:latin typeface="Yu Gothic UI"/>
              </a:rPr>
              <a:t>実装容易性</a:t>
            </a:r>
          </a:p>
        </p:txBody>
      </p:sp>
      <p:sp>
        <p:nvSpPr>
          <p:cNvPr id="25" name="SDPM::strategy.portfolio_matrix::y_label" title="SDPM::strategy.portfolio_matrix::y_label" descr="SDPM::strategy.portfolio_matrix::y_label::slot=main::frameEmu=658368,1444752,7772400,4553712::bboxEmu=658368,1559052,177800,4134612"/>
          <p:cNvSpPr txBox="1"/>
          <p:nvPr/>
        </p:nvSpPr>
        <p:spPr>
          <a:xfrm rot="16200000">
            <a:off x="658368" y="1559052"/>
            <a:ext cx="177800" cy="41346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0758A"/>
                </a:solidFill>
                <a:latin typeface="Yu Gothic UI"/>
              </a:rPr>
              <a:t>価値インパクト</a:t>
            </a:r>
          </a:p>
        </p:txBody>
      </p:sp>
      <p:sp>
        <p:nvSpPr>
          <p:cNvPr id="26" name="SDPM::strategy.portfolio_matrix::score_bg" title="SDPM::strategy.portfolio_matrix::score_bg" descr="SDPM::strategy.portfolio_matrix::score_bg::slot=main::frameEmu=658368,1444752,7772400,4553712::bboxEmu=6675247,1444752,1755520,4553712"/>
          <p:cNvSpPr/>
          <p:nvPr/>
        </p:nvSpPr>
        <p:spPr>
          <a:xfrm>
            <a:off x="6675247" y="1444752"/>
            <a:ext cx="1755520" cy="4553712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strategy.portfolio_matrix::score_head" title="SDPM::strategy.portfolio_matrix::score_head" descr="SDPM::strategy.portfolio_matrix::score_head::slot=main::frameEmu=658368,1444752,7772400,4553712::bboxEmu=6764147,1520952,1577721,165100"/>
          <p:cNvSpPr txBox="1"/>
          <p:nvPr/>
        </p:nvSpPr>
        <p:spPr>
          <a:xfrm>
            <a:off x="6764147" y="1520952"/>
            <a:ext cx="1577721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PRIORITY SCORE</a:t>
            </a:r>
          </a:p>
        </p:txBody>
      </p:sp>
      <p:sp>
        <p:nvSpPr>
          <p:cNvPr id="28" name="SDPM::strategy.portfolio_matrix::score_label_0" title="SDPM::strategy.portfolio_matrix::score_label_0" descr="SDPM::strategy.portfolio_matrix::score_label_0::slot=main::frameEmu=658368,1444752,7772400,4553712::bboxEmu=6764147,1762252,946658,1013015"/>
          <p:cNvSpPr txBox="1"/>
          <p:nvPr/>
        </p:nvSpPr>
        <p:spPr>
          <a:xfrm>
            <a:off x="6764147" y="1762252"/>
            <a:ext cx="946658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問い合わせ解決</a:t>
            </a:r>
          </a:p>
        </p:txBody>
      </p:sp>
      <p:sp>
        <p:nvSpPr>
          <p:cNvPr id="29" name="SDPM::strategy.portfolio_matrix::score_0" title="SDPM::strategy.portfolio_matrix::score_0" descr="SDPM::strategy.portfolio_matrix::score_0::slot=main::frameEmu=658368,1444752,7772400,4553712::bboxEmu=7742364,1762252,599503,1013015"/>
          <p:cNvSpPr txBox="1"/>
          <p:nvPr/>
        </p:nvSpPr>
        <p:spPr>
          <a:xfrm>
            <a:off x="7742364" y="1762252"/>
            <a:ext cx="599503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62</a:t>
            </a:r>
          </a:p>
        </p:txBody>
      </p:sp>
      <p:sp>
        <p:nvSpPr>
          <p:cNvPr id="30" name="SDPM::strategy.portfolio_matrix::score_label_1" title="SDPM::strategy.portfolio_matrix::score_label_1" descr="SDPM::strategy.portfolio_matrix::score_label_1::slot=main::frameEmu=658368,1444752,7772400,4553712::bboxEmu=6764147,2807017,946658,1013015"/>
          <p:cNvSpPr txBox="1"/>
          <p:nvPr/>
        </p:nvSpPr>
        <p:spPr>
          <a:xfrm>
            <a:off x="6764147" y="2807017"/>
            <a:ext cx="946658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需要予測</a:t>
            </a:r>
          </a:p>
        </p:txBody>
      </p:sp>
      <p:sp>
        <p:nvSpPr>
          <p:cNvPr id="31" name="SDPM::strategy.portfolio_matrix::score_1" title="SDPM::strategy.portfolio_matrix::score_1" descr="SDPM::strategy.portfolio_matrix::score_1::slot=main::frameEmu=658368,1444752,7772400,4553712::bboxEmu=7742364,2807017,599503,1013015"/>
          <p:cNvSpPr txBox="1"/>
          <p:nvPr/>
        </p:nvSpPr>
        <p:spPr>
          <a:xfrm>
            <a:off x="7742364" y="2807017"/>
            <a:ext cx="599503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42</a:t>
            </a:r>
          </a:p>
        </p:txBody>
      </p:sp>
      <p:sp>
        <p:nvSpPr>
          <p:cNvPr id="32" name="SDPM::strategy.portfolio_matrix::score_label_2" title="SDPM::strategy.portfolio_matrix::score_label_2" descr="SDPM::strategy.portfolio_matrix::score_label_2::slot=main::frameEmu=658368,1444752,7772400,4553712::bboxEmu=6764147,3851783,946658,1013015"/>
          <p:cNvSpPr txBox="1"/>
          <p:nvPr/>
        </p:nvSpPr>
        <p:spPr>
          <a:xfrm>
            <a:off x="6764147" y="3851783"/>
            <a:ext cx="946658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開発支援</a:t>
            </a:r>
          </a:p>
        </p:txBody>
      </p:sp>
      <p:sp>
        <p:nvSpPr>
          <p:cNvPr id="33" name="SDPM::strategy.portfolio_matrix::score_2" title="SDPM::strategy.portfolio_matrix::score_2" descr="SDPM::strategy.portfolio_matrix::score_2::slot=main::frameEmu=658368,1444752,7772400,4553712::bboxEmu=7742364,3851783,599503,1013015"/>
          <p:cNvSpPr txBox="1"/>
          <p:nvPr/>
        </p:nvSpPr>
        <p:spPr>
          <a:xfrm>
            <a:off x="7742364" y="3851783"/>
            <a:ext cx="599503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23</a:t>
            </a:r>
          </a:p>
        </p:txBody>
      </p:sp>
      <p:sp>
        <p:nvSpPr>
          <p:cNvPr id="34" name="SDPM::strategy.portfolio_matrix::score_label_3" title="SDPM::strategy.portfolio_matrix::score_label_3" descr="SDPM::strategy.portfolio_matrix::score_label_3::slot=main::frameEmu=658368,1444752,7772400,4553712::bboxEmu=6764147,4896548,946658,1013015"/>
          <p:cNvSpPr txBox="1"/>
          <p:nvPr/>
        </p:nvSpPr>
        <p:spPr>
          <a:xfrm>
            <a:off x="6764147" y="4896548"/>
            <a:ext cx="946658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議事録</a:t>
            </a:r>
          </a:p>
        </p:txBody>
      </p:sp>
      <p:sp>
        <p:nvSpPr>
          <p:cNvPr id="35" name="SDPM::strategy.portfolio_matrix::score_3" title="SDPM::strategy.portfolio_matrix::score_3" descr="SDPM::strategy.portfolio_matrix::score_3::slot=main::frameEmu=658368,1444752,7772400,4553712::bboxEmu=7742364,4896548,599503,1013015"/>
          <p:cNvSpPr txBox="1"/>
          <p:nvPr/>
        </p:nvSpPr>
        <p:spPr>
          <a:xfrm>
            <a:off x="7742364" y="4896548"/>
            <a:ext cx="599503" cy="101301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23</a:t>
            </a:r>
          </a:p>
        </p:txBody>
      </p:sp>
      <p:sp>
        <p:nvSpPr>
          <p:cNvPr id="36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不足はモデルではなく、価値設計と運用能力に集中する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so_what::interpretation" title="SDPM::annotation.so_what::interpretation" descr="SDPM::annotation.so_what::interpretation::slot=interpretation::frameEmu=8046720,5650992,3291840,384048::bboxEmu=8046720,5650992,3291840,139700"/>
          <p:cNvSpPr txBox="1"/>
          <p:nvPr/>
        </p:nvSpPr>
        <p:spPr>
          <a:xfrm>
            <a:off x="8046720" y="5650992"/>
            <a:ext cx="32918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INTERPRETATION</a:t>
            </a:r>
          </a:p>
        </p:txBody>
      </p:sp>
      <p:sp>
        <p:nvSpPr>
          <p:cNvPr id="6" name="SDPM::strategy.capability_map::head_cap" title="SDPM::strategy.capability_map::head_cap" descr="SDPM::strategy.capability_map::head_cap::slot=main::frameEmu=685800,1417320,10835640,4160520::bboxEmu=685800,1417320,1950402,540893"/>
          <p:cNvSpPr/>
          <p:nvPr/>
        </p:nvSpPr>
        <p:spPr>
          <a:xfrm>
            <a:off x="685800" y="1417320"/>
            <a:ext cx="1950402" cy="540893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7" name="SDPM::strategy.capability_map::head_0" title="SDPM::strategy.capability_map::head_0" descr="SDPM::strategy.capability_map::head_0::slot=main::frameEmu=685800,1417320,10835640,4160520::bboxEmu=2636202,1417320,2949067,540893"/>
          <p:cNvSpPr/>
          <p:nvPr/>
        </p:nvSpPr>
        <p:spPr>
          <a:xfrm>
            <a:off x="2636202" y="1417320"/>
            <a:ext cx="2949067" cy="540893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C01</a:t>
            </a:r>
          </a:p>
        </p:txBody>
      </p:sp>
      <p:sp>
        <p:nvSpPr>
          <p:cNvPr id="8" name="SDPM::strategy.capability_map::head_1" title="SDPM::strategy.capability_map::head_1" descr="SDPM::strategy.capability_map::head_1::slot=main::frameEmu=685800,1417320,10835640,4160520::bboxEmu=5604319,1417320,2949067,540893"/>
          <p:cNvSpPr/>
          <p:nvPr/>
        </p:nvSpPr>
        <p:spPr>
          <a:xfrm>
            <a:off x="5604319" y="1417320"/>
            <a:ext cx="2949067" cy="540893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C02</a:t>
            </a:r>
          </a:p>
        </p:txBody>
      </p:sp>
      <p:sp>
        <p:nvSpPr>
          <p:cNvPr id="9" name="SDPM::strategy.capability_map::head_2" title="SDPM::strategy.capability_map::head_2" descr="SDPM::strategy.capability_map::head_2::slot=main::frameEmu=685800,1417320,10835640,4160520::bboxEmu=8572373,1417320,2949067,540893"/>
          <p:cNvSpPr/>
          <p:nvPr/>
        </p:nvSpPr>
        <p:spPr>
          <a:xfrm>
            <a:off x="8572373" y="1417320"/>
            <a:ext cx="2949067" cy="540893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C03</a:t>
            </a:r>
          </a:p>
        </p:txBody>
      </p:sp>
      <p:sp>
        <p:nvSpPr>
          <p:cNvPr id="10" name="SDPM::strategy.capability_map::group_0" title="SDPM::strategy.capability_map::group_0" descr="SDPM::strategy.capability_map::group_0::slot=main::frameEmu=685800,1417320,10835640,4160520::bboxEmu=685800,1983613,1950402,1181163"/>
          <p:cNvSpPr/>
          <p:nvPr/>
        </p:nvSpPr>
        <p:spPr>
          <a:xfrm>
            <a:off x="685800" y="1983613"/>
            <a:ext cx="1950402" cy="1181163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顧客</a:t>
            </a:r>
          </a:p>
        </p:txBody>
      </p:sp>
      <p:sp>
        <p:nvSpPr>
          <p:cNvPr id="11" name="SDPM::strategy.capability_map::cell_0_0" title="SDPM::strategy.capability_map::cell_0_0" descr="SDPM::strategy.capability_map::cell_0_0::slot=main::frameEmu=685800,1417320,10835640,4160520::bboxEmu=2636202,1983613,2949067,1181163"/>
          <p:cNvSpPr/>
          <p:nvPr/>
        </p:nvSpPr>
        <p:spPr>
          <a:xfrm>
            <a:off x="2636202" y="1983613"/>
            <a:ext cx="2949067" cy="1181163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課題定義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2" name="SDPM::strategy.capability_map::cell_0_1" title="SDPM::strategy.capability_map::cell_0_1" descr="SDPM::strategy.capability_map::cell_0_1::slot=main::frameEmu=685800,1417320,10835640,4160520::bboxEmu=5604319,1983613,2949067,1181163"/>
          <p:cNvSpPr/>
          <p:nvPr/>
        </p:nvSpPr>
        <p:spPr>
          <a:xfrm>
            <a:off x="5604319" y="1983613"/>
            <a:ext cx="2949067" cy="1181163"/>
          </a:xfrm>
          <a:prstGeom prst="roundRect">
            <a:avLst/>
          </a:prstGeom>
          <a:solidFill>
            <a:srgbClr val="D45F67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価値</a:t>
            </a:r>
            <a:r>
              <a:rPr sz="1200">
                <a:solidFill>
                  <a:srgbClr val="102A3A"/>
                </a:solidFill>
                <a:latin typeface="Aptos"/>
              </a:rPr>
              <a:t> KPI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M1</a:t>
            </a:r>
          </a:p>
        </p:txBody>
      </p:sp>
      <p:sp>
        <p:nvSpPr>
          <p:cNvPr id="13" name="SDPM::strategy.capability_map::cell_0_2" title="SDPM::strategy.capability_map::cell_0_2" descr="SDPM::strategy.capability_map::cell_0_2::slot=main::frameEmu=685800,1417320,10835640,4160520::bboxEmu=8572373,1983613,2949067,1181163"/>
          <p:cNvSpPr/>
          <p:nvPr/>
        </p:nvSpPr>
        <p:spPr>
          <a:xfrm>
            <a:off x="8572373" y="1983613"/>
            <a:ext cx="2949067" cy="1181163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検証設計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4" name="SDPM::strategy.capability_map::group_1" title="SDPM::strategy.capability_map::group_1" descr="SDPM::strategy.capability_map::group_1::slot=main::frameEmu=685800,1417320,10835640,4160520::bboxEmu=685800,3190113,1950402,1181163"/>
          <p:cNvSpPr/>
          <p:nvPr/>
        </p:nvSpPr>
        <p:spPr>
          <a:xfrm>
            <a:off x="685800" y="3190113"/>
            <a:ext cx="1950402" cy="1181163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業務</a:t>
            </a:r>
          </a:p>
        </p:txBody>
      </p:sp>
      <p:sp>
        <p:nvSpPr>
          <p:cNvPr id="15" name="SDPM::strategy.capability_map::cell_1_0" title="SDPM::strategy.capability_map::cell_1_0" descr="SDPM::strategy.capability_map::cell_1_0::slot=main::frameEmu=685800,1417320,10835640,4160520::bboxEmu=2636202,3190113,2949067,1181163"/>
          <p:cNvSpPr/>
          <p:nvPr/>
        </p:nvSpPr>
        <p:spPr>
          <a:xfrm>
            <a:off x="2636202" y="3190113"/>
            <a:ext cx="2949067" cy="1181163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標準化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6" name="SDPM::strategy.capability_map::cell_1_1" title="SDPM::strategy.capability_map::cell_1_1" descr="SDPM::strategy.capability_map::cell_1_1::slot=main::frameEmu=685800,1417320,10835640,4160520::bboxEmu=5604319,3190113,2949067,1181163"/>
          <p:cNvSpPr/>
          <p:nvPr/>
        </p:nvSpPr>
        <p:spPr>
          <a:xfrm>
            <a:off x="5604319" y="3190113"/>
            <a:ext cx="2949067" cy="1181163"/>
          </a:xfrm>
          <a:prstGeom prst="roundRect">
            <a:avLst/>
          </a:prstGeom>
          <a:solidFill>
            <a:srgbClr val="D45F67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例外処理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M1</a:t>
            </a:r>
          </a:p>
        </p:txBody>
      </p:sp>
      <p:sp>
        <p:nvSpPr>
          <p:cNvPr id="17" name="SDPM::strategy.capability_map::cell_1_2" title="SDPM::strategy.capability_map::cell_1_2" descr="SDPM::strategy.capability_map::cell_1_2::slot=main::frameEmu=685800,1417320,10835640,4160520::bboxEmu=8572373,3190113,2949067,1181163"/>
          <p:cNvSpPr/>
          <p:nvPr/>
        </p:nvSpPr>
        <p:spPr>
          <a:xfrm>
            <a:off x="8572373" y="3190113"/>
            <a:ext cx="2949067" cy="1181163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定着運用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8" name="SDPM::strategy.capability_map::group_2" title="SDPM::strategy.capability_map::group_2" descr="SDPM::strategy.capability_map::group_2::slot=main::frameEmu=685800,1417320,10835640,4160520::bboxEmu=685800,4396676,1950402,1181163"/>
          <p:cNvSpPr/>
          <p:nvPr/>
        </p:nvSpPr>
        <p:spPr>
          <a:xfrm>
            <a:off x="685800" y="4396676"/>
            <a:ext cx="1950402" cy="1181163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基盤</a:t>
            </a:r>
          </a:p>
        </p:txBody>
      </p:sp>
      <p:sp>
        <p:nvSpPr>
          <p:cNvPr id="19" name="SDPM::strategy.capability_map::cell_2_0" title="SDPM::strategy.capability_map::cell_2_0" descr="SDPM::strategy.capability_map::cell_2_0::slot=main::frameEmu=685800,1417320,10835640,4160520::bboxEmu=2636202,4396676,2949067,1181163"/>
          <p:cNvSpPr/>
          <p:nvPr/>
        </p:nvSpPr>
        <p:spPr>
          <a:xfrm>
            <a:off x="2636202" y="4396676"/>
            <a:ext cx="2949067" cy="1181163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データ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20" name="SDPM::strategy.capability_map::cell_2_1" title="SDPM::strategy.capability_map::cell_2_1" descr="SDPM::strategy.capability_map::cell_2_1::slot=main::frameEmu=685800,1417320,10835640,4160520::bboxEmu=5604319,4396676,2949067,1181163"/>
          <p:cNvSpPr/>
          <p:nvPr/>
        </p:nvSpPr>
        <p:spPr>
          <a:xfrm>
            <a:off x="5604319" y="4396676"/>
            <a:ext cx="2949067" cy="1181163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人材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21" name="SDPM::strategy.capability_map::cell_2_2" title="SDPM::strategy.capability_map::cell_2_2" descr="SDPM::strategy.capability_map::cell_2_2::slot=main::frameEmu=685800,1417320,10835640,4160520::bboxEmu=8572373,4396676,2949067,1181163"/>
          <p:cNvSpPr/>
          <p:nvPr/>
        </p:nvSpPr>
        <p:spPr>
          <a:xfrm>
            <a:off x="8572373" y="4396676"/>
            <a:ext cx="2949067" cy="1181163"/>
          </a:xfrm>
          <a:prstGeom prst="roundRect">
            <a:avLst/>
          </a:prstGeom>
          <a:solidFill>
            <a:srgbClr val="D45F67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統制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M1</a:t>
            </a:r>
          </a:p>
        </p:txBody>
      </p:sp>
      <p:sp>
        <p:nvSpPr>
          <p:cNvPr id="22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100">
                <a:solidFill>
                  <a:srgbClr val="123B52"/>
                </a:solidFill>
                <a:latin typeface="Yu Gothic UI"/>
              </a:rPr>
              <a:t>90 </a:t>
            </a:r>
            <a:r>
              <a:rPr lang="ja-JP" sz="3100">
                <a:solidFill>
                  <a:srgbClr val="123B52"/>
                </a:solidFill>
                <a:latin typeface="Yu Gothic UI"/>
              </a:rPr>
              <a:t>日で設計・実装・判定までを一巡させる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21040,5623560,3017520,420624::bboxEmu=8321040,5623560,3017520,139700"/>
          <p:cNvSpPr txBox="1"/>
          <p:nvPr/>
        </p:nvSpPr>
        <p:spPr>
          <a:xfrm>
            <a:off x="8321040" y="5623560"/>
            <a:ext cx="301752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execution.roadmap::head_0" title="SDPM::execution.roadmap::head_0" descr="SDPM::execution.roadmap::head_0::slot=main::frameEmu=640080,1444752,10881360,4114800::bboxEmu=640080,1444752,2682240,292100"/>
          <p:cNvSpPr/>
          <p:nvPr/>
        </p:nvSpPr>
        <p:spPr>
          <a:xfrm>
            <a:off x="640080" y="1444752"/>
            <a:ext cx="2682240" cy="2921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P01  0-30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日</a:t>
            </a:r>
          </a:p>
        </p:txBody>
      </p:sp>
      <p:sp>
        <p:nvSpPr>
          <p:cNvPr id="7" name="SDPM::execution.roadmap::body_0" title="SDPM::execution.roadmap::body_0" descr="SDPM::execution.roadmap::body_0::slot=main::frameEmu=640080,1444752,10881360,4114800::bboxEmu=640080,1787652,2682240,3771900"/>
          <p:cNvSpPr/>
          <p:nvPr/>
        </p:nvSpPr>
        <p:spPr>
          <a:xfrm>
            <a:off x="640080" y="1787652"/>
            <a:ext cx="268224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execution.roadmap::title_0" title="SDPM::execution.roadmap::title_0" descr="SDPM::execution.roadmap::title_0::slot=main::frameEmu=640080,1444752,10881360,4114800::bboxEmu=728980,1889252,2504440,368300"/>
          <p:cNvSpPr txBox="1"/>
          <p:nvPr/>
        </p:nvSpPr>
        <p:spPr>
          <a:xfrm>
            <a:off x="728980" y="1889252"/>
            <a:ext cx="250444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設計</a:t>
            </a:r>
          </a:p>
        </p:txBody>
      </p:sp>
      <p:sp>
        <p:nvSpPr>
          <p:cNvPr id="9" name="SDPM::execution.roadmap::item_0_0" title="SDPM::execution.roadmap::item_0_0" descr="SDPM::execution.roadmap::item_0_0::slot=main::frameEmu=640080,1444752,10881360,4114800::bboxEmu=728980,2346452,2504440,266700"/>
          <p:cNvSpPr txBox="1"/>
          <p:nvPr/>
        </p:nvSpPr>
        <p:spPr>
          <a:xfrm>
            <a:off x="728980" y="23464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業務課題</a:t>
            </a:r>
          </a:p>
        </p:txBody>
      </p:sp>
      <p:sp>
        <p:nvSpPr>
          <p:cNvPr id="10" name="SDPM::execution.roadmap::item_0_1" title="SDPM::execution.roadmap::item_0_1" descr="SDPM::execution.roadmap::item_0_1::slot=main::frameEmu=640080,1444752,10881360,4114800::bboxEmu=728980,2638552,2504440,266700"/>
          <p:cNvSpPr txBox="1"/>
          <p:nvPr/>
        </p:nvSpPr>
        <p:spPr>
          <a:xfrm>
            <a:off x="728980" y="26385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価値</a:t>
            </a:r>
            <a:r>
              <a:rPr sz="1200">
                <a:solidFill>
                  <a:srgbClr val="60758A"/>
                </a:solidFill>
                <a:latin typeface="Yu Gothic UI"/>
              </a:rPr>
              <a:t> KPI</a:t>
            </a:r>
          </a:p>
        </p:txBody>
      </p:sp>
      <p:cxnSp>
        <p:nvCxnSpPr>
          <p:cNvPr id="11" name="SDPM::execution.roadmap::link_0" title="SDPM::execution.roadmap::link_0" descr="SDPM::execution.roadmap::link_0::slot=main::frameEmu=640080,1444752,10881360,4114800::bboxEmu=3322320,3502152,50800,0"/>
          <p:cNvCxnSpPr/>
          <p:nvPr/>
        </p:nvCxnSpPr>
        <p:spPr>
          <a:xfrm>
            <a:off x="3322320" y="3502152"/>
            <a:ext cx="50800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roadmap::head_1" title="SDPM::execution.roadmap::head_1" descr="SDPM::execution.roadmap::head_1::slot=main::frameEmu=640080,1444752,10881360,4114800::bboxEmu=3373120,1444752,2682240,292100"/>
          <p:cNvSpPr/>
          <p:nvPr/>
        </p:nvSpPr>
        <p:spPr>
          <a:xfrm>
            <a:off x="3373120" y="1444752"/>
            <a:ext cx="2682240" cy="29210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P02  31-60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日</a:t>
            </a:r>
          </a:p>
        </p:txBody>
      </p:sp>
      <p:sp>
        <p:nvSpPr>
          <p:cNvPr id="13" name="SDPM::execution.roadmap::body_1" title="SDPM::execution.roadmap::body_1" descr="SDPM::execution.roadmap::body_1::slot=main::frameEmu=640080,1444752,10881360,4114800::bboxEmu=3373120,1787652,2682240,3771900"/>
          <p:cNvSpPr/>
          <p:nvPr/>
        </p:nvSpPr>
        <p:spPr>
          <a:xfrm>
            <a:off x="3373120" y="1787652"/>
            <a:ext cx="268224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execution.roadmap::title_1" title="SDPM::execution.roadmap::title_1" descr="SDPM::execution.roadmap::title_1::slot=main::frameEmu=640080,1444752,10881360,4114800::bboxEmu=3462020,1889252,2504440,368300"/>
          <p:cNvSpPr txBox="1"/>
          <p:nvPr/>
        </p:nvSpPr>
        <p:spPr>
          <a:xfrm>
            <a:off x="3462020" y="1889252"/>
            <a:ext cx="250444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実装</a:t>
            </a:r>
          </a:p>
        </p:txBody>
      </p:sp>
      <p:sp>
        <p:nvSpPr>
          <p:cNvPr id="15" name="SDPM::execution.roadmap::item_1_0" title="SDPM::execution.roadmap::item_1_0" descr="SDPM::execution.roadmap::item_1_0::slot=main::frameEmu=640080,1444752,10881360,4114800::bboxEmu=3462020,2346452,2504440,266700"/>
          <p:cNvSpPr txBox="1"/>
          <p:nvPr/>
        </p:nvSpPr>
        <p:spPr>
          <a:xfrm>
            <a:off x="3462020" y="23464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データ接続</a:t>
            </a:r>
          </a:p>
        </p:txBody>
      </p:sp>
      <p:sp>
        <p:nvSpPr>
          <p:cNvPr id="16" name="SDPM::execution.roadmap::item_1_1" title="SDPM::execution.roadmap::item_1_1" descr="SDPM::execution.roadmap::item_1_1::slot=main::frameEmu=640080,1444752,10881360,4114800::bboxEmu=3462020,2638552,2504440,266700"/>
          <p:cNvSpPr txBox="1"/>
          <p:nvPr/>
        </p:nvSpPr>
        <p:spPr>
          <a:xfrm>
            <a:off x="3462020" y="26385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現場検証</a:t>
            </a:r>
          </a:p>
        </p:txBody>
      </p:sp>
      <p:cxnSp>
        <p:nvCxnSpPr>
          <p:cNvPr id="17" name="SDPM::execution.roadmap::link_1" title="SDPM::execution.roadmap::link_1" descr="SDPM::execution.roadmap::link_1::slot=main::frameEmu=640080,1444752,10881360,4114800::bboxEmu=6055360,3502152,50800,0"/>
          <p:cNvCxnSpPr/>
          <p:nvPr/>
        </p:nvCxnSpPr>
        <p:spPr>
          <a:xfrm>
            <a:off x="6055360" y="3502152"/>
            <a:ext cx="50800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execution.roadmap::head_2" title="SDPM::execution.roadmap::head_2" descr="SDPM::execution.roadmap::head_2::slot=main::frameEmu=640080,1444752,10881360,4114800::bboxEmu=6106160,1444752,2682240,292100"/>
          <p:cNvSpPr/>
          <p:nvPr/>
        </p:nvSpPr>
        <p:spPr>
          <a:xfrm>
            <a:off x="6106160" y="1444752"/>
            <a:ext cx="2682240" cy="29210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P03  61-80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日</a:t>
            </a:r>
          </a:p>
        </p:txBody>
      </p:sp>
      <p:sp>
        <p:nvSpPr>
          <p:cNvPr id="19" name="SDPM::execution.roadmap::body_2" title="SDPM::execution.roadmap::body_2" descr="SDPM::execution.roadmap::body_2::slot=main::frameEmu=640080,1444752,10881360,4114800::bboxEmu=6106160,1787652,2682240,3771900"/>
          <p:cNvSpPr/>
          <p:nvPr/>
        </p:nvSpPr>
        <p:spPr>
          <a:xfrm>
            <a:off x="6106160" y="1787652"/>
            <a:ext cx="268224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execution.roadmap::title_2" title="SDPM::execution.roadmap::title_2" descr="SDPM::execution.roadmap::title_2::slot=main::frameEmu=640080,1444752,10881360,4114800::bboxEmu=6195060,1889252,2504440,368300"/>
          <p:cNvSpPr txBox="1"/>
          <p:nvPr/>
        </p:nvSpPr>
        <p:spPr>
          <a:xfrm>
            <a:off x="6195060" y="1889252"/>
            <a:ext cx="250444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定着</a:t>
            </a:r>
          </a:p>
        </p:txBody>
      </p:sp>
      <p:sp>
        <p:nvSpPr>
          <p:cNvPr id="21" name="SDPM::execution.roadmap::item_2_0" title="SDPM::execution.roadmap::item_2_0" descr="SDPM::execution.roadmap::item_2_0::slot=main::frameEmu=640080,1444752,10881360,4114800::bboxEmu=6195060,2346452,2504440,266700"/>
          <p:cNvSpPr txBox="1"/>
          <p:nvPr/>
        </p:nvSpPr>
        <p:spPr>
          <a:xfrm>
            <a:off x="6195060" y="23464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例外処理</a:t>
            </a:r>
          </a:p>
        </p:txBody>
      </p:sp>
      <p:sp>
        <p:nvSpPr>
          <p:cNvPr id="22" name="SDPM::execution.roadmap::item_2_1" title="SDPM::execution.roadmap::item_2_1" descr="SDPM::execution.roadmap::item_2_1::slot=main::frameEmu=640080,1444752,10881360,4114800::bboxEmu=6195060,2638552,2504440,266700"/>
          <p:cNvSpPr txBox="1"/>
          <p:nvPr/>
        </p:nvSpPr>
        <p:spPr>
          <a:xfrm>
            <a:off x="6195060" y="26385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運用標準</a:t>
            </a:r>
          </a:p>
        </p:txBody>
      </p:sp>
      <p:cxnSp>
        <p:nvCxnSpPr>
          <p:cNvPr id="23" name="SDPM::execution.roadmap::link_2" title="SDPM::execution.roadmap::link_2" descr="SDPM::execution.roadmap::link_2::slot=main::frameEmu=640080,1444752,10881360,4114800::bboxEmu=8788400,3502152,50800,0"/>
          <p:cNvCxnSpPr/>
          <p:nvPr/>
        </p:nvCxnSpPr>
        <p:spPr>
          <a:xfrm>
            <a:off x="8788400" y="3502152"/>
            <a:ext cx="50800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DPM::execution.roadmap::head_3" title="SDPM::execution.roadmap::head_3" descr="SDPM::execution.roadmap::head_3::slot=main::frameEmu=640080,1444752,10881360,4114800::bboxEmu=8839200,1444752,2682240,292100"/>
          <p:cNvSpPr/>
          <p:nvPr/>
        </p:nvSpPr>
        <p:spPr>
          <a:xfrm>
            <a:off x="8839200" y="1444752"/>
            <a:ext cx="2682240" cy="29210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P04  81-90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日</a:t>
            </a:r>
          </a:p>
        </p:txBody>
      </p:sp>
      <p:sp>
        <p:nvSpPr>
          <p:cNvPr id="25" name="SDPM::execution.roadmap::body_3" title="SDPM::execution.roadmap::body_3" descr="SDPM::execution.roadmap::body_3::slot=main::frameEmu=640080,1444752,10881360,4114800::bboxEmu=8839200,1787652,2682240,3771900"/>
          <p:cNvSpPr/>
          <p:nvPr/>
        </p:nvSpPr>
        <p:spPr>
          <a:xfrm>
            <a:off x="8839200" y="1787652"/>
            <a:ext cx="268224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execution.roadmap::title_3" title="SDPM::execution.roadmap::title_3" descr="SDPM::execution.roadmap::title_3::slot=main::frameEmu=640080,1444752,10881360,4114800::bboxEmu=8928100,1889252,2504440,368300"/>
          <p:cNvSpPr txBox="1"/>
          <p:nvPr/>
        </p:nvSpPr>
        <p:spPr>
          <a:xfrm>
            <a:off x="8928100" y="1889252"/>
            <a:ext cx="250444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判定</a:t>
            </a:r>
          </a:p>
        </p:txBody>
      </p:sp>
      <p:sp>
        <p:nvSpPr>
          <p:cNvPr id="27" name="SDPM::execution.roadmap::item_3_0" title="SDPM::execution.roadmap::item_3_0" descr="SDPM::execution.roadmap::item_3_0::slot=main::frameEmu=640080,1444752,10881360,4114800::bboxEmu=8928100,2346452,2504440,266700"/>
          <p:cNvSpPr txBox="1"/>
          <p:nvPr/>
        </p:nvSpPr>
        <p:spPr>
          <a:xfrm>
            <a:off x="8928100" y="23464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効果測定</a:t>
            </a:r>
          </a:p>
        </p:txBody>
      </p:sp>
      <p:sp>
        <p:nvSpPr>
          <p:cNvPr id="28" name="SDPM::execution.roadmap::item_3_1" title="SDPM::execution.roadmap::item_3_1" descr="SDPM::execution.roadmap::item_3_1::slot=main::frameEmu=640080,1444752,10881360,4114800::bboxEmu=8928100,2638552,2504440,266700"/>
          <p:cNvSpPr txBox="1"/>
          <p:nvPr/>
        </p:nvSpPr>
        <p:spPr>
          <a:xfrm>
            <a:off x="8928100" y="2638552"/>
            <a:ext cx="250444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拡大判断</a:t>
            </a:r>
          </a:p>
        </p:txBody>
      </p:sp>
      <p:sp>
        <p:nvSpPr>
          <p:cNvPr id="29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価値・実装・リスクを同じ会議体で判断する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796528,1828800,2542032,2834640::bboxEmu=8796528,1828800,2542032,139700"/>
          <p:cNvSpPr txBox="1"/>
          <p:nvPr/>
        </p:nvSpPr>
        <p:spPr>
          <a:xfrm>
            <a:off x="8796528" y="1828800"/>
            <a:ext cx="25420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execution.governance::code_0" title="SDPM::execution.governance::code_0" descr="SDPM::execution.governance::code_0::slot=main::frameEmu=685800,1444752,7818120,4553712::bboxEmu=685800,1444752,1094549,1458658"/>
          <p:cNvSpPr txBox="1"/>
          <p:nvPr/>
        </p:nvSpPr>
        <p:spPr>
          <a:xfrm>
            <a:off x="685800" y="1444752"/>
            <a:ext cx="1094549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GOV-01</a:t>
            </a:r>
          </a:p>
        </p:txBody>
      </p:sp>
      <p:sp>
        <p:nvSpPr>
          <p:cNvPr id="7" name="SDPM::execution.governance::node_0" title="SDPM::execution.governance::node_0" descr="SDPM::execution.governance::node_0::slot=main::frameEmu=685800,1444752,7818120,4553712::bboxEmu=2249424,1444752,3752723,1458658"/>
          <p:cNvSpPr/>
          <p:nvPr/>
        </p:nvSpPr>
        <p:spPr>
          <a:xfrm>
            <a:off x="2249424" y="1444752"/>
            <a:ext cx="3752723" cy="1458658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Steering Committee</a:t>
            </a:r>
          </a:p>
        </p:txBody>
      </p:sp>
      <p:sp>
        <p:nvSpPr>
          <p:cNvPr id="8" name="SDPM::execution.governance::detail_0" title="SDPM::execution.governance::detail_0" descr="SDPM::execution.governance::detail_0::slot=main::frameEmu=685800,1444752,7818120,4553712::bboxEmu=6314821,1444752,2189099,1458658"/>
          <p:cNvSpPr txBox="1"/>
          <p:nvPr/>
        </p:nvSpPr>
        <p:spPr>
          <a:xfrm>
            <a:off x="6314821" y="1444752"/>
            <a:ext cx="2189099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0758A"/>
                </a:solidFill>
                <a:latin typeface="Yu Gothic UI"/>
              </a:rPr>
              <a:t>隔週・投資判断</a:t>
            </a:r>
          </a:p>
        </p:txBody>
      </p:sp>
      <p:cxnSp>
        <p:nvCxnSpPr>
          <p:cNvPr id="9" name="SDPM::execution.governance::link_0" title="SDPM::execution.governance::link_0" descr="SDPM::execution.governance::link_0::slot=main::frameEmu=685800,1444752,7818120,4553712::bboxEmu=4438523,2903410,0,88900"/>
          <p:cNvCxnSpPr/>
          <p:nvPr/>
        </p:nvCxnSpPr>
        <p:spPr>
          <a:xfrm>
            <a:off x="4438523" y="2903410"/>
            <a:ext cx="0" cy="88900"/>
          </a:xfrm>
          <a:prstGeom prst="line">
            <a:avLst/>
          </a:prstGeom>
          <a:ln w="1905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DPM::execution.governance::code_1" title="SDPM::execution.governance::code_1" descr="SDPM::execution.governance::code_1::slot=main::frameEmu=685800,1444752,7818120,4553712::bboxEmu=685800,2992310,1094549,1458658"/>
          <p:cNvSpPr txBox="1"/>
          <p:nvPr/>
        </p:nvSpPr>
        <p:spPr>
          <a:xfrm>
            <a:off x="685800" y="2992310"/>
            <a:ext cx="1094549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GOV-02</a:t>
            </a:r>
          </a:p>
        </p:txBody>
      </p:sp>
      <p:sp>
        <p:nvSpPr>
          <p:cNvPr id="11" name="SDPM::execution.governance::node_1" title="SDPM::execution.governance::node_1" descr="SDPM::execution.governance::node_1::slot=main::frameEmu=685800,1444752,7818120,4553712::bboxEmu=2249424,2992310,3752723,1458658"/>
          <p:cNvSpPr/>
          <p:nvPr/>
        </p:nvSpPr>
        <p:spPr>
          <a:xfrm>
            <a:off x="2249424" y="2992310"/>
            <a:ext cx="3752723" cy="1458658"/>
          </a:xfrm>
          <a:prstGeom prst="round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Value Office</a:t>
            </a:r>
          </a:p>
        </p:txBody>
      </p:sp>
      <p:sp>
        <p:nvSpPr>
          <p:cNvPr id="12" name="SDPM::execution.governance::detail_1" title="SDPM::execution.governance::detail_1" descr="SDPM::execution.governance::detail_1::slot=main::frameEmu=685800,1444752,7818120,4553712::bboxEmu=6314821,2992310,2189099,1458658"/>
          <p:cNvSpPr txBox="1"/>
          <p:nvPr/>
        </p:nvSpPr>
        <p:spPr>
          <a:xfrm>
            <a:off x="6314821" y="2992310"/>
            <a:ext cx="2189099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0758A"/>
                </a:solidFill>
                <a:latin typeface="Yu Gothic UI"/>
              </a:rPr>
              <a:t>週次・価値</a:t>
            </a:r>
            <a:r>
              <a:rPr sz="1200">
                <a:solidFill>
                  <a:srgbClr val="60758A"/>
                </a:solidFill>
                <a:latin typeface="Yu Gothic UI"/>
              </a:rPr>
              <a:t> /KPI</a:t>
            </a:r>
          </a:p>
        </p:txBody>
      </p:sp>
      <p:cxnSp>
        <p:nvCxnSpPr>
          <p:cNvPr id="13" name="SDPM::execution.governance::link_1" title="SDPM::execution.governance::link_1" descr="SDPM::execution.governance::link_1::slot=main::frameEmu=685800,1444752,7818120,4553712::bboxEmu=4438523,4450905,0,88900"/>
          <p:cNvCxnSpPr/>
          <p:nvPr/>
        </p:nvCxnSpPr>
        <p:spPr>
          <a:xfrm>
            <a:off x="4438523" y="4450905"/>
            <a:ext cx="0" cy="88900"/>
          </a:xfrm>
          <a:prstGeom prst="line">
            <a:avLst/>
          </a:prstGeom>
          <a:ln w="1905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execution.governance::code_2" title="SDPM::execution.governance::code_2" descr="SDPM::execution.governance::code_2::slot=main::frameEmu=685800,1444752,7818120,4553712::bboxEmu=685800,4539805,1094549,1458658"/>
          <p:cNvSpPr txBox="1"/>
          <p:nvPr/>
        </p:nvSpPr>
        <p:spPr>
          <a:xfrm>
            <a:off x="685800" y="4539805"/>
            <a:ext cx="1094549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GOV-03</a:t>
            </a:r>
          </a:p>
        </p:txBody>
      </p:sp>
      <p:sp>
        <p:nvSpPr>
          <p:cNvPr id="15" name="SDPM::execution.governance::node_2" title="SDPM::execution.governance::node_2" descr="SDPM::execution.governance::node_2::slot=main::frameEmu=685800,1444752,7818120,4553712::bboxEmu=2249424,4539805,3752723,1458658"/>
          <p:cNvSpPr/>
          <p:nvPr/>
        </p:nvSpPr>
        <p:spPr>
          <a:xfrm>
            <a:off x="2249424" y="4539805"/>
            <a:ext cx="3752723" cy="14586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500">
                <a:solidFill>
                  <a:srgbClr val="102A3A"/>
                </a:solidFill>
                <a:latin typeface="Aptos"/>
              </a:rPr>
              <a:t>Delivery Teams</a:t>
            </a:r>
          </a:p>
        </p:txBody>
      </p:sp>
      <p:sp>
        <p:nvSpPr>
          <p:cNvPr id="16" name="SDPM::execution.governance::detail_2" title="SDPM::execution.governance::detail_2" descr="SDPM::execution.governance::detail_2::slot=main::frameEmu=685800,1444752,7818120,4553712::bboxEmu=6314821,4539805,2189099,1458658"/>
          <p:cNvSpPr txBox="1"/>
          <p:nvPr/>
        </p:nvSpPr>
        <p:spPr>
          <a:xfrm>
            <a:off x="6314821" y="4539805"/>
            <a:ext cx="2189099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0758A"/>
                </a:solidFill>
                <a:latin typeface="Yu Gothic UI"/>
              </a:rPr>
              <a:t>日次・実装</a:t>
            </a:r>
            <a:r>
              <a:rPr sz="1200">
                <a:solidFill>
                  <a:srgbClr val="60758A"/>
                </a:solidFill>
                <a:latin typeface="Yu Gothic UI"/>
              </a:rPr>
              <a:t> /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運用</a:t>
            </a:r>
          </a:p>
        </p:txBody>
      </p:sp>
      <p:sp>
        <p:nvSpPr>
          <p:cNvPr id="17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123B52"/>
                </a:solidFill>
                <a:latin typeface="Yu Gothic UI"/>
              </a:rPr>
              <a:t>本日は、対象業務・責任者・価値</a:t>
            </a:r>
            <a:r>
              <a:rPr sz="3100">
                <a:solidFill>
                  <a:srgbClr val="123B52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123B52"/>
                </a:solidFill>
                <a:latin typeface="Yu Gothic UI"/>
              </a:rPr>
              <a:t>を決める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39328,1783080,2999232,3200400::bboxEmu=8339328,1783080,2999232,139700"/>
          <p:cNvSpPr txBox="1"/>
          <p:nvPr/>
        </p:nvSpPr>
        <p:spPr>
          <a:xfrm>
            <a:off x="8339328" y="1783080"/>
            <a:ext cx="29992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narrative.recommendation_actions::rec_bg" title="SDPM::narrative.recommendation_actions::rec_bg" descr="SDPM::narrative.recommendation_actions::rec_bg::slot=main::frameEmu=594360,1444752,7452360,4553712::bboxEmu=594360,1444752,4248721,4553712"/>
          <p:cNvSpPr/>
          <p:nvPr/>
        </p:nvSpPr>
        <p:spPr>
          <a:xfrm>
            <a:off x="594360" y="1444752"/>
            <a:ext cx="4248721" cy="4553712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recommendation_actions::label" title="SDPM::narrative.recommendation_actions::label" descr="SDPM::narrative.recommendation_actions::label::slot=main::frameEmu=594360,1444752,7452360,4553712::bboxEmu=721360,1546352,3994721,152400"/>
          <p:cNvSpPr txBox="1"/>
          <p:nvPr/>
        </p:nvSpPr>
        <p:spPr>
          <a:xfrm>
            <a:off x="721360" y="1546352"/>
            <a:ext cx="3994721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DECISION PACKAGE</a:t>
            </a:r>
          </a:p>
        </p:txBody>
      </p:sp>
      <p:sp>
        <p:nvSpPr>
          <p:cNvPr id="8" name="SDPM::narrative.recommendation_actions::recommendation" title="SDPM::narrative.recommendation_actions::recommendation" descr="SDPM::narrative.recommendation_actions::recommendation::slot=main::frameEmu=594360,1444752,7452360,4553712::bboxEmu=734060,1787652,3969321,3702812"/>
          <p:cNvSpPr txBox="1"/>
          <p:nvPr/>
        </p:nvSpPr>
        <p:spPr>
          <a:xfrm>
            <a:off x="734060" y="1787652"/>
            <a:ext cx="3969321" cy="37028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400">
                <a:solidFill>
                  <a:srgbClr val="FFFFFF"/>
                </a:solidFill>
                <a:latin typeface="Yu Gothic UI"/>
              </a:rPr>
              <a:t>対象業務を一つに絞り、業務責任者と価値</a:t>
            </a:r>
            <a:r>
              <a:rPr sz="2400">
                <a:solidFill>
                  <a:srgbClr val="FFFFFF"/>
                </a:solidFill>
                <a:latin typeface="Yu Gothic UI"/>
              </a:rPr>
              <a:t> KPI </a:t>
            </a:r>
            <a:r>
              <a:rPr lang="ja-JP" sz="2400">
                <a:solidFill>
                  <a:srgbClr val="FFFFFF"/>
                </a:solidFill>
                <a:latin typeface="Yu Gothic UI"/>
              </a:rPr>
              <a:t>を置いて</a:t>
            </a:r>
            <a:r>
              <a:rPr sz="2400">
                <a:solidFill>
                  <a:srgbClr val="FFFFFF"/>
                </a:solidFill>
                <a:latin typeface="Yu Gothic UI"/>
              </a:rPr>
              <a:t> 90 </a:t>
            </a:r>
            <a:r>
              <a:rPr lang="ja-JP" sz="2400">
                <a:solidFill>
                  <a:srgbClr val="FFFFFF"/>
                </a:solidFill>
                <a:latin typeface="Yu Gothic UI"/>
              </a:rPr>
              <a:t>日</a:t>
            </a:r>
            <a:r>
              <a:rPr sz="2400">
                <a:solidFill>
                  <a:srgbClr val="FFFFFF"/>
                </a:solidFill>
                <a:latin typeface="Yu Gothic UI"/>
              </a:rPr>
              <a:t> PoC </a:t>
            </a:r>
            <a:r>
              <a:rPr lang="ja-JP" sz="2400">
                <a:solidFill>
                  <a:srgbClr val="FFFFFF"/>
                </a:solidFill>
                <a:latin typeface="Yu Gothic UI"/>
              </a:rPr>
              <a:t>を開始する</a:t>
            </a:r>
          </a:p>
        </p:txBody>
      </p:sp>
      <p:sp>
        <p:nvSpPr>
          <p:cNvPr id="9" name="SDPM::narrative.recommendation_actions::decision" title="SDPM::narrative.recommendation_actions::decision" descr="SDPM::narrative.recommendation_actions::decision::slot=main::frameEmu=594360,1444752,7452360,4553712::bboxEmu=734060,5604764,3969321,292100"/>
          <p:cNvSpPr txBox="1"/>
          <p:nvPr/>
        </p:nvSpPr>
        <p:spPr>
          <a:xfrm>
            <a:off x="734060" y="5604764"/>
            <a:ext cx="3969321" cy="292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0E8AA6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0E8AA6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日</a:t>
            </a:r>
            <a:r>
              <a:rPr sz="1200">
                <a:solidFill>
                  <a:srgbClr val="0E8AA6"/>
                </a:solidFill>
                <a:latin typeface="Yu Gothic UI"/>
              </a:rPr>
              <a:t> PoC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を開始するか</a:t>
            </a:r>
          </a:p>
        </p:txBody>
      </p:sp>
      <p:sp>
        <p:nvSpPr>
          <p:cNvPr id="10" name="SDPM::narrative.recommendation_actions::action_bg_0" title="SDPM::narrative.recommendation_actions::action_bg_0" descr="SDPM::narrative.recommendation_actions::action_bg_0::slot=main::frameEmu=594360,1444752,7452360,4553712::bboxEmu=4970081,1444752,3076638,1484058"/>
          <p:cNvSpPr/>
          <p:nvPr/>
        </p:nvSpPr>
        <p:spPr>
          <a:xfrm>
            <a:off x="4970081" y="1444752"/>
            <a:ext cx="3076638" cy="1484058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narrative.recommendation_actions::index_0" title="SDPM::narrative.recommendation_actions::index_0" descr="SDPM::narrative.recommendation_actions::index_0::slot=main::frameEmu=594360,1444752,7452360,4553712::bboxEmu=5046281,1444752,430720,1484058"/>
          <p:cNvSpPr txBox="1"/>
          <p:nvPr/>
        </p:nvSpPr>
        <p:spPr>
          <a:xfrm>
            <a:off x="5046281" y="1444752"/>
            <a:ext cx="430720" cy="1484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A01</a:t>
            </a:r>
          </a:p>
        </p:txBody>
      </p:sp>
      <p:sp>
        <p:nvSpPr>
          <p:cNvPr id="12" name="SDPM::narrative.recommendation_actions::action_0" title="SDPM::narrative.recommendation_actions::action_0" descr="SDPM::narrative.recommendation_actions::action_0::slot=main::frameEmu=594360,1444752,7452360,4553712::bboxEmu=5523865,1444752,2399792,1484058"/>
          <p:cNvSpPr txBox="1"/>
          <p:nvPr/>
        </p:nvSpPr>
        <p:spPr>
          <a:xfrm>
            <a:off x="5523865" y="1444752"/>
            <a:ext cx="2399792" cy="1484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対象業務と顧客価値を確定</a:t>
            </a:r>
          </a:p>
        </p:txBody>
      </p:sp>
      <p:sp>
        <p:nvSpPr>
          <p:cNvPr id="13" name="SDPM::narrative.recommendation_actions::action_bg_1" title="SDPM::narrative.recommendation_actions::action_bg_1" descr="SDPM::narrative.recommendation_actions::action_bg_1::slot=main::frameEmu=594360,1444752,7452360,4553712::bboxEmu=4970081,2979610,3076638,1484058"/>
          <p:cNvSpPr/>
          <p:nvPr/>
        </p:nvSpPr>
        <p:spPr>
          <a:xfrm>
            <a:off x="4970081" y="2979610"/>
            <a:ext cx="3076638" cy="1484058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narrative.recommendation_actions::index_1" title="SDPM::narrative.recommendation_actions::index_1" descr="SDPM::narrative.recommendation_actions::index_1::slot=main::frameEmu=594360,1444752,7452360,4553712::bboxEmu=5046281,2979610,430720,1484058"/>
          <p:cNvSpPr txBox="1"/>
          <p:nvPr/>
        </p:nvSpPr>
        <p:spPr>
          <a:xfrm>
            <a:off x="5046281" y="2979610"/>
            <a:ext cx="430720" cy="1484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A02</a:t>
            </a:r>
          </a:p>
        </p:txBody>
      </p:sp>
      <p:sp>
        <p:nvSpPr>
          <p:cNvPr id="15" name="SDPM::narrative.recommendation_actions::action_1" title="SDPM::narrative.recommendation_actions::action_1" descr="SDPM::narrative.recommendation_actions::action_1::slot=main::frameEmu=594360,1444752,7452360,4553712::bboxEmu=5523865,2979610,2399792,1484058"/>
          <p:cNvSpPr txBox="1"/>
          <p:nvPr/>
        </p:nvSpPr>
        <p:spPr>
          <a:xfrm>
            <a:off x="5523865" y="2979610"/>
            <a:ext cx="2399792" cy="1484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責任者と横断チームを任命</a:t>
            </a:r>
          </a:p>
        </p:txBody>
      </p:sp>
      <p:sp>
        <p:nvSpPr>
          <p:cNvPr id="16" name="SDPM::narrative.recommendation_actions::action_bg_2" title="SDPM::narrative.recommendation_actions::action_bg_2" descr="SDPM::narrative.recommendation_actions::action_bg_2::slot=main::frameEmu=594360,1444752,7452360,4553712::bboxEmu=4970081,4514405,3076638,1484058"/>
          <p:cNvSpPr/>
          <p:nvPr/>
        </p:nvSpPr>
        <p:spPr>
          <a:xfrm>
            <a:off x="4970081" y="4514405"/>
            <a:ext cx="3076638" cy="1484058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narrative.recommendation_actions::index_2" title="SDPM::narrative.recommendation_actions::index_2" descr="SDPM::narrative.recommendation_actions::index_2::slot=main::frameEmu=594360,1444752,7452360,4553712::bboxEmu=5046281,4514405,430720,1484058"/>
          <p:cNvSpPr txBox="1"/>
          <p:nvPr/>
        </p:nvSpPr>
        <p:spPr>
          <a:xfrm>
            <a:off x="5046281" y="4514405"/>
            <a:ext cx="430720" cy="1484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A03</a:t>
            </a:r>
          </a:p>
        </p:txBody>
      </p:sp>
      <p:sp>
        <p:nvSpPr>
          <p:cNvPr id="18" name="SDPM::narrative.recommendation_actions::action_2" title="SDPM::narrative.recommendation_actions::action_2" descr="SDPM::narrative.recommendation_actions::action_2::slot=main::frameEmu=594360,1444752,7452360,4553712::bboxEmu=5523865,4514405,2399792,1484058"/>
          <p:cNvSpPr txBox="1"/>
          <p:nvPr/>
        </p:nvSpPr>
        <p:spPr>
          <a:xfrm>
            <a:off x="5523865" y="4514405"/>
            <a:ext cx="2399792" cy="1484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300">
                <a:solidFill>
                  <a:srgbClr val="102A3A"/>
                </a:solidFill>
                <a:latin typeface="Yu Gothic UI"/>
              </a:rPr>
              <a:t>90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日後の拡大条件を合意</a:t>
            </a:r>
          </a:p>
        </p:txBody>
      </p:sp>
      <p:sp>
        <p:nvSpPr>
          <p:cNvPr id="19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出典：</a:t>
            </a:r>
            <a:r>
              <a:rPr sz="1200">
                <a:solidFill>
                  <a:srgbClr val="60758A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6</cp:revision>
  <dcterms:created xsi:type="dcterms:W3CDTF">2013-01-27T09:14:16Z</dcterms:created>
  <dcterms:modified xsi:type="dcterms:W3CDTF">2026-04-21T05:50:21Z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