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29231F"/>
                </a:solidFill>
                <a:latin typeface="Yu Gothic UI"/>
              </a:rPr>
              <a:t>価値創出には、顧客・業務・実行基盤を一体で変えるを説明する。数値は統合検証用デモ。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29231F"/>
                </a:solidFill>
                <a:latin typeface="Yu Gothic UI"/>
              </a:rPr>
              <a:t>導入量より、価値へ接続したユースケースが不足しているを説明する。数値は統合検証用デモ。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29231F"/>
                </a:solidFill>
                <a:latin typeface="Yu Gothic UI"/>
              </a:rPr>
              <a:t>部分最適・曖昧な</a:t>
            </a:r>
            <a:r>
              <a:rPr>
                <a:solidFill>
                  <a:srgbClr val="29231F"/>
                </a:solidFill>
                <a:latin typeface="Aptos"/>
              </a:rPr>
              <a:t> KPI </a:t>
            </a:r>
            <a:r>
              <a:rPr lang="ja-JP">
                <a:solidFill>
                  <a:srgbClr val="29231F"/>
                </a:solidFill>
                <a:latin typeface="Yu Gothic UI"/>
              </a:rPr>
              <a:t>・分断運営が価値化を止めるを説明する。数値は統合検証用デモ。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29231F"/>
                </a:solidFill>
                <a:latin typeface="Yu Gothic UI"/>
              </a:rPr>
              <a:t>最初の</a:t>
            </a:r>
            <a:r>
              <a:rPr>
                <a:solidFill>
                  <a:srgbClr val="29231F"/>
                </a:solidFill>
                <a:latin typeface="Aptos"/>
              </a:rPr>
              <a:t> 90 </a:t>
            </a:r>
            <a:r>
              <a:rPr lang="ja-JP">
                <a:solidFill>
                  <a:srgbClr val="29231F"/>
                </a:solidFill>
                <a:latin typeface="Yu Gothic UI"/>
              </a:rPr>
              <a:t>日は、価値が高く実装可能な領域へ集中するを説明する。数値は統合検証用デモ。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29231F"/>
                </a:solidFill>
                <a:latin typeface="Yu Gothic UI"/>
              </a:rPr>
              <a:t>不足はモデルではなく、価値設計と運用能力に集中するを説明する。数値は統合検証用デモ。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29231F"/>
                </a:solidFill>
                <a:latin typeface="Aptos"/>
              </a:rPr>
              <a:t>90 </a:t>
            </a:r>
            <a:r>
              <a:rPr lang="ja-JP">
                <a:solidFill>
                  <a:srgbClr val="29231F"/>
                </a:solidFill>
                <a:latin typeface="Yu Gothic UI"/>
              </a:rPr>
              <a:t>日で設計・実装・判定までを一巡させるを説明する。数値は統合検証用デモ。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29231F"/>
                </a:solidFill>
                <a:latin typeface="Yu Gothic UI"/>
              </a:rPr>
              <a:t>価値・実装・リスクを同じ会議体で判断するを説明する。数値は統合検証用デモ。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29231F"/>
                </a:solidFill>
                <a:latin typeface="Yu Gothic UI"/>
              </a:rPr>
              <a:t>本日は、対象業務・責任者・価値</a:t>
            </a:r>
            <a:r>
              <a:rPr>
                <a:solidFill>
                  <a:srgbClr val="29231F"/>
                </a:solidFill>
                <a:latin typeface="Aptos"/>
              </a:rPr>
              <a:t> KPI </a:t>
            </a:r>
            <a:r>
              <a:rPr lang="ja-JP">
                <a:solidFill>
                  <a:srgbClr val="29231F"/>
                </a:solidFill>
                <a:latin typeface="Yu Gothic UI"/>
              </a:rPr>
              <a:t>を決めるを説明する。数値は統合検証用デモ。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10664687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3886200"/>
            <a:ext cx="10664687" cy="904461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Sustitle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37930"/>
            <a:ext cx="11022496" cy="725557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263E4C"/>
                </a:solidFill>
                <a:latin typeface="Yu Gothic UI"/>
              </a:rPr>
              <a:t>価値創出には、顧客・業務・実行基盤を一体で変える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narrative.executive_summary::wash" title="SDPM::narrative.executive_summary::wash" descr="SDPM::narrative.executive_summary::wash::slot=main::frameEmu=594360,1444752,10972800,4553712::bboxEmu=594360,1444752,3848671,4553712"/>
          <p:cNvSpPr/>
          <p:nvPr/>
        </p:nvSpPr>
        <p:spPr>
          <a:xfrm>
            <a:off x="594360" y="1444752"/>
            <a:ext cx="3848671" cy="4553712"/>
          </a:xfrm>
          <a:prstGeom prst="roundRect">
            <a:avLst/>
          </a:prstGeom>
          <a:solidFill>
            <a:srgbClr val="F1EC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DPM::narrative.executive_summary::kicker" title="SDPM::narrative.executive_summary::kicker" descr="SDPM::narrative.executive_summary::kicker::slot=main::frameEmu=594360,1444752,10972800,4553712::bboxEmu=594360,1444752,4475226,190500"/>
          <p:cNvSpPr txBox="1"/>
          <p:nvPr/>
        </p:nvSpPr>
        <p:spPr>
          <a:xfrm>
            <a:off x="594360" y="1444752"/>
            <a:ext cx="4475226" cy="190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EXECUTIVE SUMMARY</a:t>
            </a:r>
          </a:p>
        </p:txBody>
      </p:sp>
      <p:cxnSp>
        <p:nvCxnSpPr>
          <p:cNvPr id="7" name="SDPM::narrative.executive_summary::kicker_rule" title="SDPM::narrative.executive_summary::kicker_rule" descr="SDPM::narrative.executive_summary::kicker_rule::slot=main::frameEmu=594360,1444752,10972800,4553712::bboxEmu=594360,1622552,698500,0"/>
          <p:cNvCxnSpPr/>
          <p:nvPr/>
        </p:nvCxnSpPr>
        <p:spPr>
          <a:xfrm>
            <a:off x="594360" y="1622552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narrative.executive_summary::hero" title="SDPM::narrative.executive_summary::hero" descr="SDPM::narrative.executive_summary::hero::slot=main::frameEmu=594360,1444752,10972800,4553712::bboxEmu=594360,1813052,4322826,4185412"/>
          <p:cNvSpPr txBox="1"/>
          <p:nvPr/>
        </p:nvSpPr>
        <p:spPr>
          <a:xfrm>
            <a:off x="594360" y="1813052"/>
            <a:ext cx="4322826" cy="418541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800">
                <a:solidFill>
                  <a:srgbClr val="263E4C"/>
                </a:solidFill>
                <a:latin typeface="Yu Gothic UI"/>
              </a:rPr>
              <a:t>顧客価値・業務設計・実行基盤を同時に変える</a:t>
            </a:r>
          </a:p>
        </p:txBody>
      </p:sp>
      <p:sp>
        <p:nvSpPr>
          <p:cNvPr id="9" name="SDPM::narrative.executive_summary::index_0" title="SDPM::narrative.executive_summary::index_0" descr="SDPM::narrative.executive_summary::index_0::slot=main::frameEmu=594360,1444752,10972800,4553712::bboxEmu=5387086,1444752,368300,1081278"/>
          <p:cNvSpPr txBox="1"/>
          <p:nvPr/>
        </p:nvSpPr>
        <p:spPr>
          <a:xfrm>
            <a:off x="5387086" y="1444752"/>
            <a:ext cx="368300" cy="108127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200">
                <a:solidFill>
                  <a:srgbClr val="A45A3A"/>
                </a:solidFill>
                <a:latin typeface="Yu Gothic UI"/>
              </a:rPr>
              <a:t>01</a:t>
            </a:r>
          </a:p>
        </p:txBody>
      </p:sp>
      <p:sp>
        <p:nvSpPr>
          <p:cNvPr id="10" name="SDPM::narrative.executive_summary::title_0" title="SDPM::narrative.executive_summary::title_0" descr="SDPM::narrative.executive_summary::title_0::slot=main::frameEmu=594360,1444752,10972800,4553712::bboxEmu=5869686,1495552,5697474,215900"/>
          <p:cNvSpPr txBox="1"/>
          <p:nvPr/>
        </p:nvSpPr>
        <p:spPr>
          <a:xfrm>
            <a:off x="5869686" y="1495552"/>
            <a:ext cx="5697474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700">
                <a:solidFill>
                  <a:srgbClr val="29231F"/>
                </a:solidFill>
                <a:latin typeface="Yu Gothic UI"/>
              </a:rPr>
              <a:t>顧客を選ぶ</a:t>
            </a:r>
          </a:p>
        </p:txBody>
      </p:sp>
      <p:sp>
        <p:nvSpPr>
          <p:cNvPr id="11" name="SDPM::narrative.executive_summary::body_0" title="SDPM::narrative.executive_summary::body_0" descr="SDPM::narrative.executive_summary::body_0::slot=main::frameEmu=594360,1444752,10972800,4553712::bboxEmu=5869686,1774952,5697474,700278"/>
          <p:cNvSpPr txBox="1"/>
          <p:nvPr/>
        </p:nvSpPr>
        <p:spPr>
          <a:xfrm>
            <a:off x="5869686" y="1774952"/>
            <a:ext cx="5697474" cy="70027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成果が明確な重点顧客に集中</a:t>
            </a:r>
          </a:p>
        </p:txBody>
      </p:sp>
      <p:cxnSp>
        <p:nvCxnSpPr>
          <p:cNvPr id="12" name="SDPM::narrative.executive_summary::divider_0" title="SDPM::narrative.executive_summary::divider_0" descr="SDPM::narrative.executive_summary::divider_0::slot=main::frameEmu=594360,1444752,10972800,4553712::bboxEmu=5869686,2557780,5697474,0"/>
          <p:cNvCxnSpPr/>
          <p:nvPr/>
        </p:nvCxnSpPr>
        <p:spPr>
          <a:xfrm>
            <a:off x="5869686" y="2557780"/>
            <a:ext cx="5697474" cy="0"/>
          </a:xfrm>
          <a:prstGeom prst="line">
            <a:avLst/>
          </a:prstGeom>
          <a:ln w="1143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narrative.executive_summary::index_1" title="SDPM::narrative.executive_summary::index_1" descr="SDPM::narrative.executive_summary::index_1::slot=main::frameEmu=594360,1444752,10972800,4553712::bboxEmu=5387086,2602230,368300,1081278"/>
          <p:cNvSpPr txBox="1"/>
          <p:nvPr/>
        </p:nvSpPr>
        <p:spPr>
          <a:xfrm>
            <a:off x="5387086" y="2602230"/>
            <a:ext cx="368300" cy="108127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200">
                <a:solidFill>
                  <a:srgbClr val="A45A3A"/>
                </a:solidFill>
                <a:latin typeface="Yu Gothic UI"/>
              </a:rPr>
              <a:t>02</a:t>
            </a:r>
          </a:p>
        </p:txBody>
      </p:sp>
      <p:sp>
        <p:nvSpPr>
          <p:cNvPr id="14" name="SDPM::narrative.executive_summary::title_1" title="SDPM::narrative.executive_summary::title_1" descr="SDPM::narrative.executive_summary::title_1::slot=main::frameEmu=594360,1444752,10972800,4553712::bboxEmu=5869686,2653030,5697474,215900"/>
          <p:cNvSpPr txBox="1"/>
          <p:nvPr/>
        </p:nvSpPr>
        <p:spPr>
          <a:xfrm>
            <a:off x="5869686" y="2653030"/>
            <a:ext cx="5697474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700">
                <a:solidFill>
                  <a:srgbClr val="29231F"/>
                </a:solidFill>
                <a:latin typeface="Yu Gothic UI"/>
              </a:rPr>
              <a:t>業務を変える</a:t>
            </a:r>
          </a:p>
        </p:txBody>
      </p:sp>
      <p:sp>
        <p:nvSpPr>
          <p:cNvPr id="15" name="SDPM::narrative.executive_summary::body_1" title="SDPM::narrative.executive_summary::body_1" descr="SDPM::narrative.executive_summary::body_1::slot=main::frameEmu=594360,1444752,10972800,4553712::bboxEmu=5869686,2932430,5697474,700278"/>
          <p:cNvSpPr txBox="1"/>
          <p:nvPr/>
        </p:nvSpPr>
        <p:spPr>
          <a:xfrm>
            <a:off x="5869686" y="2932430"/>
            <a:ext cx="5697474" cy="70027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個人利用からプロセス実装へ</a:t>
            </a:r>
          </a:p>
        </p:txBody>
      </p:sp>
      <p:cxnSp>
        <p:nvCxnSpPr>
          <p:cNvPr id="16" name="SDPM::narrative.executive_summary::divider_1" title="SDPM::narrative.executive_summary::divider_1" descr="SDPM::narrative.executive_summary::divider_1::slot=main::frameEmu=594360,1444752,10972800,4553712::bboxEmu=5869686,3715258,5697474,0"/>
          <p:cNvCxnSpPr/>
          <p:nvPr/>
        </p:nvCxnSpPr>
        <p:spPr>
          <a:xfrm>
            <a:off x="5869686" y="3715258"/>
            <a:ext cx="5697474" cy="0"/>
          </a:xfrm>
          <a:prstGeom prst="line">
            <a:avLst/>
          </a:prstGeom>
          <a:ln w="1143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narrative.executive_summary::index_2" title="SDPM::narrative.executive_summary::index_2" descr="SDPM::narrative.executive_summary::index_2::slot=main::frameEmu=594360,1444752,10972800,4553712::bboxEmu=5387086,3759708,368300,1081278"/>
          <p:cNvSpPr txBox="1"/>
          <p:nvPr/>
        </p:nvSpPr>
        <p:spPr>
          <a:xfrm>
            <a:off x="5387086" y="3759708"/>
            <a:ext cx="368300" cy="108127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200">
                <a:solidFill>
                  <a:srgbClr val="A45A3A"/>
                </a:solidFill>
                <a:latin typeface="Yu Gothic UI"/>
              </a:rPr>
              <a:t>03</a:t>
            </a:r>
          </a:p>
        </p:txBody>
      </p:sp>
      <p:sp>
        <p:nvSpPr>
          <p:cNvPr id="18" name="SDPM::narrative.executive_summary::title_2" title="SDPM::narrative.executive_summary::title_2" descr="SDPM::narrative.executive_summary::title_2::slot=main::frameEmu=594360,1444752,10972800,4553712::bboxEmu=5869686,3810508,5697474,215900"/>
          <p:cNvSpPr txBox="1"/>
          <p:nvPr/>
        </p:nvSpPr>
        <p:spPr>
          <a:xfrm>
            <a:off x="5869686" y="3810508"/>
            <a:ext cx="5697474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700">
                <a:solidFill>
                  <a:srgbClr val="29231F"/>
                </a:solidFill>
                <a:latin typeface="Yu Gothic UI"/>
              </a:rPr>
              <a:t>基盤を整える</a:t>
            </a:r>
          </a:p>
        </p:txBody>
      </p:sp>
      <p:sp>
        <p:nvSpPr>
          <p:cNvPr id="19" name="SDPM::narrative.executive_summary::body_2" title="SDPM::narrative.executive_summary::body_2" descr="SDPM::narrative.executive_summary::body_2::slot=main::frameEmu=594360,1444752,10972800,4553712::bboxEmu=5869686,4089908,5697474,700278"/>
          <p:cNvSpPr txBox="1"/>
          <p:nvPr/>
        </p:nvSpPr>
        <p:spPr>
          <a:xfrm>
            <a:off x="5869686" y="4089908"/>
            <a:ext cx="5697474" cy="70027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データ・人材・統制を横断運用</a:t>
            </a:r>
          </a:p>
        </p:txBody>
      </p:sp>
      <p:cxnSp>
        <p:nvCxnSpPr>
          <p:cNvPr id="20" name="SDPM::narrative.executive_summary::divider_2" title="SDPM::narrative.executive_summary::divider_2" descr="SDPM::narrative.executive_summary::divider_2::slot=main::frameEmu=594360,1444752,10972800,4553712::bboxEmu=5869686,4872736,5697474,0"/>
          <p:cNvCxnSpPr/>
          <p:nvPr/>
        </p:nvCxnSpPr>
        <p:spPr>
          <a:xfrm>
            <a:off x="5869686" y="4872736"/>
            <a:ext cx="5697474" cy="0"/>
          </a:xfrm>
          <a:prstGeom prst="line">
            <a:avLst/>
          </a:prstGeom>
          <a:ln w="1143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DPM::narrative.executive_summary::index_3" title="SDPM::narrative.executive_summary::index_3" descr="SDPM::narrative.executive_summary::index_3::slot=main::frameEmu=594360,1444752,10972800,4553712::bboxEmu=5387086,4917186,368300,1081278"/>
          <p:cNvSpPr txBox="1"/>
          <p:nvPr/>
        </p:nvSpPr>
        <p:spPr>
          <a:xfrm>
            <a:off x="5387086" y="4917186"/>
            <a:ext cx="368300" cy="108127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200">
                <a:solidFill>
                  <a:srgbClr val="A45A3A"/>
                </a:solidFill>
                <a:latin typeface="Yu Gothic UI"/>
              </a:rPr>
              <a:t>04</a:t>
            </a:r>
          </a:p>
        </p:txBody>
      </p:sp>
      <p:sp>
        <p:nvSpPr>
          <p:cNvPr id="22" name="SDPM::narrative.executive_summary::title_3" title="SDPM::narrative.executive_summary::title_3" descr="SDPM::narrative.executive_summary::title_3::slot=main::frameEmu=594360,1444752,10972800,4553712::bboxEmu=5869686,4967986,5697474,215900"/>
          <p:cNvSpPr txBox="1"/>
          <p:nvPr/>
        </p:nvSpPr>
        <p:spPr>
          <a:xfrm>
            <a:off x="5869686" y="4967986"/>
            <a:ext cx="5697474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700">
                <a:solidFill>
                  <a:srgbClr val="29231F"/>
                </a:solidFill>
                <a:latin typeface="Yu Gothic UI"/>
              </a:rPr>
              <a:t>90 </a:t>
            </a:r>
            <a:r>
              <a:rPr lang="ja-JP" sz="1700">
                <a:solidFill>
                  <a:srgbClr val="29231F"/>
                </a:solidFill>
                <a:latin typeface="Yu Gothic UI"/>
              </a:rPr>
              <a:t>日で判断</a:t>
            </a:r>
          </a:p>
        </p:txBody>
      </p:sp>
      <p:sp>
        <p:nvSpPr>
          <p:cNvPr id="23" name="SDPM::narrative.executive_summary::body_3" title="SDPM::narrative.executive_summary::body_3" descr="SDPM::narrative.executive_summary::body_3::slot=main::frameEmu=594360,1444752,10972800,4553712::bboxEmu=5869686,5247386,5697474,700278"/>
          <p:cNvSpPr txBox="1"/>
          <p:nvPr/>
        </p:nvSpPr>
        <p:spPr>
          <a:xfrm>
            <a:off x="5869686" y="5247386"/>
            <a:ext cx="5697474" cy="70027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価値</a:t>
            </a:r>
            <a:r>
              <a:rPr sz="1300">
                <a:solidFill>
                  <a:srgbClr val="746D66"/>
                </a:solidFill>
                <a:latin typeface="Yu Gothic UI"/>
              </a:rPr>
              <a:t> KPI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で継続可否を決める</a:t>
            </a:r>
          </a:p>
        </p:txBody>
      </p:sp>
      <p:sp>
        <p:nvSpPr>
          <p:cNvPr id="24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746D66"/>
                </a:solidFill>
                <a:latin typeface="Yu Gothic UI"/>
              </a:rPr>
              <a:t>出典：</a:t>
            </a:r>
            <a:r>
              <a:rPr sz="1200">
                <a:solidFill>
                  <a:srgbClr val="746D66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746D66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fact::header" title="SDPM::headline.fact::header" descr="SDPM::headline.fac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263E4C"/>
                </a:solidFill>
                <a:latin typeface="Yu Gothic UI"/>
              </a:rPr>
              <a:t>導入量より、価値へ接続したユースケースが不足している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nnotation.chart_callout::annotation" title="SDPM::annotation.chart_callout::annotation" descr="SDPM::annotation.chart_callout::annotation::slot=annotation::frameEmu=8394192,1874520,2944368,2423160::bboxEmu=8394192,1874520,2944368,139700"/>
          <p:cNvSpPr txBox="1"/>
          <p:nvPr/>
        </p:nvSpPr>
        <p:spPr>
          <a:xfrm>
            <a:off x="8394192" y="1874520"/>
            <a:ext cx="2944368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ANNOTATION</a:t>
            </a:r>
          </a:p>
        </p:txBody>
      </p:sp>
      <p:sp>
        <p:nvSpPr>
          <p:cNvPr id="6" name="SDPM::chart.insight::kicker" title="SDPM::chart.insight::kicker" descr="SDPM::chart.insight::kicker::slot=main::frameEmu=594360,1481328,7543800,4443984::bboxEmu=594360,1481328,1524000,177800"/>
          <p:cNvSpPr txBox="1"/>
          <p:nvPr/>
        </p:nvSpPr>
        <p:spPr>
          <a:xfrm>
            <a:off x="594360" y="1481328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CHART INSIGHT</a:t>
            </a:r>
          </a:p>
        </p:txBody>
      </p:sp>
      <p:cxnSp>
        <p:nvCxnSpPr>
          <p:cNvPr id="7" name="SDPM::chart.insight::kicker_rule" title="SDPM::chart.insight::kicker_rule" descr="SDPM::chart.insight::kicker_rule::slot=main::frameEmu=594360,1481328,7543800,4443984::bboxEmu=594360,1646427,698500,0"/>
          <p:cNvCxnSpPr/>
          <p:nvPr/>
        </p:nvCxnSpPr>
        <p:spPr>
          <a:xfrm>
            <a:off x="594360" y="1646427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chart.insight::insight" title="SDPM::chart.insight::insight" descr="SDPM::chart.insight::insight::slot=main::frameEmu=594360,1481328,7543800,4443984::bboxEmu=594360,1773427,5884164,1333881"/>
          <p:cNvSpPr txBox="1"/>
          <p:nvPr/>
        </p:nvSpPr>
        <p:spPr>
          <a:xfrm>
            <a:off x="594360" y="1773427"/>
            <a:ext cx="5884164" cy="133388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600">
                <a:solidFill>
                  <a:srgbClr val="263E4C"/>
                </a:solidFill>
                <a:latin typeface="Yu Gothic UI"/>
              </a:rPr>
              <a:t>利用は広がる一方、変革領域への組込みは限定的</a:t>
            </a:r>
          </a:p>
        </p:txBody>
      </p:sp>
      <p:sp>
        <p:nvSpPr>
          <p:cNvPr id="9" name="SDPM::chart.insight::support" title="SDPM::chart.insight::support" descr="SDPM::chart.insight::support::slot=main::frameEmu=594360,1481328,7543800,4443984::bboxEmu=6478524,1798827,1659636,1308481"/>
          <p:cNvSpPr txBox="1"/>
          <p:nvPr/>
        </p:nvSpPr>
        <p:spPr>
          <a:xfrm>
            <a:off x="6478524" y="1798827"/>
            <a:ext cx="1659636" cy="130848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b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数値は検証用デモ</a:t>
            </a:r>
          </a:p>
        </p:txBody>
      </p:sp>
      <p:sp>
        <p:nvSpPr>
          <p:cNvPr id="10" name="SDPM::chart.insight::label_0" title="SDPM::chart.insight::label_0" descr="SDPM::chart.insight::label_0::slot=main::frameEmu=594360,1481328,7543800,4443984::bboxEmu=594360,3272409,2083816,615632"/>
          <p:cNvSpPr txBox="1"/>
          <p:nvPr/>
        </p:nvSpPr>
        <p:spPr>
          <a:xfrm>
            <a:off x="594360" y="3272409"/>
            <a:ext cx="2083816" cy="61563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個人効率化</a:t>
            </a:r>
          </a:p>
        </p:txBody>
      </p:sp>
      <p:cxnSp>
        <p:nvCxnSpPr>
          <p:cNvPr id="11" name="SDPM::chart.insight::base_0" title="SDPM::chart.insight::base_0" descr="SDPM::chart.insight::base_0::slot=main::frameEmu=594360,1481328,7543800,4443984::bboxEmu=2728976,3580193,4242054,0"/>
          <p:cNvCxnSpPr/>
          <p:nvPr/>
        </p:nvCxnSpPr>
        <p:spPr>
          <a:xfrm>
            <a:off x="2728976" y="3580193"/>
            <a:ext cx="424205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chart.insight::bar_0" title="SDPM::chart.insight::bar_0" descr="SDPM::chart.insight::bar_0::slot=main::frameEmu=594360,1481328,7543800,4443984::bboxEmu=2728976,3475545,4242054,209296"/>
          <p:cNvSpPr/>
          <p:nvPr/>
        </p:nvSpPr>
        <p:spPr>
          <a:xfrm>
            <a:off x="2728976" y="3475545"/>
            <a:ext cx="4242054" cy="209296"/>
          </a:xfrm>
          <a:prstGeom prst="rect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chart.insight::direct_0" title="SDPM::chart.insight::direct_0" descr="SDPM::chart.insight::direct_0::slot=main::frameEmu=594360,1481328,7543800,4443984::bboxEmu=7009130,3272409,0,615632"/>
          <p:cNvSpPr txBox="1"/>
          <p:nvPr/>
        </p:nvSpPr>
        <p:spPr>
          <a:xfrm>
            <a:off x="7009130" y="3272409"/>
            <a:ext cx="0" cy="61563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82</a:t>
            </a:r>
          </a:p>
        </p:txBody>
      </p:sp>
      <p:sp>
        <p:nvSpPr>
          <p:cNvPr id="14" name="SDPM::chart.insight::label_1" title="SDPM::chart.insight::label_1" descr="SDPM::chart.insight::label_1::slot=main::frameEmu=594360,1481328,7543800,4443984::bboxEmu=594360,3951478,2083816,615632"/>
          <p:cNvSpPr txBox="1"/>
          <p:nvPr/>
        </p:nvSpPr>
        <p:spPr>
          <a:xfrm>
            <a:off x="594360" y="3951478"/>
            <a:ext cx="2083816" cy="61563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部門業務</a:t>
            </a:r>
          </a:p>
        </p:txBody>
      </p:sp>
      <p:cxnSp>
        <p:nvCxnSpPr>
          <p:cNvPr id="15" name="SDPM::chart.insight::base_1" title="SDPM::chart.insight::base_1" descr="SDPM::chart.insight::base_1::slot=main::frameEmu=594360,1481328,7543800,4443984::bboxEmu=2728976,4259326,4242054,0"/>
          <p:cNvCxnSpPr/>
          <p:nvPr/>
        </p:nvCxnSpPr>
        <p:spPr>
          <a:xfrm>
            <a:off x="2728976" y="4259326"/>
            <a:ext cx="424205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chart.insight::bar_1" title="SDPM::chart.insight::bar_1" descr="SDPM::chart.insight::bar_1::slot=main::frameEmu=594360,1481328,7543800,4443984::bboxEmu=2728976,4154678,2845308,209296"/>
          <p:cNvSpPr/>
          <p:nvPr/>
        </p:nvSpPr>
        <p:spPr>
          <a:xfrm>
            <a:off x="2728976" y="4154678"/>
            <a:ext cx="2845308" cy="209296"/>
          </a:xfrm>
          <a:prstGeom prst="rect">
            <a:avLst/>
          </a:prstGeom>
          <a:solidFill>
            <a:srgbClr val="65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chart.insight::direct_1" title="SDPM::chart.insight::direct_1" descr="SDPM::chart.insight::direct_1::slot=main::frameEmu=594360,1481328,7543800,4443984::bboxEmu=5612384,3951478,571500,615632"/>
          <p:cNvSpPr txBox="1"/>
          <p:nvPr/>
        </p:nvSpPr>
        <p:spPr>
          <a:xfrm>
            <a:off x="5612384" y="3951478"/>
            <a:ext cx="571500" cy="61563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57C8A"/>
                </a:solidFill>
                <a:latin typeface="Yu Gothic UI"/>
              </a:rPr>
              <a:t>55</a:t>
            </a:r>
          </a:p>
        </p:txBody>
      </p:sp>
      <p:sp>
        <p:nvSpPr>
          <p:cNvPr id="18" name="SDPM::chart.insight::label_2" title="SDPM::chart.insight::label_2" descr="SDPM::chart.insight::label_2::slot=main::frameEmu=594360,1481328,7543800,4443984::bboxEmu=594360,4630610,2083816,615632"/>
          <p:cNvSpPr txBox="1"/>
          <p:nvPr/>
        </p:nvSpPr>
        <p:spPr>
          <a:xfrm>
            <a:off x="594360" y="4630610"/>
            <a:ext cx="2083816" cy="61563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全社プロセス</a:t>
            </a:r>
          </a:p>
        </p:txBody>
      </p:sp>
      <p:cxnSp>
        <p:nvCxnSpPr>
          <p:cNvPr id="19" name="SDPM::chart.insight::base_2" title="SDPM::chart.insight::base_2" descr="SDPM::chart.insight::base_2::slot=main::frameEmu=594360,1481328,7543800,4443984::bboxEmu=2728976,4938395,4242054,0"/>
          <p:cNvCxnSpPr/>
          <p:nvPr/>
        </p:nvCxnSpPr>
        <p:spPr>
          <a:xfrm>
            <a:off x="2728976" y="4938395"/>
            <a:ext cx="424205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chart.insight::bar_2" title="SDPM::chart.insight::bar_2" descr="SDPM::chart.insight::bar_2::slot=main::frameEmu=594360,1481328,7543800,4443984::bboxEmu=2728976,4833747,1603692,209296"/>
          <p:cNvSpPr/>
          <p:nvPr/>
        </p:nvSpPr>
        <p:spPr>
          <a:xfrm>
            <a:off x="2728976" y="4833747"/>
            <a:ext cx="1603692" cy="209296"/>
          </a:xfrm>
          <a:prstGeom prst="rect">
            <a:avLst/>
          </a:prstGeom>
          <a:solidFill>
            <a:srgbClr val="65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chart.insight::direct_2" title="SDPM::chart.insight::direct_2" descr="SDPM::chart.insight::direct_2::slot=main::frameEmu=594360,1481328,7543800,4443984::bboxEmu=4370768,4630610,571500,615632"/>
          <p:cNvSpPr txBox="1"/>
          <p:nvPr/>
        </p:nvSpPr>
        <p:spPr>
          <a:xfrm>
            <a:off x="4370768" y="4630610"/>
            <a:ext cx="571500" cy="61563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57C8A"/>
                </a:solidFill>
                <a:latin typeface="Yu Gothic UI"/>
              </a:rPr>
              <a:t>31</a:t>
            </a:r>
          </a:p>
        </p:txBody>
      </p:sp>
      <p:sp>
        <p:nvSpPr>
          <p:cNvPr id="22" name="SDPM::chart.insight::label_3" title="SDPM::chart.insight::label_3" descr="SDPM::chart.insight::label_3::slot=main::frameEmu=594360,1481328,7543800,4443984::bboxEmu=594360,5309679,2083816,615632"/>
          <p:cNvSpPr txBox="1"/>
          <p:nvPr/>
        </p:nvSpPr>
        <p:spPr>
          <a:xfrm>
            <a:off x="594360" y="5309679"/>
            <a:ext cx="2083816" cy="61563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顧客価値</a:t>
            </a:r>
          </a:p>
        </p:txBody>
      </p:sp>
      <p:cxnSp>
        <p:nvCxnSpPr>
          <p:cNvPr id="23" name="SDPM::chart.insight::base_3" title="SDPM::chart.insight::base_3" descr="SDPM::chart.insight::base_3::slot=main::frameEmu=594360,1481328,7543800,4443984::bboxEmu=2728976,5617527,4242054,0"/>
          <p:cNvCxnSpPr/>
          <p:nvPr/>
        </p:nvCxnSpPr>
        <p:spPr>
          <a:xfrm>
            <a:off x="2728976" y="5617527"/>
            <a:ext cx="424205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DPM::chart.insight::bar_3" title="SDPM::chart.insight::bar_3" descr="SDPM::chart.insight::bar_3::slot=main::frameEmu=594360,1481328,7543800,4443984::bboxEmu=2728976,5512879,931163,209296"/>
          <p:cNvSpPr/>
          <p:nvPr/>
        </p:nvSpPr>
        <p:spPr>
          <a:xfrm>
            <a:off x="2728976" y="5512879"/>
            <a:ext cx="931163" cy="209296"/>
          </a:xfrm>
          <a:prstGeom prst="rect">
            <a:avLst/>
          </a:prstGeom>
          <a:solidFill>
            <a:srgbClr val="65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DPM::chart.insight::direct_3" title="SDPM::chart.insight::direct_3" descr="SDPM::chart.insight::direct_3::slot=main::frameEmu=594360,1481328,7543800,4443984::bboxEmu=3698240,5309679,571500,615632"/>
          <p:cNvSpPr txBox="1"/>
          <p:nvPr/>
        </p:nvSpPr>
        <p:spPr>
          <a:xfrm>
            <a:off x="3698240" y="5309679"/>
            <a:ext cx="571500" cy="61563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57C8A"/>
                </a:solidFill>
                <a:latin typeface="Yu Gothic UI"/>
              </a:rPr>
              <a:t>18</a:t>
            </a:r>
          </a:p>
        </p:txBody>
      </p:sp>
      <p:sp>
        <p:nvSpPr>
          <p:cNvPr id="26" name="SDPM::evidence_footer.full::footer" title="SDPM::evidence_footer.full::footer" descr="SDPM::evidence_footer.full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746D66"/>
                </a:solidFill>
                <a:latin typeface="Yu Gothic UI"/>
              </a:rPr>
              <a:t>出典：</a:t>
            </a:r>
            <a:r>
              <a:rPr sz="1200">
                <a:solidFill>
                  <a:srgbClr val="746D66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746D66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263E4C"/>
                </a:solidFill>
                <a:latin typeface="Yu Gothic UI"/>
              </a:rPr>
              <a:t>部分最適・曖昧な</a:t>
            </a:r>
            <a:r>
              <a:rPr sz="3100">
                <a:solidFill>
                  <a:srgbClr val="263E4C"/>
                </a:solidFill>
                <a:latin typeface="Yu Gothic UI"/>
              </a:rPr>
              <a:t> KPI </a:t>
            </a:r>
            <a:r>
              <a:rPr lang="ja-JP" sz="3100">
                <a:solidFill>
                  <a:srgbClr val="263E4C"/>
                </a:solidFill>
                <a:latin typeface="Yu Gothic UI"/>
              </a:rPr>
              <a:t>・分断運営が価値化を止める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narrative.findings_implications::index_0" title="SDPM::narrative.findings_implications::index_0" descr="SDPM::narrative.findings_implications::index_0::slot=main::frameEmu=594360,1444752,10972800,4553712::bboxEmu=594360,1444752,3539045,254000"/>
          <p:cNvSpPr txBox="1"/>
          <p:nvPr/>
        </p:nvSpPr>
        <p:spPr>
          <a:xfrm>
            <a:off x="594360" y="1444752"/>
            <a:ext cx="3539045" cy="254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400">
                <a:solidFill>
                  <a:srgbClr val="A45A3A"/>
                </a:solidFill>
                <a:latin typeface="Yu Gothic UI"/>
              </a:rPr>
              <a:t>01</a:t>
            </a:r>
          </a:p>
        </p:txBody>
      </p:sp>
      <p:cxnSp>
        <p:nvCxnSpPr>
          <p:cNvPr id="6" name="SDPM::narrative.findings_implications::rule_0" title="SDPM::narrative.findings_implications::rule_0" descr="SDPM::narrative.findings_implications::rule_0::slot=main::frameEmu=594360,1444752,10972800,4553712::bboxEmu=594360,1774952,3539045,0"/>
          <p:cNvCxnSpPr/>
          <p:nvPr/>
        </p:nvCxnSpPr>
        <p:spPr>
          <a:xfrm>
            <a:off x="594360" y="1774952"/>
            <a:ext cx="3539045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DPM::narrative.findings_implications::finding_0" title="SDPM::narrative.findings_implications::finding_0" descr="SDPM::narrative.findings_implications::finding_0::slot=main::frameEmu=594360,1444752,10972800,4553712::bboxEmu=594360,1889252,3539045,1877631"/>
          <p:cNvSpPr txBox="1"/>
          <p:nvPr/>
        </p:nvSpPr>
        <p:spPr>
          <a:xfrm>
            <a:off x="594360" y="1889252"/>
            <a:ext cx="3539045" cy="187763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9231F"/>
                </a:solidFill>
                <a:latin typeface="Yu Gothic UI"/>
              </a:rPr>
              <a:t>個人利用で止まり業務責任者が不在</a:t>
            </a:r>
          </a:p>
        </p:txBody>
      </p:sp>
      <p:sp>
        <p:nvSpPr>
          <p:cNvPr id="8" name="SDPM::narrative.findings_implications::implication_0" title="SDPM::narrative.findings_implications::implication_0" descr="SDPM::narrative.findings_implications::implication_0::slot=main::frameEmu=594360,1444752,10972800,4553712::bboxEmu=594360,3881183,3539045,2117280"/>
          <p:cNvSpPr txBox="1"/>
          <p:nvPr/>
        </p:nvSpPr>
        <p:spPr>
          <a:xfrm>
            <a:off x="594360" y="3881183"/>
            <a:ext cx="3539045" cy="21172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600">
                <a:solidFill>
                  <a:srgbClr val="A45A3A"/>
                </a:solidFill>
                <a:latin typeface="Yu Gothic UI"/>
              </a:rPr>
              <a:t>業務オーナーを先に置く</a:t>
            </a:r>
          </a:p>
        </p:txBody>
      </p:sp>
      <p:sp>
        <p:nvSpPr>
          <p:cNvPr id="9" name="SDPM::narrative.findings_implications::index_1" title="SDPM::narrative.findings_implications::index_1" descr="SDPM::narrative.findings_implications::index_1::slot=main::frameEmu=594360,1444752,10972800,4553712::bboxEmu=4311205,1444752,3539045,254000"/>
          <p:cNvSpPr txBox="1"/>
          <p:nvPr/>
        </p:nvSpPr>
        <p:spPr>
          <a:xfrm>
            <a:off x="4311205" y="1444752"/>
            <a:ext cx="3539045" cy="254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400">
                <a:solidFill>
                  <a:srgbClr val="A45A3A"/>
                </a:solidFill>
                <a:latin typeface="Yu Gothic UI"/>
              </a:rPr>
              <a:t>02</a:t>
            </a:r>
          </a:p>
        </p:txBody>
      </p:sp>
      <p:cxnSp>
        <p:nvCxnSpPr>
          <p:cNvPr id="10" name="SDPM::narrative.findings_implications::rule_1" title="SDPM::narrative.findings_implications::rule_1" descr="SDPM::narrative.findings_implications::rule_1::slot=main::frameEmu=594360,1444752,10972800,4553712::bboxEmu=4311205,1774952,3539109,0"/>
          <p:cNvCxnSpPr/>
          <p:nvPr/>
        </p:nvCxnSpPr>
        <p:spPr>
          <a:xfrm>
            <a:off x="4311205" y="1774952"/>
            <a:ext cx="3539109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narrative.findings_implications::finding_1" title="SDPM::narrative.findings_implications::finding_1" descr="SDPM::narrative.findings_implications::finding_1::slot=main::frameEmu=594360,1444752,10972800,4553712::bboxEmu=4311205,1889252,3539045,1877631"/>
          <p:cNvSpPr txBox="1"/>
          <p:nvPr/>
        </p:nvSpPr>
        <p:spPr>
          <a:xfrm>
            <a:off x="4311205" y="1889252"/>
            <a:ext cx="3539045" cy="187763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9231F"/>
                </a:solidFill>
                <a:latin typeface="Yu Gothic UI"/>
              </a:rPr>
              <a:t>時間削減だけを成果として追跡</a:t>
            </a:r>
          </a:p>
        </p:txBody>
      </p:sp>
      <p:sp>
        <p:nvSpPr>
          <p:cNvPr id="12" name="SDPM::narrative.findings_implications::implication_1" title="SDPM::narrative.findings_implications::implication_1" descr="SDPM::narrative.findings_implications::implication_1::slot=main::frameEmu=594360,1444752,10972800,4553712::bboxEmu=4311205,3881183,3539045,2117280"/>
          <p:cNvSpPr txBox="1"/>
          <p:nvPr/>
        </p:nvSpPr>
        <p:spPr>
          <a:xfrm>
            <a:off x="4311205" y="3881183"/>
            <a:ext cx="3539045" cy="21172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600">
                <a:solidFill>
                  <a:srgbClr val="A45A3A"/>
                </a:solidFill>
                <a:latin typeface="Yu Gothic UI"/>
              </a:rPr>
              <a:t>顧客・収益</a:t>
            </a:r>
            <a:r>
              <a:rPr sz="1600">
                <a:solidFill>
                  <a:srgbClr val="A45A3A"/>
                </a:solidFill>
                <a:latin typeface="Yu Gothic UI"/>
              </a:rPr>
              <a:t> KPI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へ接続</a:t>
            </a:r>
          </a:p>
        </p:txBody>
      </p:sp>
      <p:sp>
        <p:nvSpPr>
          <p:cNvPr id="13" name="SDPM::narrative.findings_implications::index_2" title="SDPM::narrative.findings_implications::index_2" descr="SDPM::narrative.findings_implications::index_2::slot=main::frameEmu=594360,1444752,10972800,4553712::bboxEmu=8028114,1444752,3539045,254000"/>
          <p:cNvSpPr txBox="1"/>
          <p:nvPr/>
        </p:nvSpPr>
        <p:spPr>
          <a:xfrm>
            <a:off x="8028114" y="1444752"/>
            <a:ext cx="3539045" cy="254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400">
                <a:solidFill>
                  <a:srgbClr val="A45A3A"/>
                </a:solidFill>
                <a:latin typeface="Yu Gothic UI"/>
              </a:rPr>
              <a:t>03</a:t>
            </a:r>
          </a:p>
        </p:txBody>
      </p:sp>
      <p:cxnSp>
        <p:nvCxnSpPr>
          <p:cNvPr id="14" name="SDPM::narrative.findings_implications::rule_2" title="SDPM::narrative.findings_implications::rule_2" descr="SDPM::narrative.findings_implications::rule_2::slot=main::frameEmu=594360,1444752,10972800,4553712::bboxEmu=8028114,1774952,3539046,0"/>
          <p:cNvCxnSpPr/>
          <p:nvPr/>
        </p:nvCxnSpPr>
        <p:spPr>
          <a:xfrm>
            <a:off x="8028114" y="1774952"/>
            <a:ext cx="353904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narrative.findings_implications::finding_2" title="SDPM::narrative.findings_implications::finding_2" descr="SDPM::narrative.findings_implications::finding_2::slot=main::frameEmu=594360,1444752,10972800,4553712::bboxEmu=8028114,1889252,3539045,1877631"/>
          <p:cNvSpPr txBox="1"/>
          <p:nvPr/>
        </p:nvSpPr>
        <p:spPr>
          <a:xfrm>
            <a:off x="8028114" y="1889252"/>
            <a:ext cx="3539045" cy="187763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9231F"/>
                </a:solidFill>
                <a:latin typeface="Yu Gothic UI"/>
              </a:rPr>
              <a:t>データ・</a:t>
            </a:r>
            <a:r>
              <a:rPr sz="1800">
                <a:solidFill>
                  <a:srgbClr val="29231F"/>
                </a:solidFill>
                <a:latin typeface="Yu Gothic UI"/>
              </a:rPr>
              <a:t> IT </a:t>
            </a:r>
            <a:r>
              <a:rPr lang="ja-JP" sz="1800">
                <a:solidFill>
                  <a:srgbClr val="29231F"/>
                </a:solidFill>
                <a:latin typeface="Yu Gothic UI"/>
              </a:rPr>
              <a:t>・現場が別々に推進</a:t>
            </a:r>
          </a:p>
        </p:txBody>
      </p:sp>
      <p:sp>
        <p:nvSpPr>
          <p:cNvPr id="16" name="SDPM::narrative.findings_implications::implication_2" title="SDPM::narrative.findings_implications::implication_2" descr="SDPM::narrative.findings_implications::implication_2::slot=main::frameEmu=594360,1444752,10972800,4553712::bboxEmu=8028114,3881183,3539045,2117280"/>
          <p:cNvSpPr txBox="1"/>
          <p:nvPr/>
        </p:nvSpPr>
        <p:spPr>
          <a:xfrm>
            <a:off x="8028114" y="3881183"/>
            <a:ext cx="3539045" cy="21172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600">
                <a:solidFill>
                  <a:srgbClr val="A45A3A"/>
                </a:solidFill>
                <a:latin typeface="Yu Gothic UI"/>
              </a:rPr>
              <a:t>横断ガバナンスで統合</a:t>
            </a:r>
          </a:p>
        </p:txBody>
      </p:sp>
      <p:sp>
        <p:nvSpPr>
          <p:cNvPr id="17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746D66"/>
                </a:solidFill>
                <a:latin typeface="Yu Gothic UI"/>
              </a:rPr>
              <a:t>出典：</a:t>
            </a:r>
            <a:r>
              <a:rPr sz="1200">
                <a:solidFill>
                  <a:srgbClr val="746D66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746D66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263E4C"/>
                </a:solidFill>
                <a:latin typeface="Yu Gothic UI"/>
              </a:rPr>
              <a:t>最初の</a:t>
            </a:r>
            <a:r>
              <a:rPr sz="3100">
                <a:solidFill>
                  <a:srgbClr val="263E4C"/>
                </a:solidFill>
                <a:latin typeface="Yu Gothic UI"/>
              </a:rPr>
              <a:t> 90 </a:t>
            </a:r>
            <a:r>
              <a:rPr lang="ja-JP" sz="3100">
                <a:solidFill>
                  <a:srgbClr val="263E4C"/>
                </a:solidFill>
                <a:latin typeface="Yu Gothic UI"/>
              </a:rPr>
              <a:t>日は、価値が高く実装可能な領域へ集中する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decision.choice::decision" title="SDPM::decision.choice::decision" descr="SDPM::decision.choice::decision::slot=decision::frameEmu=8732520,1874520,2606040,2697480::bboxEmu=8732520,1874520,2606040,139700"/>
          <p:cNvSpPr txBox="1"/>
          <p:nvPr/>
        </p:nvSpPr>
        <p:spPr>
          <a:xfrm>
            <a:off x="8732520" y="1874520"/>
            <a:ext cx="260604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DECISION</a:t>
            </a:r>
          </a:p>
        </p:txBody>
      </p:sp>
      <p:sp>
        <p:nvSpPr>
          <p:cNvPr id="6" name="SDPM::strategy.portfolio_matrix::highlight_zone" title="SDPM::strategy.portfolio_matrix::highlight_zone" descr="SDPM::strategy.portfolio_matrix::highlight_zone::slot=main::frameEmu=658368,1444752,7772400,4553712::bboxEmu=4703318,1571752,3600450,2022856"/>
          <p:cNvSpPr/>
          <p:nvPr/>
        </p:nvSpPr>
        <p:spPr>
          <a:xfrm>
            <a:off x="4703318" y="1571752"/>
            <a:ext cx="3600450" cy="2022856"/>
          </a:xfrm>
          <a:prstGeom prst="rect">
            <a:avLst/>
          </a:prstGeom>
          <a:solidFill>
            <a:srgbClr val="F1ECE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SDPM::strategy.portfolio_matrix::x_axis" title="SDPM::strategy.portfolio_matrix::x_axis" descr="SDPM::strategy.portfolio_matrix::x_axis::slot=main::frameEmu=658368,1444752,7772400,4553712::bboxEmu=1102868,5617464,7200900,0"/>
          <p:cNvCxnSpPr/>
          <p:nvPr/>
        </p:nvCxnSpPr>
        <p:spPr>
          <a:xfrm>
            <a:off x="1102868" y="5617464"/>
            <a:ext cx="7200900" cy="0"/>
          </a:xfrm>
          <a:prstGeom prst="line">
            <a:avLst/>
          </a:prstGeom>
          <a:ln w="19050">
            <a:solidFill>
              <a:srgbClr val="2923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DPM::strategy.portfolio_matrix::y_axis" title="SDPM::strategy.portfolio_matrix::y_axis" descr="SDPM::strategy.portfolio_matrix::y_axis::slot=main::frameEmu=658368,1444752,7772400,4553712::bboxEmu=1102868,1571752,0,4045712"/>
          <p:cNvCxnSpPr/>
          <p:nvPr/>
        </p:nvCxnSpPr>
        <p:spPr>
          <a:xfrm flipV="1">
            <a:off x="1102868" y="1571752"/>
            <a:ext cx="0" cy="4045712"/>
          </a:xfrm>
          <a:prstGeom prst="line">
            <a:avLst/>
          </a:prstGeom>
          <a:ln w="19050">
            <a:solidFill>
              <a:srgbClr val="2923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DPM::strategy.portfolio_matrix::v_mid" title="SDPM::strategy.portfolio_matrix::v_mid" descr="SDPM::strategy.portfolio_matrix::v_mid::slot=main::frameEmu=658368,1444752,7772400,4553712::bboxEmu=4703318,1571752,0,4045712"/>
          <p:cNvCxnSpPr/>
          <p:nvPr/>
        </p:nvCxnSpPr>
        <p:spPr>
          <a:xfrm>
            <a:off x="4703318" y="1571752"/>
            <a:ext cx="0" cy="4045712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PM::strategy.portfolio_matrix::h_mid" title="SDPM::strategy.portfolio_matrix::h_mid" descr="SDPM::strategy.portfolio_matrix::h_mid::slot=main::frameEmu=658368,1444752,7772400,4553712::bboxEmu=1102868,3594608,7200900,0"/>
          <p:cNvCxnSpPr/>
          <p:nvPr/>
        </p:nvCxnSpPr>
        <p:spPr>
          <a:xfrm>
            <a:off x="1102868" y="3594608"/>
            <a:ext cx="72009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portfolio_matrix::quad_0" title="SDPM::strategy.portfolio_matrix::quad_0" descr="SDPM::strategy.portfolio_matrix::quad_0::slot=main::frameEmu=658368,1444752,7772400,4553712::bboxEmu=1390904,3756405,2880360,241300"/>
          <p:cNvSpPr txBox="1"/>
          <p:nvPr/>
        </p:nvSpPr>
        <p:spPr>
          <a:xfrm>
            <a:off x="1390904" y="3756405"/>
            <a:ext cx="2880360" cy="241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746D66"/>
                </a:solidFill>
                <a:latin typeface="Yu Gothic UI"/>
              </a:rPr>
              <a:t>保留</a:t>
            </a:r>
          </a:p>
        </p:txBody>
      </p:sp>
      <p:sp>
        <p:nvSpPr>
          <p:cNvPr id="12" name="SDPM::strategy.portfolio_matrix::quad_1" title="SDPM::strategy.portfolio_matrix::quad_1" descr="SDPM::strategy.portfolio_matrix::quad_1::slot=main::frameEmu=658368,1444752,7772400,4553712::bboxEmu=5063363,3756405,2880360,241300"/>
          <p:cNvSpPr txBox="1"/>
          <p:nvPr/>
        </p:nvSpPr>
        <p:spPr>
          <a:xfrm>
            <a:off x="5063363" y="3756405"/>
            <a:ext cx="2880360" cy="241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500">
                <a:solidFill>
                  <a:srgbClr val="746D66"/>
                </a:solidFill>
                <a:latin typeface="Yu Gothic UI"/>
              </a:rPr>
              <a:t>Quick wins</a:t>
            </a:r>
          </a:p>
        </p:txBody>
      </p:sp>
      <p:sp>
        <p:nvSpPr>
          <p:cNvPr id="13" name="SDPM::strategy.portfolio_matrix::quad_2" title="SDPM::strategy.portfolio_matrix::quad_2" descr="SDPM::strategy.portfolio_matrix::quad_2::slot=main::frameEmu=658368,1444752,7772400,4553712::bboxEmu=1390904,1693100,2880360,241300"/>
          <p:cNvSpPr txBox="1"/>
          <p:nvPr/>
        </p:nvSpPr>
        <p:spPr>
          <a:xfrm>
            <a:off x="1390904" y="1693100"/>
            <a:ext cx="2880360" cy="241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746D66"/>
                </a:solidFill>
                <a:latin typeface="Yu Gothic UI"/>
              </a:rPr>
              <a:t>再設計</a:t>
            </a:r>
          </a:p>
        </p:txBody>
      </p:sp>
      <p:sp>
        <p:nvSpPr>
          <p:cNvPr id="14" name="SDPM::strategy.portfolio_matrix::quad_3" title="SDPM::strategy.portfolio_matrix::quad_3" descr="SDPM::strategy.portfolio_matrix::quad_3::slot=main::frameEmu=658368,1444752,7772400,4553712::bboxEmu=5063363,1693100,2880360,241300"/>
          <p:cNvSpPr txBox="1"/>
          <p:nvPr/>
        </p:nvSpPr>
        <p:spPr>
          <a:xfrm>
            <a:off x="5063363" y="1693100"/>
            <a:ext cx="2880360" cy="241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746D66"/>
                </a:solidFill>
                <a:latin typeface="Yu Gothic UI"/>
              </a:rPr>
              <a:t>重点投資</a:t>
            </a:r>
          </a:p>
        </p:txBody>
      </p:sp>
      <p:sp>
        <p:nvSpPr>
          <p:cNvPr id="15" name="SDPM::strategy.portfolio_matrix::item_0" title="SDPM::strategy.portfolio_matrix::item_0" descr="SDPM::strategy.portfolio_matrix::item_0::slot=main::frameEmu=658368,1444752,7772400,4553712::bboxEmu=6641338,2239581,444500,444500"/>
          <p:cNvSpPr/>
          <p:nvPr/>
        </p:nvSpPr>
        <p:spPr>
          <a:xfrm>
            <a:off x="6641338" y="2239581"/>
            <a:ext cx="444500" cy="444500"/>
          </a:xfrm>
          <a:prstGeom prst="ellipse">
            <a:avLst/>
          </a:prstGeom>
          <a:solidFill>
            <a:srgbClr val="A45A3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問い合わせ解決</a:t>
            </a:r>
          </a:p>
        </p:txBody>
      </p:sp>
      <p:sp>
        <p:nvSpPr>
          <p:cNvPr id="16" name="SDPM::strategy.portfolio_matrix::item_1" title="SDPM::strategy.portfolio_matrix::item_1" descr="SDPM::strategy.portfolio_matrix::item_1::slot=main::frameEmu=658368,1444752,7772400,4553712::bboxEmu=5104765,2529903,349250,349250"/>
          <p:cNvSpPr/>
          <p:nvPr/>
        </p:nvSpPr>
        <p:spPr>
          <a:xfrm>
            <a:off x="5104765" y="2529903"/>
            <a:ext cx="349250" cy="349250"/>
          </a:xfrm>
          <a:prstGeom prst="ellipse">
            <a:avLst/>
          </a:prstGeom>
          <a:solidFill>
            <a:srgbClr val="657C8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需要予測</a:t>
            </a:r>
          </a:p>
        </p:txBody>
      </p:sp>
      <p:sp>
        <p:nvSpPr>
          <p:cNvPr id="17" name="SDPM::strategy.portfolio_matrix::item_2" title="SDPM::strategy.portfolio_matrix::item_2" descr="SDPM::strategy.portfolio_matrix::item_2::slot=main::frameEmu=658368,1444752,7772400,4553712::bboxEmu=3974846,3239897,304800,304800"/>
          <p:cNvSpPr/>
          <p:nvPr/>
        </p:nvSpPr>
        <p:spPr>
          <a:xfrm>
            <a:off x="3974846" y="3239897"/>
            <a:ext cx="304800" cy="304800"/>
          </a:xfrm>
          <a:prstGeom prst="ellipse">
            <a:avLst/>
          </a:prstGeom>
          <a:solidFill>
            <a:srgbClr val="657C8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開発支援</a:t>
            </a:r>
          </a:p>
        </p:txBody>
      </p:sp>
      <p:sp>
        <p:nvSpPr>
          <p:cNvPr id="18" name="SDPM::strategy.portfolio_matrix::item_3" title="SDPM::strategy.portfolio_matrix::item_3" descr="SDPM::strategy.portfolio_matrix::item_3::slot=main::frameEmu=658368,1444752,7772400,4553712::bboxEmu=6893306,4370387,228600,228600"/>
          <p:cNvSpPr/>
          <p:nvPr/>
        </p:nvSpPr>
        <p:spPr>
          <a:xfrm>
            <a:off x="6893306" y="4370387"/>
            <a:ext cx="228600" cy="228600"/>
          </a:xfrm>
          <a:prstGeom prst="ellipse">
            <a:avLst/>
          </a:prstGeom>
          <a:solidFill>
            <a:srgbClr val="657C8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議事録</a:t>
            </a:r>
          </a:p>
        </p:txBody>
      </p:sp>
      <p:sp>
        <p:nvSpPr>
          <p:cNvPr id="19" name="SDPM::strategy.portfolio_matrix::x_label" title="SDPM::strategy.portfolio_matrix::x_label" descr="SDPM::strategy.portfolio_matrix::x_label::slot=main::frameEmu=658368,1444752,7772400,4553712::bboxEmu=1102868,5757164,7200900,177800"/>
          <p:cNvSpPr txBox="1"/>
          <p:nvPr/>
        </p:nvSpPr>
        <p:spPr>
          <a:xfrm>
            <a:off x="1102868" y="5757164"/>
            <a:ext cx="72009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200">
                <a:solidFill>
                  <a:srgbClr val="746D66"/>
                </a:solidFill>
                <a:latin typeface="Yu Gothic UI"/>
              </a:rPr>
              <a:t>実装容易性</a:t>
            </a:r>
          </a:p>
        </p:txBody>
      </p:sp>
      <p:sp>
        <p:nvSpPr>
          <p:cNvPr id="20" name="SDPM::strategy.portfolio_matrix::y_label" title="SDPM::strategy.portfolio_matrix::y_label" descr="SDPM::strategy.portfolio_matrix::y_label::slot=main::frameEmu=658368,1444752,7772400,4553712::bboxEmu=658368,1571752,190500,4045712"/>
          <p:cNvSpPr txBox="1"/>
          <p:nvPr/>
        </p:nvSpPr>
        <p:spPr>
          <a:xfrm rot="16200000">
            <a:off x="658368" y="1571752"/>
            <a:ext cx="190500" cy="404571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746D66"/>
                </a:solidFill>
                <a:latin typeface="Yu Gothic UI"/>
              </a:rPr>
              <a:t>価値インパクト</a:t>
            </a:r>
          </a:p>
        </p:txBody>
      </p:sp>
      <p:sp>
        <p:nvSpPr>
          <p:cNvPr id="21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746D66"/>
                </a:solidFill>
                <a:latin typeface="Yu Gothic UI"/>
              </a:rPr>
              <a:t>出典：</a:t>
            </a:r>
            <a:r>
              <a:rPr sz="1200">
                <a:solidFill>
                  <a:srgbClr val="746D66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746D66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263E4C"/>
                </a:solidFill>
                <a:latin typeface="Yu Gothic UI"/>
              </a:rPr>
              <a:t>不足はモデルではなく、価値設計と運用能力に集中する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nnotation.so_what::interpretation" title="SDPM::annotation.so_what::interpretation" descr="SDPM::annotation.so_what::interpretation::slot=interpretation::frameEmu=8046720,5650992,3291840,384048::bboxEmu=8046720,5650992,3291840,139700"/>
          <p:cNvSpPr txBox="1"/>
          <p:nvPr/>
        </p:nvSpPr>
        <p:spPr>
          <a:xfrm>
            <a:off x="8046720" y="5650992"/>
            <a:ext cx="329184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INTERPRETATION</a:t>
            </a:r>
          </a:p>
        </p:txBody>
      </p:sp>
      <p:sp>
        <p:nvSpPr>
          <p:cNvPr id="6" name="SDPM::strategy.capability_map::group_0" title="SDPM::strategy.capability_map::group_0" descr="SDPM::strategy.capability_map::group_0::slot=main::frameEmu=685800,1417320,10835640,4160520::bboxEmu=685800,1417320,1925256,1319085"/>
          <p:cNvSpPr txBox="1"/>
          <p:nvPr/>
        </p:nvSpPr>
        <p:spPr>
          <a:xfrm>
            <a:off x="685800" y="1417320"/>
            <a:ext cx="1925256" cy="131908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800">
                <a:solidFill>
                  <a:srgbClr val="263E4C"/>
                </a:solidFill>
                <a:latin typeface="Yu Gothic UI"/>
              </a:rPr>
              <a:t>顧客</a:t>
            </a:r>
          </a:p>
        </p:txBody>
      </p:sp>
      <p:cxnSp>
        <p:nvCxnSpPr>
          <p:cNvPr id="7" name="SDPM::strategy.capability_map::rule_0" title="SDPM::strategy.capability_map::rule_0" descr="SDPM::strategy.capability_map::rule_0::slot=main::frameEmu=685800,1417320,10835640,4160520::bboxEmu=2750756,1417320,8770684,0"/>
          <p:cNvCxnSpPr/>
          <p:nvPr/>
        </p:nvCxnSpPr>
        <p:spPr>
          <a:xfrm>
            <a:off x="2750756" y="1417320"/>
            <a:ext cx="877068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strategy.capability_map::label_0_0" title="SDPM::strategy.capability_map::label_0_0" descr="SDPM::strategy.capability_map::label_0_0::slot=main::frameEmu=685800,1417320,10835640,4160520::bboxEmu=2750756,1493520,2830449,279400"/>
          <p:cNvSpPr txBox="1"/>
          <p:nvPr/>
        </p:nvSpPr>
        <p:spPr>
          <a:xfrm>
            <a:off x="2750756" y="1493520"/>
            <a:ext cx="2830449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課題定義</a:t>
            </a:r>
          </a:p>
        </p:txBody>
      </p:sp>
      <p:sp>
        <p:nvSpPr>
          <p:cNvPr id="9" name="SDPM::strategy.capability_map::dot_0_0_0" title="SDPM::strategy.capability_map::dot_0_0_0" descr="SDPM::strategy.capability_map::dot_0_0_0::slot=main::frameEmu=685800,1417320,10835640,4160520::bboxEmu=2769806,1855470,502602,88900"/>
          <p:cNvSpPr/>
          <p:nvPr/>
        </p:nvSpPr>
        <p:spPr>
          <a:xfrm>
            <a:off x="2769806" y="1855470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DPM::strategy.capability_map::dot_0_0_1" title="SDPM::strategy.capability_map::dot_0_0_1" descr="SDPM::strategy.capability_map::dot_0_0_1::slot=main::frameEmu=685800,1417320,10835640,4160520::bboxEmu=3342259,1855470,502602,88900"/>
          <p:cNvSpPr/>
          <p:nvPr/>
        </p:nvSpPr>
        <p:spPr>
          <a:xfrm>
            <a:off x="3342259" y="1855470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strategy.capability_map::dot_0_0_2" title="SDPM::strategy.capability_map::dot_0_0_2" descr="SDPM::strategy.capability_map::dot_0_0_2::slot=main::frameEmu=685800,1417320,10835640,4160520::bboxEmu=3914711,1855470,502602,88900"/>
          <p:cNvSpPr/>
          <p:nvPr/>
        </p:nvSpPr>
        <p:spPr>
          <a:xfrm>
            <a:off x="3914711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strategy.capability_map::dot_0_0_3" title="SDPM::strategy.capability_map::dot_0_0_3" descr="SDPM::strategy.capability_map::dot_0_0_3::slot=main::frameEmu=685800,1417320,10835640,4160520::bboxEmu=4487100,1855470,502602,88900"/>
          <p:cNvSpPr/>
          <p:nvPr/>
        </p:nvSpPr>
        <p:spPr>
          <a:xfrm>
            <a:off x="4487100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strategy.capability_map::dot_0_0_4" title="SDPM::strategy.capability_map::dot_0_0_4" descr="SDPM::strategy.capability_map::dot_0_0_4::slot=main::frameEmu=685800,1417320,10835640,4160520::bboxEmu=5059553,1855470,502602,88900"/>
          <p:cNvSpPr/>
          <p:nvPr/>
        </p:nvSpPr>
        <p:spPr>
          <a:xfrm>
            <a:off x="5059553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strategy.capability_map::label_0_1" title="SDPM::strategy.capability_map::label_0_1" descr="SDPM::strategy.capability_map::label_0_1::slot=main::frameEmu=685800,1417320,10835640,4160520::bboxEmu=5720905,1493520,2830449,279400"/>
          <p:cNvSpPr txBox="1"/>
          <p:nvPr/>
        </p:nvSpPr>
        <p:spPr>
          <a:xfrm>
            <a:off x="5720905" y="1493520"/>
            <a:ext cx="2830449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価値</a:t>
            </a:r>
            <a:r>
              <a:rPr sz="1400">
                <a:solidFill>
                  <a:srgbClr val="29231F"/>
                </a:solidFill>
                <a:latin typeface="Yu Gothic UI"/>
              </a:rPr>
              <a:t> KPI</a:t>
            </a:r>
          </a:p>
        </p:txBody>
      </p:sp>
      <p:sp>
        <p:nvSpPr>
          <p:cNvPr id="15" name="SDPM::strategy.capability_map::dot_0_1_0" title="SDPM::strategy.capability_map::dot_0_1_0" descr="SDPM::strategy.capability_map::dot_0_1_0::slot=main::frameEmu=685800,1417320,10835640,4160520::bboxEmu=5739955,1855470,502602,88900"/>
          <p:cNvSpPr/>
          <p:nvPr/>
        </p:nvSpPr>
        <p:spPr>
          <a:xfrm>
            <a:off x="5739955" y="1855470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DPM::strategy.capability_map::dot_0_1_1" title="SDPM::strategy.capability_map::dot_0_1_1" descr="SDPM::strategy.capability_map::dot_0_1_1::slot=main::frameEmu=685800,1417320,10835640,4160520::bboxEmu=6312408,1855470,502602,88900"/>
          <p:cNvSpPr/>
          <p:nvPr/>
        </p:nvSpPr>
        <p:spPr>
          <a:xfrm>
            <a:off x="6312408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strategy.capability_map::dot_0_1_2" title="SDPM::strategy.capability_map::dot_0_1_2" descr="SDPM::strategy.capability_map::dot_0_1_2::slot=main::frameEmu=685800,1417320,10835640,4160520::bboxEmu=6884797,1855470,502602,88900"/>
          <p:cNvSpPr/>
          <p:nvPr/>
        </p:nvSpPr>
        <p:spPr>
          <a:xfrm>
            <a:off x="6884797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strategy.capability_map::dot_0_1_3" title="SDPM::strategy.capability_map::dot_0_1_3" descr="SDPM::strategy.capability_map::dot_0_1_3::slot=main::frameEmu=685800,1417320,10835640,4160520::bboxEmu=7457249,1855470,502602,88900"/>
          <p:cNvSpPr/>
          <p:nvPr/>
        </p:nvSpPr>
        <p:spPr>
          <a:xfrm>
            <a:off x="7457249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DPM::strategy.capability_map::dot_0_1_4" title="SDPM::strategy.capability_map::dot_0_1_4" descr="SDPM::strategy.capability_map::dot_0_1_4::slot=main::frameEmu=685800,1417320,10835640,4160520::bboxEmu=8029702,1855470,502602,88900"/>
          <p:cNvSpPr/>
          <p:nvPr/>
        </p:nvSpPr>
        <p:spPr>
          <a:xfrm>
            <a:off x="8029702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strategy.capability_map::label_0_2" title="SDPM::strategy.capability_map::label_0_2" descr="SDPM::strategy.capability_map::label_0_2::slot=main::frameEmu=685800,1417320,10835640,4160520::bboxEmu=8690991,1493520,2830449,279400"/>
          <p:cNvSpPr txBox="1"/>
          <p:nvPr/>
        </p:nvSpPr>
        <p:spPr>
          <a:xfrm>
            <a:off x="8690991" y="1493520"/>
            <a:ext cx="2830449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検証設計</a:t>
            </a:r>
          </a:p>
        </p:txBody>
      </p:sp>
      <p:sp>
        <p:nvSpPr>
          <p:cNvPr id="21" name="SDPM::strategy.capability_map::dot_0_2_0" title="SDPM::strategy.capability_map::dot_0_2_0" descr="SDPM::strategy.capability_map::dot_0_2_0::slot=main::frameEmu=685800,1417320,10835640,4160520::bboxEmu=8710041,1855470,502602,88900"/>
          <p:cNvSpPr/>
          <p:nvPr/>
        </p:nvSpPr>
        <p:spPr>
          <a:xfrm>
            <a:off x="8710041" y="1855470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DPM::strategy.capability_map::dot_0_2_1" title="SDPM::strategy.capability_map::dot_0_2_1" descr="SDPM::strategy.capability_map::dot_0_2_1::slot=main::frameEmu=685800,1417320,10835640,4160520::bboxEmu=9282493,1855470,502602,88900"/>
          <p:cNvSpPr/>
          <p:nvPr/>
        </p:nvSpPr>
        <p:spPr>
          <a:xfrm>
            <a:off x="9282493" y="1855470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DPM::strategy.capability_map::dot_0_2_2" title="SDPM::strategy.capability_map::dot_0_2_2" descr="SDPM::strategy.capability_map::dot_0_2_2::slot=main::frameEmu=685800,1417320,10835640,4160520::bboxEmu=9854946,1855470,502602,88900"/>
          <p:cNvSpPr/>
          <p:nvPr/>
        </p:nvSpPr>
        <p:spPr>
          <a:xfrm>
            <a:off x="9854946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DPM::strategy.capability_map::dot_0_2_3" title="SDPM::strategy.capability_map::dot_0_2_3" descr="SDPM::strategy.capability_map::dot_0_2_3::slot=main::frameEmu=685800,1417320,10835640,4160520::bboxEmu=10427398,1855470,502602,88900"/>
          <p:cNvSpPr/>
          <p:nvPr/>
        </p:nvSpPr>
        <p:spPr>
          <a:xfrm>
            <a:off x="10427398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DPM::strategy.capability_map::dot_0_2_4" title="SDPM::strategy.capability_map::dot_0_2_4" descr="SDPM::strategy.capability_map::dot_0_2_4::slot=main::frameEmu=685800,1417320,10835640,4160520::bboxEmu=10999787,1855470,502602,88900"/>
          <p:cNvSpPr/>
          <p:nvPr/>
        </p:nvSpPr>
        <p:spPr>
          <a:xfrm>
            <a:off x="10999787" y="1855470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strategy.capability_map::group_1" title="SDPM::strategy.capability_map::group_1" descr="SDPM::strategy.capability_map::group_1::slot=main::frameEmu=685800,1417320,10835640,4160520::bboxEmu=685800,2838005,1925256,1319085"/>
          <p:cNvSpPr txBox="1"/>
          <p:nvPr/>
        </p:nvSpPr>
        <p:spPr>
          <a:xfrm>
            <a:off x="685800" y="2838005"/>
            <a:ext cx="1925256" cy="131908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800">
                <a:solidFill>
                  <a:srgbClr val="263E4C"/>
                </a:solidFill>
                <a:latin typeface="Yu Gothic UI"/>
              </a:rPr>
              <a:t>業務</a:t>
            </a:r>
          </a:p>
        </p:txBody>
      </p:sp>
      <p:cxnSp>
        <p:nvCxnSpPr>
          <p:cNvPr id="27" name="SDPM::strategy.capability_map::rule_1" title="SDPM::strategy.capability_map::rule_1" descr="SDPM::strategy.capability_map::rule_1::slot=main::frameEmu=685800,1417320,10835640,4160520::bboxEmu=2750756,2838005,8770684,0"/>
          <p:cNvCxnSpPr/>
          <p:nvPr/>
        </p:nvCxnSpPr>
        <p:spPr>
          <a:xfrm>
            <a:off x="2750756" y="2838005"/>
            <a:ext cx="877068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DPM::strategy.capability_map::label_1_0" title="SDPM::strategy.capability_map::label_1_0" descr="SDPM::strategy.capability_map::label_1_0::slot=main::frameEmu=685800,1417320,10835640,4160520::bboxEmu=2750756,2914205,2830449,279400"/>
          <p:cNvSpPr txBox="1"/>
          <p:nvPr/>
        </p:nvSpPr>
        <p:spPr>
          <a:xfrm>
            <a:off x="2750756" y="2914205"/>
            <a:ext cx="2830449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標準化</a:t>
            </a:r>
          </a:p>
        </p:txBody>
      </p:sp>
      <p:sp>
        <p:nvSpPr>
          <p:cNvPr id="29" name="SDPM::strategy.capability_map::dot_1_0_0" title="SDPM::strategy.capability_map::dot_1_0_0" descr="SDPM::strategy.capability_map::dot_1_0_0::slot=main::frameEmu=685800,1417320,10835640,4160520::bboxEmu=2769806,3276155,502602,88900"/>
          <p:cNvSpPr/>
          <p:nvPr/>
        </p:nvSpPr>
        <p:spPr>
          <a:xfrm>
            <a:off x="2769806" y="3276155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DPM::strategy.capability_map::dot_1_0_1" title="SDPM::strategy.capability_map::dot_1_0_1" descr="SDPM::strategy.capability_map::dot_1_0_1::slot=main::frameEmu=685800,1417320,10835640,4160520::bboxEmu=3342259,3276155,502602,88900"/>
          <p:cNvSpPr/>
          <p:nvPr/>
        </p:nvSpPr>
        <p:spPr>
          <a:xfrm>
            <a:off x="3342259" y="3276155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DPM::strategy.capability_map::dot_1_0_2" title="SDPM::strategy.capability_map::dot_1_0_2" descr="SDPM::strategy.capability_map::dot_1_0_2::slot=main::frameEmu=685800,1417320,10835640,4160520::bboxEmu=3914711,3276155,502602,88900"/>
          <p:cNvSpPr/>
          <p:nvPr/>
        </p:nvSpPr>
        <p:spPr>
          <a:xfrm>
            <a:off x="3914711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DPM::strategy.capability_map::dot_1_0_3" title="SDPM::strategy.capability_map::dot_1_0_3" descr="SDPM::strategy.capability_map::dot_1_0_3::slot=main::frameEmu=685800,1417320,10835640,4160520::bboxEmu=4487100,3276155,502602,88900"/>
          <p:cNvSpPr/>
          <p:nvPr/>
        </p:nvSpPr>
        <p:spPr>
          <a:xfrm>
            <a:off x="4487100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DPM::strategy.capability_map::dot_1_0_4" title="SDPM::strategy.capability_map::dot_1_0_4" descr="SDPM::strategy.capability_map::dot_1_0_4::slot=main::frameEmu=685800,1417320,10835640,4160520::bboxEmu=5059553,3276155,502602,88900"/>
          <p:cNvSpPr/>
          <p:nvPr/>
        </p:nvSpPr>
        <p:spPr>
          <a:xfrm>
            <a:off x="5059553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DPM::strategy.capability_map::label_1_1" title="SDPM::strategy.capability_map::label_1_1" descr="SDPM::strategy.capability_map::label_1_1::slot=main::frameEmu=685800,1417320,10835640,4160520::bboxEmu=5720905,2914205,2830449,279400"/>
          <p:cNvSpPr txBox="1"/>
          <p:nvPr/>
        </p:nvSpPr>
        <p:spPr>
          <a:xfrm>
            <a:off x="5720905" y="2914205"/>
            <a:ext cx="2830449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例外処理</a:t>
            </a:r>
          </a:p>
        </p:txBody>
      </p:sp>
      <p:sp>
        <p:nvSpPr>
          <p:cNvPr id="35" name="SDPM::strategy.capability_map::dot_1_1_0" title="SDPM::strategy.capability_map::dot_1_1_0" descr="SDPM::strategy.capability_map::dot_1_1_0::slot=main::frameEmu=685800,1417320,10835640,4160520::bboxEmu=5739955,3276155,502602,88900"/>
          <p:cNvSpPr/>
          <p:nvPr/>
        </p:nvSpPr>
        <p:spPr>
          <a:xfrm>
            <a:off x="5739955" y="3276155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DPM::strategy.capability_map::dot_1_1_1" title="SDPM::strategy.capability_map::dot_1_1_1" descr="SDPM::strategy.capability_map::dot_1_1_1::slot=main::frameEmu=685800,1417320,10835640,4160520::bboxEmu=6312408,3276155,502602,88900"/>
          <p:cNvSpPr/>
          <p:nvPr/>
        </p:nvSpPr>
        <p:spPr>
          <a:xfrm>
            <a:off x="6312408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DPM::strategy.capability_map::dot_1_1_2" title="SDPM::strategy.capability_map::dot_1_1_2" descr="SDPM::strategy.capability_map::dot_1_1_2::slot=main::frameEmu=685800,1417320,10835640,4160520::bboxEmu=6884797,3276155,502602,88900"/>
          <p:cNvSpPr/>
          <p:nvPr/>
        </p:nvSpPr>
        <p:spPr>
          <a:xfrm>
            <a:off x="6884797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DPM::strategy.capability_map::dot_1_1_3" title="SDPM::strategy.capability_map::dot_1_1_3" descr="SDPM::strategy.capability_map::dot_1_1_3::slot=main::frameEmu=685800,1417320,10835640,4160520::bboxEmu=7457249,3276155,502602,88900"/>
          <p:cNvSpPr/>
          <p:nvPr/>
        </p:nvSpPr>
        <p:spPr>
          <a:xfrm>
            <a:off x="7457249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DPM::strategy.capability_map::dot_1_1_4" title="SDPM::strategy.capability_map::dot_1_1_4" descr="SDPM::strategy.capability_map::dot_1_1_4::slot=main::frameEmu=685800,1417320,10835640,4160520::bboxEmu=8029702,3276155,502602,88900"/>
          <p:cNvSpPr/>
          <p:nvPr/>
        </p:nvSpPr>
        <p:spPr>
          <a:xfrm>
            <a:off x="8029702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DPM::strategy.capability_map::label_1_2" title="SDPM::strategy.capability_map::label_1_2" descr="SDPM::strategy.capability_map::label_1_2::slot=main::frameEmu=685800,1417320,10835640,4160520::bboxEmu=8690991,2914205,2830449,279400"/>
          <p:cNvSpPr txBox="1"/>
          <p:nvPr/>
        </p:nvSpPr>
        <p:spPr>
          <a:xfrm>
            <a:off x="8690991" y="2914205"/>
            <a:ext cx="2830449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定着運用</a:t>
            </a:r>
          </a:p>
        </p:txBody>
      </p:sp>
      <p:sp>
        <p:nvSpPr>
          <p:cNvPr id="41" name="SDPM::strategy.capability_map::dot_1_2_0" title="SDPM::strategy.capability_map::dot_1_2_0" descr="SDPM::strategy.capability_map::dot_1_2_0::slot=main::frameEmu=685800,1417320,10835640,4160520::bboxEmu=8710041,3276155,502602,88900"/>
          <p:cNvSpPr/>
          <p:nvPr/>
        </p:nvSpPr>
        <p:spPr>
          <a:xfrm>
            <a:off x="8710041" y="3276155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DPM::strategy.capability_map::dot_1_2_1" title="SDPM::strategy.capability_map::dot_1_2_1" descr="SDPM::strategy.capability_map::dot_1_2_1::slot=main::frameEmu=685800,1417320,10835640,4160520::bboxEmu=9282493,3276155,502602,88900"/>
          <p:cNvSpPr/>
          <p:nvPr/>
        </p:nvSpPr>
        <p:spPr>
          <a:xfrm>
            <a:off x="9282493" y="3276155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DPM::strategy.capability_map::dot_1_2_2" title="SDPM::strategy.capability_map::dot_1_2_2" descr="SDPM::strategy.capability_map::dot_1_2_2::slot=main::frameEmu=685800,1417320,10835640,4160520::bboxEmu=9854946,3276155,502602,88900"/>
          <p:cNvSpPr/>
          <p:nvPr/>
        </p:nvSpPr>
        <p:spPr>
          <a:xfrm>
            <a:off x="9854946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DPM::strategy.capability_map::dot_1_2_3" title="SDPM::strategy.capability_map::dot_1_2_3" descr="SDPM::strategy.capability_map::dot_1_2_3::slot=main::frameEmu=685800,1417320,10835640,4160520::bboxEmu=10427398,3276155,502602,88900"/>
          <p:cNvSpPr/>
          <p:nvPr/>
        </p:nvSpPr>
        <p:spPr>
          <a:xfrm>
            <a:off x="10427398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DPM::strategy.capability_map::dot_1_2_4" title="SDPM::strategy.capability_map::dot_1_2_4" descr="SDPM::strategy.capability_map::dot_1_2_4::slot=main::frameEmu=685800,1417320,10835640,4160520::bboxEmu=10999787,3276155,502602,88900"/>
          <p:cNvSpPr/>
          <p:nvPr/>
        </p:nvSpPr>
        <p:spPr>
          <a:xfrm>
            <a:off x="10999787" y="3276155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DPM::strategy.capability_map::group_2" title="SDPM::strategy.capability_map::group_2" descr="SDPM::strategy.capability_map::group_2::slot=main::frameEmu=685800,1417320,10835640,4160520::bboxEmu=685800,4258754,1925256,1319085"/>
          <p:cNvSpPr txBox="1"/>
          <p:nvPr/>
        </p:nvSpPr>
        <p:spPr>
          <a:xfrm>
            <a:off x="685800" y="4258754"/>
            <a:ext cx="1925256" cy="131908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800">
                <a:solidFill>
                  <a:srgbClr val="263E4C"/>
                </a:solidFill>
                <a:latin typeface="Yu Gothic UI"/>
              </a:rPr>
              <a:t>基盤</a:t>
            </a:r>
          </a:p>
        </p:txBody>
      </p:sp>
      <p:cxnSp>
        <p:nvCxnSpPr>
          <p:cNvPr id="47" name="SDPM::strategy.capability_map::rule_2" title="SDPM::strategy.capability_map::rule_2" descr="SDPM::strategy.capability_map::rule_2::slot=main::frameEmu=685800,1417320,10835640,4160520::bboxEmu=2750756,4258754,8770684,0"/>
          <p:cNvCxnSpPr/>
          <p:nvPr/>
        </p:nvCxnSpPr>
        <p:spPr>
          <a:xfrm>
            <a:off x="2750756" y="4258754"/>
            <a:ext cx="877068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DPM::strategy.capability_map::label_2_0" title="SDPM::strategy.capability_map::label_2_0" descr="SDPM::strategy.capability_map::label_2_0::slot=main::frameEmu=685800,1417320,10835640,4160520::bboxEmu=2750756,4334954,2830449,279400"/>
          <p:cNvSpPr txBox="1"/>
          <p:nvPr/>
        </p:nvSpPr>
        <p:spPr>
          <a:xfrm>
            <a:off x="2750756" y="4334954"/>
            <a:ext cx="2830449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データ</a:t>
            </a:r>
          </a:p>
        </p:txBody>
      </p:sp>
      <p:sp>
        <p:nvSpPr>
          <p:cNvPr id="49" name="SDPM::strategy.capability_map::dot_2_0_0" title="SDPM::strategy.capability_map::dot_2_0_0" descr="SDPM::strategy.capability_map::dot_2_0_0::slot=main::frameEmu=685800,1417320,10835640,4160520::bboxEmu=2769806,4696904,502602,88900"/>
          <p:cNvSpPr/>
          <p:nvPr/>
        </p:nvSpPr>
        <p:spPr>
          <a:xfrm>
            <a:off x="2769806" y="4696904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DPM::strategy.capability_map::dot_2_0_1" title="SDPM::strategy.capability_map::dot_2_0_1" descr="SDPM::strategy.capability_map::dot_2_0_1::slot=main::frameEmu=685800,1417320,10835640,4160520::bboxEmu=3342259,4696904,502602,88900"/>
          <p:cNvSpPr/>
          <p:nvPr/>
        </p:nvSpPr>
        <p:spPr>
          <a:xfrm>
            <a:off x="3342259" y="4696904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DPM::strategy.capability_map::dot_2_0_2" title="SDPM::strategy.capability_map::dot_2_0_2" descr="SDPM::strategy.capability_map::dot_2_0_2::slot=main::frameEmu=685800,1417320,10835640,4160520::bboxEmu=3914711,4696904,502602,88900"/>
          <p:cNvSpPr/>
          <p:nvPr/>
        </p:nvSpPr>
        <p:spPr>
          <a:xfrm>
            <a:off x="3914711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DPM::strategy.capability_map::dot_2_0_3" title="SDPM::strategy.capability_map::dot_2_0_3" descr="SDPM::strategy.capability_map::dot_2_0_3::slot=main::frameEmu=685800,1417320,10835640,4160520::bboxEmu=4487100,4696904,502602,88900"/>
          <p:cNvSpPr/>
          <p:nvPr/>
        </p:nvSpPr>
        <p:spPr>
          <a:xfrm>
            <a:off x="4487100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DPM::strategy.capability_map::dot_2_0_4" title="SDPM::strategy.capability_map::dot_2_0_4" descr="SDPM::strategy.capability_map::dot_2_0_4::slot=main::frameEmu=685800,1417320,10835640,4160520::bboxEmu=5059553,4696904,502602,88900"/>
          <p:cNvSpPr/>
          <p:nvPr/>
        </p:nvSpPr>
        <p:spPr>
          <a:xfrm>
            <a:off x="5059553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DPM::strategy.capability_map::label_2_1" title="SDPM::strategy.capability_map::label_2_1" descr="SDPM::strategy.capability_map::label_2_1::slot=main::frameEmu=685800,1417320,10835640,4160520::bboxEmu=5720905,4334954,2830449,279400"/>
          <p:cNvSpPr txBox="1"/>
          <p:nvPr/>
        </p:nvSpPr>
        <p:spPr>
          <a:xfrm>
            <a:off x="5720905" y="4334954"/>
            <a:ext cx="2830449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人材</a:t>
            </a:r>
          </a:p>
        </p:txBody>
      </p:sp>
      <p:sp>
        <p:nvSpPr>
          <p:cNvPr id="55" name="SDPM::strategy.capability_map::dot_2_1_0" title="SDPM::strategy.capability_map::dot_2_1_0" descr="SDPM::strategy.capability_map::dot_2_1_0::slot=main::frameEmu=685800,1417320,10835640,4160520::bboxEmu=5739955,4696904,502602,88900"/>
          <p:cNvSpPr/>
          <p:nvPr/>
        </p:nvSpPr>
        <p:spPr>
          <a:xfrm>
            <a:off x="5739955" y="4696904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DPM::strategy.capability_map::dot_2_1_1" title="SDPM::strategy.capability_map::dot_2_1_1" descr="SDPM::strategy.capability_map::dot_2_1_1::slot=main::frameEmu=685800,1417320,10835640,4160520::bboxEmu=6312408,4696904,502602,88900"/>
          <p:cNvSpPr/>
          <p:nvPr/>
        </p:nvSpPr>
        <p:spPr>
          <a:xfrm>
            <a:off x="6312408" y="4696904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DPM::strategy.capability_map::dot_2_1_2" title="SDPM::strategy.capability_map::dot_2_1_2" descr="SDPM::strategy.capability_map::dot_2_1_2::slot=main::frameEmu=685800,1417320,10835640,4160520::bboxEmu=6884797,4696904,502602,88900"/>
          <p:cNvSpPr/>
          <p:nvPr/>
        </p:nvSpPr>
        <p:spPr>
          <a:xfrm>
            <a:off x="6884797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DPM::strategy.capability_map::dot_2_1_3" title="SDPM::strategy.capability_map::dot_2_1_3" descr="SDPM::strategy.capability_map::dot_2_1_3::slot=main::frameEmu=685800,1417320,10835640,4160520::bboxEmu=7457249,4696904,502602,88900"/>
          <p:cNvSpPr/>
          <p:nvPr/>
        </p:nvSpPr>
        <p:spPr>
          <a:xfrm>
            <a:off x="7457249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DPM::strategy.capability_map::dot_2_1_4" title="SDPM::strategy.capability_map::dot_2_1_4" descr="SDPM::strategy.capability_map::dot_2_1_4::slot=main::frameEmu=685800,1417320,10835640,4160520::bboxEmu=8029702,4696904,502602,88900"/>
          <p:cNvSpPr/>
          <p:nvPr/>
        </p:nvSpPr>
        <p:spPr>
          <a:xfrm>
            <a:off x="8029702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DPM::strategy.capability_map::label_2_2" title="SDPM::strategy.capability_map::label_2_2" descr="SDPM::strategy.capability_map::label_2_2::slot=main::frameEmu=685800,1417320,10835640,4160520::bboxEmu=8690991,4334954,2830449,279400"/>
          <p:cNvSpPr txBox="1"/>
          <p:nvPr/>
        </p:nvSpPr>
        <p:spPr>
          <a:xfrm>
            <a:off x="8690991" y="4334954"/>
            <a:ext cx="2830449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統制</a:t>
            </a:r>
          </a:p>
        </p:txBody>
      </p:sp>
      <p:sp>
        <p:nvSpPr>
          <p:cNvPr id="61" name="SDPM::strategy.capability_map::dot_2_2_0" title="SDPM::strategy.capability_map::dot_2_2_0" descr="SDPM::strategy.capability_map::dot_2_2_0::slot=main::frameEmu=685800,1417320,10835640,4160520::bboxEmu=8710041,4696904,502602,88900"/>
          <p:cNvSpPr/>
          <p:nvPr/>
        </p:nvSpPr>
        <p:spPr>
          <a:xfrm>
            <a:off x="8710041" y="4696904"/>
            <a:ext cx="502602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DPM::strategy.capability_map::dot_2_2_1" title="SDPM::strategy.capability_map::dot_2_2_1" descr="SDPM::strategy.capability_map::dot_2_2_1::slot=main::frameEmu=685800,1417320,10835640,4160520::bboxEmu=9282493,4696904,502602,88900"/>
          <p:cNvSpPr/>
          <p:nvPr/>
        </p:nvSpPr>
        <p:spPr>
          <a:xfrm>
            <a:off x="9282493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DPM::strategy.capability_map::dot_2_2_2" title="SDPM::strategy.capability_map::dot_2_2_2" descr="SDPM::strategy.capability_map::dot_2_2_2::slot=main::frameEmu=685800,1417320,10835640,4160520::bboxEmu=9854946,4696904,502602,88900"/>
          <p:cNvSpPr/>
          <p:nvPr/>
        </p:nvSpPr>
        <p:spPr>
          <a:xfrm>
            <a:off x="9854946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DPM::strategy.capability_map::dot_2_2_3" title="SDPM::strategy.capability_map::dot_2_2_3" descr="SDPM::strategy.capability_map::dot_2_2_3::slot=main::frameEmu=685800,1417320,10835640,4160520::bboxEmu=10427398,4696904,502602,88900"/>
          <p:cNvSpPr/>
          <p:nvPr/>
        </p:nvSpPr>
        <p:spPr>
          <a:xfrm>
            <a:off x="10427398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DPM::strategy.capability_map::dot_2_2_4" title="SDPM::strategy.capability_map::dot_2_2_4" descr="SDPM::strategy.capability_map::dot_2_2_4::slot=main::frameEmu=685800,1417320,10835640,4160520::bboxEmu=10999787,4696904,502602,88900"/>
          <p:cNvSpPr/>
          <p:nvPr/>
        </p:nvSpPr>
        <p:spPr>
          <a:xfrm>
            <a:off x="10999787" y="4696904"/>
            <a:ext cx="502602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746D66"/>
                </a:solidFill>
                <a:latin typeface="Yu Gothic UI"/>
              </a:rPr>
              <a:t>出典：</a:t>
            </a:r>
            <a:r>
              <a:rPr sz="1200">
                <a:solidFill>
                  <a:srgbClr val="746D66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746D66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100">
                <a:solidFill>
                  <a:srgbClr val="263E4C"/>
                </a:solidFill>
                <a:latin typeface="Yu Gothic UI"/>
              </a:rPr>
              <a:t>90 </a:t>
            </a:r>
            <a:r>
              <a:rPr lang="ja-JP" sz="3100">
                <a:solidFill>
                  <a:srgbClr val="263E4C"/>
                </a:solidFill>
                <a:latin typeface="Yu Gothic UI"/>
              </a:rPr>
              <a:t>日で設計・実装・判定までを一巡させる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321040,5623560,3017520,420624::bboxEmu=8321040,5623560,3017520,139700"/>
          <p:cNvSpPr txBox="1"/>
          <p:nvPr/>
        </p:nvSpPr>
        <p:spPr>
          <a:xfrm>
            <a:off x="8321040" y="5623560"/>
            <a:ext cx="301752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ACTION</a:t>
            </a:r>
          </a:p>
        </p:txBody>
      </p:sp>
      <p:cxnSp>
        <p:nvCxnSpPr>
          <p:cNvPr id="6" name="SDPM::execution.roadmap::spine" title="SDPM::execution.roadmap::spine" descr="SDPM::execution.roadmap::spine::slot=main::frameEmu=640080,1444752,10881360,4114800::bboxEmu=2598737,1444752,0,4114800"/>
          <p:cNvCxnSpPr/>
          <p:nvPr/>
        </p:nvCxnSpPr>
        <p:spPr>
          <a:xfrm>
            <a:off x="2598737" y="1444752"/>
            <a:ext cx="0" cy="4114800"/>
          </a:xfrm>
          <a:prstGeom prst="line">
            <a:avLst/>
          </a:prstGeom>
          <a:ln w="3810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DPM::execution.roadmap::period_0" title="SDPM::execution.roadmap::period_0" descr="SDPM::execution.roadmap::period_0::slot=main::frameEmu=640080,1444752,10881360,4114800::bboxEmu=640080,1444752,1523365,981075"/>
          <p:cNvSpPr txBox="1"/>
          <p:nvPr/>
        </p:nvSpPr>
        <p:spPr>
          <a:xfrm>
            <a:off x="640080" y="1444752"/>
            <a:ext cx="1523365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sz="1600">
                <a:solidFill>
                  <a:srgbClr val="A45A3A"/>
                </a:solidFill>
                <a:latin typeface="Yu Gothic UI"/>
              </a:rPr>
              <a:t>0-30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日</a:t>
            </a:r>
          </a:p>
        </p:txBody>
      </p:sp>
      <p:sp>
        <p:nvSpPr>
          <p:cNvPr id="8" name="SDPM::execution.roadmap::node_0" title="SDPM::execution.roadmap::node_0" descr="SDPM::execution.roadmap::node_0::slot=main::frameEmu=640080,1444752,10881360,4114800::bboxEmu=2516187,1520952,165100,165100"/>
          <p:cNvSpPr/>
          <p:nvPr/>
        </p:nvSpPr>
        <p:spPr>
          <a:xfrm>
            <a:off x="2516187" y="1520952"/>
            <a:ext cx="165100" cy="165100"/>
          </a:xfrm>
          <a:prstGeom prst="ellipse">
            <a:avLst/>
          </a:prstGeom>
          <a:solidFill>
            <a:srgbClr val="26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SDPM::execution.roadmap::title_0" title="SDPM::execution.roadmap::title_0" descr="SDPM::execution.roadmap::title_0::slot=main::frameEmu=640080,1444752,10881360,4114800::bboxEmu=2814637,1444752,8706802,215900"/>
          <p:cNvSpPr txBox="1"/>
          <p:nvPr/>
        </p:nvSpPr>
        <p:spPr>
          <a:xfrm>
            <a:off x="2814637" y="1444752"/>
            <a:ext cx="8706802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900">
                <a:solidFill>
                  <a:srgbClr val="29231F"/>
                </a:solidFill>
                <a:latin typeface="Yu Gothic UI"/>
              </a:rPr>
              <a:t>設計</a:t>
            </a:r>
          </a:p>
        </p:txBody>
      </p:sp>
      <p:sp>
        <p:nvSpPr>
          <p:cNvPr id="10" name="SDPM::execution.roadmap::items_0" title="SDPM::execution.roadmap::items_0" descr="SDPM::execution.roadmap::items_0::slot=main::frameEmu=640080,1444752,10881360,4114800::bboxEmu=2814637,1698752,8706802,727075"/>
          <p:cNvSpPr txBox="1"/>
          <p:nvPr/>
        </p:nvSpPr>
        <p:spPr>
          <a:xfrm>
            <a:off x="2814637" y="1698752"/>
            <a:ext cx="8706802" cy="727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業務課題</a:t>
            </a:r>
            <a:r>
              <a:rPr sz="1300">
                <a:solidFill>
                  <a:srgbClr val="746D66"/>
                </a:solidFill>
                <a:latin typeface="Yu Gothic UI"/>
              </a:rPr>
              <a:t>  • 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価値</a:t>
            </a:r>
            <a:r>
              <a:rPr sz="1300">
                <a:solidFill>
                  <a:srgbClr val="746D66"/>
                </a:solidFill>
                <a:latin typeface="Yu Gothic UI"/>
              </a:rPr>
              <a:t> KPI</a:t>
            </a:r>
          </a:p>
        </p:txBody>
      </p:sp>
      <p:sp>
        <p:nvSpPr>
          <p:cNvPr id="11" name="SDPM::execution.roadmap::period_1" title="SDPM::execution.roadmap::period_1" descr="SDPM::execution.roadmap::period_1::slot=main::frameEmu=640080,1444752,10881360,4114800::bboxEmu=640080,2489327,1523365,981075"/>
          <p:cNvSpPr txBox="1"/>
          <p:nvPr/>
        </p:nvSpPr>
        <p:spPr>
          <a:xfrm>
            <a:off x="640080" y="2489327"/>
            <a:ext cx="1523365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sz="1600">
                <a:solidFill>
                  <a:srgbClr val="A45A3A"/>
                </a:solidFill>
                <a:latin typeface="Yu Gothic UI"/>
              </a:rPr>
              <a:t>31-60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日</a:t>
            </a:r>
          </a:p>
        </p:txBody>
      </p:sp>
      <p:sp>
        <p:nvSpPr>
          <p:cNvPr id="12" name="SDPM::execution.roadmap::node_1" title="SDPM::execution.roadmap::node_1" descr="SDPM::execution.roadmap::node_1::slot=main::frameEmu=640080,1444752,10881360,4114800::bboxEmu=2516187,2565527,165100,165100"/>
          <p:cNvSpPr/>
          <p:nvPr/>
        </p:nvSpPr>
        <p:spPr>
          <a:xfrm>
            <a:off x="2516187" y="2565527"/>
            <a:ext cx="165100" cy="165100"/>
          </a:xfrm>
          <a:prstGeom prst="ellipse">
            <a:avLst/>
          </a:prstGeom>
          <a:solidFill>
            <a:srgbClr val="26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SDPM::execution.roadmap::title_1" title="SDPM::execution.roadmap::title_1" descr="SDPM::execution.roadmap::title_1::slot=main::frameEmu=640080,1444752,10881360,4114800::bboxEmu=2814637,2489327,8706802,215900"/>
          <p:cNvSpPr txBox="1"/>
          <p:nvPr/>
        </p:nvSpPr>
        <p:spPr>
          <a:xfrm>
            <a:off x="2814637" y="2489327"/>
            <a:ext cx="8706802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900">
                <a:solidFill>
                  <a:srgbClr val="29231F"/>
                </a:solidFill>
                <a:latin typeface="Yu Gothic UI"/>
              </a:rPr>
              <a:t>実装</a:t>
            </a:r>
          </a:p>
        </p:txBody>
      </p:sp>
      <p:sp>
        <p:nvSpPr>
          <p:cNvPr id="14" name="SDPM::execution.roadmap::items_1" title="SDPM::execution.roadmap::items_1" descr="SDPM::execution.roadmap::items_1::slot=main::frameEmu=640080,1444752,10881360,4114800::bboxEmu=2814637,2743327,8706802,727075"/>
          <p:cNvSpPr txBox="1"/>
          <p:nvPr/>
        </p:nvSpPr>
        <p:spPr>
          <a:xfrm>
            <a:off x="2814637" y="2743327"/>
            <a:ext cx="8706802" cy="727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データ接続</a:t>
            </a:r>
            <a:r>
              <a:rPr sz="1300">
                <a:solidFill>
                  <a:srgbClr val="746D66"/>
                </a:solidFill>
                <a:latin typeface="Yu Gothic UI"/>
              </a:rPr>
              <a:t>  • 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現場検証</a:t>
            </a:r>
          </a:p>
        </p:txBody>
      </p:sp>
      <p:sp>
        <p:nvSpPr>
          <p:cNvPr id="15" name="SDPM::execution.roadmap::period_2" title="SDPM::execution.roadmap::period_2" descr="SDPM::execution.roadmap::period_2::slot=main::frameEmu=640080,1444752,10881360,4114800::bboxEmu=640080,3533902,1523365,981075"/>
          <p:cNvSpPr txBox="1"/>
          <p:nvPr/>
        </p:nvSpPr>
        <p:spPr>
          <a:xfrm>
            <a:off x="640080" y="3533902"/>
            <a:ext cx="1523365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sz="1600">
                <a:solidFill>
                  <a:srgbClr val="A45A3A"/>
                </a:solidFill>
                <a:latin typeface="Yu Gothic UI"/>
              </a:rPr>
              <a:t>61-80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日</a:t>
            </a:r>
          </a:p>
        </p:txBody>
      </p:sp>
      <p:sp>
        <p:nvSpPr>
          <p:cNvPr id="16" name="SDPM::execution.roadmap::node_2" title="SDPM::execution.roadmap::node_2" descr="SDPM::execution.roadmap::node_2::slot=main::frameEmu=640080,1444752,10881360,4114800::bboxEmu=2516187,3610102,165100,165100"/>
          <p:cNvSpPr/>
          <p:nvPr/>
        </p:nvSpPr>
        <p:spPr>
          <a:xfrm>
            <a:off x="2516187" y="3610102"/>
            <a:ext cx="165100" cy="165100"/>
          </a:xfrm>
          <a:prstGeom prst="ellipse">
            <a:avLst/>
          </a:prstGeom>
          <a:solidFill>
            <a:srgbClr val="26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SDPM::execution.roadmap::title_2" title="SDPM::execution.roadmap::title_2" descr="SDPM::execution.roadmap::title_2::slot=main::frameEmu=640080,1444752,10881360,4114800::bboxEmu=2814637,3533902,8706802,215900"/>
          <p:cNvSpPr txBox="1"/>
          <p:nvPr/>
        </p:nvSpPr>
        <p:spPr>
          <a:xfrm>
            <a:off x="2814637" y="3533902"/>
            <a:ext cx="8706802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900">
                <a:solidFill>
                  <a:srgbClr val="29231F"/>
                </a:solidFill>
                <a:latin typeface="Yu Gothic UI"/>
              </a:rPr>
              <a:t>定着</a:t>
            </a:r>
          </a:p>
        </p:txBody>
      </p:sp>
      <p:sp>
        <p:nvSpPr>
          <p:cNvPr id="18" name="SDPM::execution.roadmap::items_2" title="SDPM::execution.roadmap::items_2" descr="SDPM::execution.roadmap::items_2::slot=main::frameEmu=640080,1444752,10881360,4114800::bboxEmu=2814637,3787902,8706802,727075"/>
          <p:cNvSpPr txBox="1"/>
          <p:nvPr/>
        </p:nvSpPr>
        <p:spPr>
          <a:xfrm>
            <a:off x="2814637" y="3787902"/>
            <a:ext cx="8706802" cy="727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例外処理</a:t>
            </a:r>
            <a:r>
              <a:rPr sz="1300">
                <a:solidFill>
                  <a:srgbClr val="746D66"/>
                </a:solidFill>
                <a:latin typeface="Yu Gothic UI"/>
              </a:rPr>
              <a:t>  • 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運用標準</a:t>
            </a:r>
          </a:p>
        </p:txBody>
      </p:sp>
      <p:sp>
        <p:nvSpPr>
          <p:cNvPr id="19" name="SDPM::execution.roadmap::period_3" title="SDPM::execution.roadmap::period_3" descr="SDPM::execution.roadmap::period_3::slot=main::frameEmu=640080,1444752,10881360,4114800::bboxEmu=640080,4578477,1523365,981075"/>
          <p:cNvSpPr txBox="1"/>
          <p:nvPr/>
        </p:nvSpPr>
        <p:spPr>
          <a:xfrm>
            <a:off x="640080" y="4578477"/>
            <a:ext cx="1523365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sz="1600">
                <a:solidFill>
                  <a:srgbClr val="A45A3A"/>
                </a:solidFill>
                <a:latin typeface="Yu Gothic UI"/>
              </a:rPr>
              <a:t>81-90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日</a:t>
            </a:r>
          </a:p>
        </p:txBody>
      </p:sp>
      <p:sp>
        <p:nvSpPr>
          <p:cNvPr id="20" name="SDPM::execution.roadmap::node_3" title="SDPM::execution.roadmap::node_3" descr="SDPM::execution.roadmap::node_3::slot=main::frameEmu=640080,1444752,10881360,4114800::bboxEmu=2516187,4654677,165100,165100"/>
          <p:cNvSpPr/>
          <p:nvPr/>
        </p:nvSpPr>
        <p:spPr>
          <a:xfrm>
            <a:off x="2516187" y="4654677"/>
            <a:ext cx="165100" cy="165100"/>
          </a:xfrm>
          <a:prstGeom prst="ellipse">
            <a:avLst/>
          </a:prstGeom>
          <a:solidFill>
            <a:srgbClr val="26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SDPM::execution.roadmap::title_3" title="SDPM::execution.roadmap::title_3" descr="SDPM::execution.roadmap::title_3::slot=main::frameEmu=640080,1444752,10881360,4114800::bboxEmu=2814637,4578477,8706802,215900"/>
          <p:cNvSpPr txBox="1"/>
          <p:nvPr/>
        </p:nvSpPr>
        <p:spPr>
          <a:xfrm>
            <a:off x="2814637" y="4578477"/>
            <a:ext cx="8706802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900">
                <a:solidFill>
                  <a:srgbClr val="29231F"/>
                </a:solidFill>
                <a:latin typeface="Yu Gothic UI"/>
              </a:rPr>
              <a:t>判定</a:t>
            </a:r>
          </a:p>
        </p:txBody>
      </p:sp>
      <p:sp>
        <p:nvSpPr>
          <p:cNvPr id="22" name="SDPM::execution.roadmap::items_3" title="SDPM::execution.roadmap::items_3" descr="SDPM::execution.roadmap::items_3::slot=main::frameEmu=640080,1444752,10881360,4114800::bboxEmu=2814637,4832477,8706802,727075"/>
          <p:cNvSpPr txBox="1"/>
          <p:nvPr/>
        </p:nvSpPr>
        <p:spPr>
          <a:xfrm>
            <a:off x="2814637" y="4832477"/>
            <a:ext cx="8706802" cy="727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効果測定</a:t>
            </a:r>
            <a:r>
              <a:rPr sz="1300">
                <a:solidFill>
                  <a:srgbClr val="746D66"/>
                </a:solidFill>
                <a:latin typeface="Yu Gothic UI"/>
              </a:rPr>
              <a:t>  • 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拡大判断</a:t>
            </a:r>
          </a:p>
        </p:txBody>
      </p:sp>
      <p:sp>
        <p:nvSpPr>
          <p:cNvPr id="23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746D66"/>
                </a:solidFill>
                <a:latin typeface="Yu Gothic UI"/>
              </a:rPr>
              <a:t>出典：</a:t>
            </a:r>
            <a:r>
              <a:rPr sz="1200">
                <a:solidFill>
                  <a:srgbClr val="746D66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746D66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263E4C"/>
                </a:solidFill>
                <a:latin typeface="Yu Gothic UI"/>
              </a:rPr>
              <a:t>価値・実装・リスクを同じ会議体で判断する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796528,1828800,2542032,2834640::bboxEmu=8796528,1828800,2542032,139700"/>
          <p:cNvSpPr txBox="1"/>
          <p:nvPr/>
        </p:nvSpPr>
        <p:spPr>
          <a:xfrm>
            <a:off x="8796528" y="1828800"/>
            <a:ext cx="2542032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ACTION</a:t>
            </a:r>
          </a:p>
        </p:txBody>
      </p:sp>
      <p:sp>
        <p:nvSpPr>
          <p:cNvPr id="6" name="SDPM::execution.governance::kicker" title="SDPM::execution.governance::kicker" descr="SDPM::execution.governance::kicker::slot=main::frameEmu=685800,1444752,7818120,4553712::bboxEmu=685800,1444752,3549141,177800"/>
          <p:cNvSpPr txBox="1"/>
          <p:nvPr/>
        </p:nvSpPr>
        <p:spPr>
          <a:xfrm>
            <a:off x="685800" y="1444752"/>
            <a:ext cx="3549141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GOVERNANCE</a:t>
            </a:r>
          </a:p>
        </p:txBody>
      </p:sp>
      <p:cxnSp>
        <p:nvCxnSpPr>
          <p:cNvPr id="7" name="SDPM::execution.governance::kicker_rule" title="SDPM::execution.governance::kicker_rule" descr="SDPM::execution.governance::kicker_rule::slot=main::frameEmu=685800,1444752,7818120,4553712::bboxEmu=685800,1609852,698500,0"/>
          <p:cNvCxnSpPr/>
          <p:nvPr/>
        </p:nvCxnSpPr>
        <p:spPr>
          <a:xfrm>
            <a:off x="685800" y="1609852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execution.governance::main_title" title="SDPM::execution.governance::main_title" descr="SDPM::execution.governance::main_title::slot=main::frameEmu=685800,1444752,7818120,4553712::bboxEmu=685800,1787652,3549141,3385312"/>
          <p:cNvSpPr txBox="1"/>
          <p:nvPr/>
        </p:nvSpPr>
        <p:spPr>
          <a:xfrm>
            <a:off x="685800" y="1787652"/>
            <a:ext cx="3549141" cy="338531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200">
                <a:solidFill>
                  <a:srgbClr val="263E4C"/>
                </a:solidFill>
                <a:latin typeface="Yu Gothic UI"/>
              </a:rPr>
              <a:t>Steering Committee</a:t>
            </a:r>
          </a:p>
        </p:txBody>
      </p:sp>
      <p:sp>
        <p:nvSpPr>
          <p:cNvPr id="9" name="SDPM::execution.governance::main_detail" title="SDPM::execution.governance::main_detail" descr="SDPM::execution.governance::main_detail::slot=main::frameEmu=685800,1444752,7818120,4553712::bboxEmu=685800,5236464,3549141,317500"/>
          <p:cNvSpPr txBox="1"/>
          <p:nvPr/>
        </p:nvSpPr>
        <p:spPr>
          <a:xfrm>
            <a:off x="685800" y="5236464"/>
            <a:ext cx="3549141" cy="317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400">
                <a:solidFill>
                  <a:srgbClr val="A45A3A"/>
                </a:solidFill>
                <a:latin typeface="Yu Gothic UI"/>
              </a:rPr>
              <a:t>隔週・投資判断</a:t>
            </a:r>
          </a:p>
        </p:txBody>
      </p:sp>
      <p:cxnSp>
        <p:nvCxnSpPr>
          <p:cNvPr id="10" name="SDPM::execution.governance::rule_1" title="SDPM::execution.governance::rule_1" descr="SDPM::execution.governance::rule_1::slot=main::frameEmu=685800,1444752,7818120,4553712::bboxEmu=4501642,1444752,4002278,0"/>
          <p:cNvCxnSpPr/>
          <p:nvPr/>
        </p:nvCxnSpPr>
        <p:spPr>
          <a:xfrm>
            <a:off x="4501642" y="1444752"/>
            <a:ext cx="4002278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execution.governance::title_1" title="SDPM::execution.governance::title_1" descr="SDPM::execution.governance::title_1::slot=main::frameEmu=685800,1444752,7818120,4553712::bboxEmu=4501642,1520952,2184336,2149856"/>
          <p:cNvSpPr txBox="1"/>
          <p:nvPr/>
        </p:nvSpPr>
        <p:spPr>
          <a:xfrm>
            <a:off x="4501642" y="1520952"/>
            <a:ext cx="2184336" cy="21498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800">
                <a:solidFill>
                  <a:srgbClr val="29231F"/>
                </a:solidFill>
                <a:latin typeface="Yu Gothic UI"/>
              </a:rPr>
              <a:t>Value Office</a:t>
            </a:r>
          </a:p>
        </p:txBody>
      </p:sp>
      <p:sp>
        <p:nvSpPr>
          <p:cNvPr id="12" name="SDPM::execution.governance::detail_1" title="SDPM::execution.governance::detail_1" descr="SDPM::execution.governance::detail_1::slot=main::frameEmu=685800,1444752,7818120,4553712::bboxEmu=6787642,1520952,1716277,2149856"/>
          <p:cNvSpPr txBox="1"/>
          <p:nvPr/>
        </p:nvSpPr>
        <p:spPr>
          <a:xfrm>
            <a:off x="6787642" y="1520952"/>
            <a:ext cx="1716277" cy="21498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300">
                <a:solidFill>
                  <a:srgbClr val="746D66"/>
                </a:solidFill>
                <a:latin typeface="Yu Gothic UI"/>
              </a:rPr>
              <a:t>週次・価値</a:t>
            </a:r>
            <a:r>
              <a:rPr sz="1300">
                <a:solidFill>
                  <a:srgbClr val="746D66"/>
                </a:solidFill>
                <a:latin typeface="Yu Gothic UI"/>
              </a:rPr>
              <a:t> /KPI</a:t>
            </a:r>
          </a:p>
        </p:txBody>
      </p:sp>
      <p:cxnSp>
        <p:nvCxnSpPr>
          <p:cNvPr id="13" name="SDPM::execution.governance::rule_2" title="SDPM::execution.governance::rule_2" descr="SDPM::execution.governance::rule_2::slot=main::frameEmu=685800,1444752,7818120,4553712::bboxEmu=4501642,3772408,4002278,0"/>
          <p:cNvCxnSpPr/>
          <p:nvPr/>
        </p:nvCxnSpPr>
        <p:spPr>
          <a:xfrm>
            <a:off x="4501642" y="3772408"/>
            <a:ext cx="4002278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execution.governance::title_2" title="SDPM::execution.governance::title_2" descr="SDPM::execution.governance::title_2::slot=main::frameEmu=685800,1444752,7818120,4553712::bboxEmu=4501642,3848608,2184336,2149856"/>
          <p:cNvSpPr txBox="1"/>
          <p:nvPr/>
        </p:nvSpPr>
        <p:spPr>
          <a:xfrm>
            <a:off x="4501642" y="3848608"/>
            <a:ext cx="2184336" cy="21498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800">
                <a:solidFill>
                  <a:srgbClr val="29231F"/>
                </a:solidFill>
                <a:latin typeface="Yu Gothic UI"/>
              </a:rPr>
              <a:t>Delivery Teams</a:t>
            </a:r>
          </a:p>
        </p:txBody>
      </p:sp>
      <p:sp>
        <p:nvSpPr>
          <p:cNvPr id="15" name="SDPM::execution.governance::detail_2" title="SDPM::execution.governance::detail_2" descr="SDPM::execution.governance::detail_2::slot=main::frameEmu=685800,1444752,7818120,4553712::bboxEmu=6787642,3848608,1716277,2149856"/>
          <p:cNvSpPr txBox="1"/>
          <p:nvPr/>
        </p:nvSpPr>
        <p:spPr>
          <a:xfrm>
            <a:off x="6787642" y="3848608"/>
            <a:ext cx="1716277" cy="21498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300">
                <a:solidFill>
                  <a:srgbClr val="746D66"/>
                </a:solidFill>
                <a:latin typeface="Yu Gothic UI"/>
              </a:rPr>
              <a:t>日次・実装</a:t>
            </a:r>
            <a:r>
              <a:rPr sz="1300">
                <a:solidFill>
                  <a:srgbClr val="746D66"/>
                </a:solidFill>
                <a:latin typeface="Yu Gothic UI"/>
              </a:rPr>
              <a:t> /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運用</a:t>
            </a:r>
          </a:p>
        </p:txBody>
      </p:sp>
      <p:sp>
        <p:nvSpPr>
          <p:cNvPr id="16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746D66"/>
                </a:solidFill>
                <a:latin typeface="Yu Gothic UI"/>
              </a:rPr>
              <a:t>出典：</a:t>
            </a:r>
            <a:r>
              <a:rPr sz="1200">
                <a:solidFill>
                  <a:srgbClr val="746D66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746D66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263E4C"/>
                </a:solidFill>
                <a:latin typeface="Yu Gothic UI"/>
              </a:rPr>
              <a:t>本日は、対象業務・責任者・価値</a:t>
            </a:r>
            <a:r>
              <a:rPr sz="3100">
                <a:solidFill>
                  <a:srgbClr val="263E4C"/>
                </a:solidFill>
                <a:latin typeface="Yu Gothic UI"/>
              </a:rPr>
              <a:t> KPI </a:t>
            </a:r>
            <a:r>
              <a:rPr lang="ja-JP" sz="3100">
                <a:solidFill>
                  <a:srgbClr val="263E4C"/>
                </a:solidFill>
                <a:latin typeface="Yu Gothic UI"/>
              </a:rPr>
              <a:t>を決める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339328,1783080,2999232,3200400::bboxEmu=8339328,1783080,2999232,139700"/>
          <p:cNvSpPr txBox="1"/>
          <p:nvPr/>
        </p:nvSpPr>
        <p:spPr>
          <a:xfrm>
            <a:off x="8339328" y="1783080"/>
            <a:ext cx="2999232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ACTION</a:t>
            </a:r>
          </a:p>
        </p:txBody>
      </p:sp>
      <p:sp>
        <p:nvSpPr>
          <p:cNvPr id="6" name="SDPM::narrative.recommendation_actions::kicker" title="SDPM::narrative.recommendation_actions::kicker" descr="SDPM::narrative.recommendation_actions::kicker::slot=main::frameEmu=594360,1444752,7452360,4553712::bboxEmu=594360,1444752,1587500,177800"/>
          <p:cNvSpPr txBox="1"/>
          <p:nvPr/>
        </p:nvSpPr>
        <p:spPr>
          <a:xfrm>
            <a:off x="594360" y="1444752"/>
            <a:ext cx="15875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RECOMMENDATION</a:t>
            </a:r>
          </a:p>
        </p:txBody>
      </p:sp>
      <p:cxnSp>
        <p:nvCxnSpPr>
          <p:cNvPr id="7" name="SDPM::narrative.recommendation_actions::kicker_rule" title="SDPM::narrative.recommendation_actions::kicker_rule" descr="SDPM::narrative.recommendation_actions::kicker_rule::slot=main::frameEmu=594360,1444752,7452360,4553712::bboxEmu=594360,1609852,698500,0"/>
          <p:cNvCxnSpPr/>
          <p:nvPr/>
        </p:nvCxnSpPr>
        <p:spPr>
          <a:xfrm>
            <a:off x="594360" y="1609852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narrative.recommendation_actions::recommendation" title="SDPM::narrative.recommendation_actions::recommendation" descr="SDPM::narrative.recommendation_actions::recommendation::slot=main::frameEmu=594360,1444752,7452360,4553712::bboxEmu=594360,1762252,6259957,2342261"/>
          <p:cNvSpPr txBox="1"/>
          <p:nvPr/>
        </p:nvSpPr>
        <p:spPr>
          <a:xfrm>
            <a:off x="594360" y="1762252"/>
            <a:ext cx="6259957" cy="234226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800">
                <a:solidFill>
                  <a:srgbClr val="263E4C"/>
                </a:solidFill>
                <a:latin typeface="Yu Gothic UI"/>
              </a:rPr>
              <a:t>対象業務を一つに絞り、業務責任者と価値</a:t>
            </a:r>
            <a:r>
              <a:rPr sz="3800">
                <a:solidFill>
                  <a:srgbClr val="263E4C"/>
                </a:solidFill>
                <a:latin typeface="Yu Gothic UI"/>
              </a:rPr>
              <a:t> KPI </a:t>
            </a:r>
            <a:r>
              <a:rPr lang="ja-JP" sz="3800">
                <a:solidFill>
                  <a:srgbClr val="263E4C"/>
                </a:solidFill>
                <a:latin typeface="Yu Gothic UI"/>
              </a:rPr>
              <a:t>を置いて</a:t>
            </a:r>
            <a:r>
              <a:rPr sz="3800">
                <a:solidFill>
                  <a:srgbClr val="263E4C"/>
                </a:solidFill>
                <a:latin typeface="Yu Gothic UI"/>
              </a:rPr>
              <a:t> 90 </a:t>
            </a:r>
            <a:r>
              <a:rPr lang="ja-JP" sz="3800">
                <a:solidFill>
                  <a:srgbClr val="263E4C"/>
                </a:solidFill>
                <a:latin typeface="Yu Gothic UI"/>
              </a:rPr>
              <a:t>日</a:t>
            </a:r>
            <a:r>
              <a:rPr sz="3800">
                <a:solidFill>
                  <a:srgbClr val="263E4C"/>
                </a:solidFill>
                <a:latin typeface="Yu Gothic UI"/>
              </a:rPr>
              <a:t> PoC </a:t>
            </a:r>
            <a:r>
              <a:rPr lang="ja-JP" sz="3800">
                <a:solidFill>
                  <a:srgbClr val="263E4C"/>
                </a:solidFill>
                <a:latin typeface="Yu Gothic UI"/>
              </a:rPr>
              <a:t>を開始する</a:t>
            </a:r>
          </a:p>
        </p:txBody>
      </p:sp>
      <p:sp>
        <p:nvSpPr>
          <p:cNvPr id="9" name="SDPM::narrative.recommendation_actions::index_0" title="SDPM::narrative.recommendation_actions::index_0" descr="SDPM::narrative.recommendation_actions::index_0::slot=main::frameEmu=594360,1444752,7452360,4553712::bboxEmu=594360,4231513,2382520,203200"/>
          <p:cNvSpPr txBox="1"/>
          <p:nvPr/>
        </p:nvSpPr>
        <p:spPr>
          <a:xfrm>
            <a:off x="594360" y="4231513"/>
            <a:ext cx="238252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800">
                <a:solidFill>
                  <a:srgbClr val="A45A3A"/>
                </a:solidFill>
                <a:latin typeface="Yu Gothic UI"/>
              </a:rPr>
              <a:t>01</a:t>
            </a:r>
          </a:p>
        </p:txBody>
      </p:sp>
      <p:cxnSp>
        <p:nvCxnSpPr>
          <p:cNvPr id="10" name="SDPM::narrative.recommendation_actions::rule_0" title="SDPM::narrative.recommendation_actions::rule_0" descr="SDPM::narrative.recommendation_actions::rule_0::slot=main::frameEmu=594360,1444752,7452360,4553712::bboxEmu=594360,4498213,2382520,0"/>
          <p:cNvCxnSpPr/>
          <p:nvPr/>
        </p:nvCxnSpPr>
        <p:spPr>
          <a:xfrm>
            <a:off x="594360" y="4498213"/>
            <a:ext cx="238252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narrative.recommendation_actions::action_0" title="SDPM::narrative.recommendation_actions::action_0" descr="SDPM::narrative.recommendation_actions::action_0::slot=main::frameEmu=594360,1444752,7452360,4553712::bboxEmu=594360,4599813,2382520,1398651"/>
          <p:cNvSpPr txBox="1"/>
          <p:nvPr/>
        </p:nvSpPr>
        <p:spPr>
          <a:xfrm>
            <a:off x="594360" y="4599813"/>
            <a:ext cx="2382520" cy="139865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29231F"/>
                </a:solidFill>
                <a:latin typeface="Yu Gothic UI"/>
              </a:rPr>
              <a:t>対象業務と顧客価値を確定</a:t>
            </a:r>
          </a:p>
        </p:txBody>
      </p:sp>
      <p:sp>
        <p:nvSpPr>
          <p:cNvPr id="12" name="SDPM::narrative.recommendation_actions::index_1" title="SDPM::narrative.recommendation_actions::index_1" descr="SDPM::narrative.recommendation_actions::index_1::slot=main::frameEmu=594360,1444752,7452360,4553712::bboxEmu=3129280,4231513,2382520,203200"/>
          <p:cNvSpPr txBox="1"/>
          <p:nvPr/>
        </p:nvSpPr>
        <p:spPr>
          <a:xfrm>
            <a:off x="3129280" y="4231513"/>
            <a:ext cx="238252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800">
                <a:solidFill>
                  <a:srgbClr val="A45A3A"/>
                </a:solidFill>
                <a:latin typeface="Yu Gothic UI"/>
              </a:rPr>
              <a:t>02</a:t>
            </a:r>
          </a:p>
        </p:txBody>
      </p:sp>
      <p:cxnSp>
        <p:nvCxnSpPr>
          <p:cNvPr id="13" name="SDPM::narrative.recommendation_actions::rule_1" title="SDPM::narrative.recommendation_actions::rule_1" descr="SDPM::narrative.recommendation_actions::rule_1::slot=main::frameEmu=594360,1444752,7452360,4553712::bboxEmu=3129280,4498213,2382520,0"/>
          <p:cNvCxnSpPr/>
          <p:nvPr/>
        </p:nvCxnSpPr>
        <p:spPr>
          <a:xfrm>
            <a:off x="3129280" y="4498213"/>
            <a:ext cx="238252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narrative.recommendation_actions::action_1" title="SDPM::narrative.recommendation_actions::action_1" descr="SDPM::narrative.recommendation_actions::action_1::slot=main::frameEmu=594360,1444752,7452360,4553712::bboxEmu=3129280,4599813,2382520,1398651"/>
          <p:cNvSpPr txBox="1"/>
          <p:nvPr/>
        </p:nvSpPr>
        <p:spPr>
          <a:xfrm>
            <a:off x="3129280" y="4599813"/>
            <a:ext cx="2382520" cy="139865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29231F"/>
                </a:solidFill>
                <a:latin typeface="Yu Gothic UI"/>
              </a:rPr>
              <a:t>責任者と横断チームを任命</a:t>
            </a:r>
          </a:p>
        </p:txBody>
      </p:sp>
      <p:sp>
        <p:nvSpPr>
          <p:cNvPr id="15" name="SDPM::narrative.recommendation_actions::index_2" title="SDPM::narrative.recommendation_actions::index_2" descr="SDPM::narrative.recommendation_actions::index_2::slot=main::frameEmu=594360,1444752,7452360,4553712::bboxEmu=5664200,4231513,2382520,203200"/>
          <p:cNvSpPr txBox="1"/>
          <p:nvPr/>
        </p:nvSpPr>
        <p:spPr>
          <a:xfrm>
            <a:off x="5664200" y="4231513"/>
            <a:ext cx="238252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800">
                <a:solidFill>
                  <a:srgbClr val="A45A3A"/>
                </a:solidFill>
                <a:latin typeface="Yu Gothic UI"/>
              </a:rPr>
              <a:t>03</a:t>
            </a:r>
          </a:p>
        </p:txBody>
      </p:sp>
      <p:cxnSp>
        <p:nvCxnSpPr>
          <p:cNvPr id="16" name="SDPM::narrative.recommendation_actions::rule_2" title="SDPM::narrative.recommendation_actions::rule_2" descr="SDPM::narrative.recommendation_actions::rule_2::slot=main::frameEmu=594360,1444752,7452360,4553712::bboxEmu=5664200,4498213,2382520,0"/>
          <p:cNvCxnSpPr/>
          <p:nvPr/>
        </p:nvCxnSpPr>
        <p:spPr>
          <a:xfrm>
            <a:off x="5664200" y="4498213"/>
            <a:ext cx="238252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narrative.recommendation_actions::action_2" title="SDPM::narrative.recommendation_actions::action_2" descr="SDPM::narrative.recommendation_actions::action_2::slot=main::frameEmu=594360,1444752,7452360,4553712::bboxEmu=5664200,4599813,2382520,1398651"/>
          <p:cNvSpPr txBox="1"/>
          <p:nvPr/>
        </p:nvSpPr>
        <p:spPr>
          <a:xfrm>
            <a:off x="5664200" y="4599813"/>
            <a:ext cx="2382520" cy="139865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500">
                <a:solidFill>
                  <a:srgbClr val="29231F"/>
                </a:solidFill>
                <a:latin typeface="Yu Gothic UI"/>
              </a:rPr>
              <a:t>90 </a:t>
            </a:r>
            <a:r>
              <a:rPr lang="ja-JP" sz="1500">
                <a:solidFill>
                  <a:srgbClr val="29231F"/>
                </a:solidFill>
                <a:latin typeface="Yu Gothic UI"/>
              </a:rPr>
              <a:t>日後の拡大条件を合意</a:t>
            </a:r>
          </a:p>
        </p:txBody>
      </p:sp>
      <p:sp>
        <p:nvSpPr>
          <p:cNvPr id="18" name="SDPM::narrative.recommendation_actions::decision" title="SDPM::narrative.recommendation_actions::decision" descr="SDPM::narrative.recommendation_actions::decision::slot=main::frameEmu=594360,1444752,7452360,4553712::bboxEmu=6034595,1495552,2012124,190500"/>
          <p:cNvSpPr txBox="1"/>
          <p:nvPr/>
        </p:nvSpPr>
        <p:spPr>
          <a:xfrm>
            <a:off x="6034595" y="1495552"/>
            <a:ext cx="2012124" cy="190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lang="ja-JP" sz="1200">
                <a:solidFill>
                  <a:srgbClr val="A45A3A"/>
                </a:solidFill>
                <a:latin typeface="Yu Gothic UI"/>
              </a:rPr>
              <a:t>本日の判断：</a:t>
            </a:r>
            <a:r>
              <a:rPr sz="1200">
                <a:solidFill>
                  <a:srgbClr val="A45A3A"/>
                </a:solidFill>
                <a:latin typeface="Yu Gothic UI"/>
              </a:rPr>
              <a:t> 90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日</a:t>
            </a:r>
            <a:r>
              <a:rPr sz="1200">
                <a:solidFill>
                  <a:srgbClr val="A45A3A"/>
                </a:solidFill>
                <a:latin typeface="Yu Gothic UI"/>
              </a:rPr>
              <a:t> PoC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を開始するか</a:t>
            </a:r>
          </a:p>
        </p:txBody>
      </p:sp>
      <p:sp>
        <p:nvSpPr>
          <p:cNvPr id="19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746D66"/>
                </a:solidFill>
                <a:latin typeface="Yu Gothic UI"/>
              </a:rPr>
              <a:t>出典：</a:t>
            </a:r>
            <a:r>
              <a:rPr sz="1200">
                <a:solidFill>
                  <a:srgbClr val="746D66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746D66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6</cp:revision>
  <dcterms:created xsi:type="dcterms:W3CDTF">2013-01-27T09:14:16Z</dcterms:created>
  <dcterms:modified xsi:type="dcterms:W3CDTF">2026-04-21T05:50:21Z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2026-04-02T00:00:20Z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42facba5-c5c9-4d6e-8ed4-5f06d4297f5d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